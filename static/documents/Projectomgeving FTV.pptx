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134C3A-A653-7191-9EEF-88284C2F6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6AC5CB7-AFF7-AACD-0E77-7B7A21C09A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6EE8347-83AA-CCD5-111D-3230F49E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242BB-874C-F855-027B-8CD1491EE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6A3CD8-50CF-416E-5C59-F80F91D0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334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4BC0D-287C-734D-3756-EE6C8AB2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E07F03D-AC62-434E-6F90-E08CDF97B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4BF75F-6076-FC5F-867B-2927EE0D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2E79444-7D8A-57D2-1A97-522E3C24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C66717-4D10-3DC1-092B-06C4954D5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170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7B4717-A8CD-B5E1-54BB-62D17B05F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D9F376B-1F3A-433A-F54F-010DCCB04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6B7675-ED32-1B7F-A078-A85982C5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BE1B39A-BA7D-7520-11C9-998A5D030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A992127-5591-B747-A5C1-2E1EEDB4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8209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D1CB5-FFEF-8CE6-5B8A-4688B8D4F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BF6792-52A2-5A99-5082-2E79721F1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4421F1-778B-FB30-420B-7E1812648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3D7CF0D-C1F3-2CFC-64B5-FF280E784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95B5BA9-CF39-0127-CB40-DB3977B38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5CCE3BB-2CD9-D9FE-71AA-3217844B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6934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E6105-54DD-DA66-4AFD-0BE5C8996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2165142-55ED-F7B5-2171-55DB50B6E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E6EEA2A-5A0C-3406-34C1-CB0585C55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5B16F34-5971-03DF-7E0F-CDE16F6CF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566284D-A881-D491-284B-291C9B7AAD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CE2439F-2974-CA21-681F-4DD2A8B3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404E4B8-CB60-D0B6-C788-70EF26C97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3C46651-33AD-4C05-7165-B409890DB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4159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B8677D-4770-7756-177C-F862BFB7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A58D8CC3-0B63-B60F-4820-705BFFE8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B1E4F8F-C628-74B3-2A20-2EB296D6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7A345DD-790B-F3E8-AF31-7063F7EA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377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05A5092-B70B-85D7-4BD2-A6A8911E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14C21C9-FD7F-AC61-B206-1BEB14917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78F662C-0315-844D-29A5-A57CA5F7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678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DE013-78E4-1429-12E2-2A597D0EB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57E8F6-6723-57FB-259E-7DCBE9AF4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CEB890E-F469-8E7D-8734-53840E438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BA522EE-B9F4-566C-CD43-A0A742A8C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DB88B65-57A7-0DE0-77E5-02FD7F89D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E6D9E96-DA19-8630-8937-8D51741C2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0354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137726-A1DF-7993-265A-9B1DA4207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C8F1CF2-9C76-45A6-F6C0-6AA543A406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133F4C5-12FA-189F-97E8-B3D7766FC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0F7D74F-D84D-9D6A-3CB2-806B0292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6C76973-B5AA-3ABE-4B3A-EE4FB0122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14237A-49DD-D70A-9920-EC1CC9178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7284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59A31D-26BE-3FB5-80C5-97D91F1D4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FA3F5CF-F5D0-37C2-ABCC-00FE1147E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861F946-99FE-FA94-1B3F-38AA8325A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1E24429-1980-DA95-A873-166781C6F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A93CF0-09C6-9CF6-FB07-B29EFA02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7904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12E4045-23E0-2DE6-AC0B-1FB2B8D3B6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72E5576-5449-34EE-3DFE-25ACC51AFD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C4769E-63A0-39B0-7A0A-F05EA20F9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4B22C-8BD2-8876-FEA4-CBA3C0AF8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AF83210-2B13-09AE-079C-38EC3543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7814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EE1D68E-15EE-EB0E-6F12-CDAB71257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5FA2808-7336-70C0-FE36-5E8A8875C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CC878E1-D5B0-6640-F7C8-A1B075301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C8B0E18-20D0-DCC6-BB74-A88361C12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681C583-CFAA-0D77-8791-0490C08AF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078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fgeronde rechthoek 3">
            <a:extLst>
              <a:ext uri="{FF2B5EF4-FFF2-40B4-BE49-F238E27FC236}">
                <a16:creationId xmlns:a16="http://schemas.microsoft.com/office/drawing/2014/main" id="{A7A47EB1-25DC-F0A7-5F34-76CD3E780139}"/>
              </a:ext>
            </a:extLst>
          </p:cNvPr>
          <p:cNvSpPr/>
          <p:nvPr/>
        </p:nvSpPr>
        <p:spPr>
          <a:xfrm>
            <a:off x="7526216" y="304802"/>
            <a:ext cx="4248436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“PBAC voor Common </a:t>
            </a:r>
            <a:r>
              <a:rPr lang="nl-NL" sz="1400" b="1" dirty="0" err="1"/>
              <a:t>Ground</a:t>
            </a:r>
            <a:r>
              <a:rPr lang="nl-NL" sz="1400" b="1" dirty="0"/>
              <a:t>”</a:t>
            </a:r>
          </a:p>
          <a:p>
            <a:pPr algn="ctr"/>
            <a:r>
              <a:rPr lang="nl-NL" sz="1400" dirty="0"/>
              <a:t>Subsidie VNG</a:t>
            </a:r>
          </a:p>
          <a:p>
            <a:pPr algn="ctr"/>
            <a:r>
              <a:rPr lang="nl-NL" sz="1400" dirty="0"/>
              <a:t>Uitgevoerd door PDV – </a:t>
            </a:r>
            <a:r>
              <a:rPr lang="nl-NL" sz="1400" dirty="0" err="1"/>
              <a:t>olv</a:t>
            </a:r>
            <a:r>
              <a:rPr lang="nl-NL" sz="1400" dirty="0"/>
              <a:t> Utrecht</a:t>
            </a:r>
          </a:p>
          <a:p>
            <a:pPr algn="ctr"/>
            <a:r>
              <a:rPr lang="nl-NL" sz="1400" dirty="0"/>
              <a:t>Projectleiding Anne </a:t>
            </a:r>
            <a:r>
              <a:rPr lang="nl-NL" sz="1400" dirty="0" err="1"/>
              <a:t>Leguit</a:t>
            </a:r>
            <a:r>
              <a:rPr lang="nl-NL" sz="1400" dirty="0"/>
              <a:t> en Florent van Wageningen</a:t>
            </a:r>
          </a:p>
          <a:p>
            <a:pPr algn="ctr"/>
            <a:r>
              <a:rPr lang="nl-NL" sz="1400" dirty="0"/>
              <a:t>PO: Jan Verbeek, Architect Ilja </a:t>
            </a:r>
            <a:r>
              <a:rPr lang="nl-NL" sz="1400" dirty="0" err="1"/>
              <a:t>Vorschtenbosch</a:t>
            </a:r>
            <a:endParaRPr lang="nl-NL" sz="1400" dirty="0"/>
          </a:p>
          <a:p>
            <a:pPr algn="ctr"/>
            <a:r>
              <a:rPr lang="nl-NL" sz="1400" dirty="0"/>
              <a:t>Marc 8 uur, Ton 36 uur</a:t>
            </a:r>
          </a:p>
          <a:p>
            <a:pPr algn="ctr"/>
            <a:endParaRPr lang="nl-NL" sz="1400" dirty="0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EBB89C9C-C6E8-E4CF-6829-DCECC1F86BE8}"/>
              </a:ext>
            </a:extLst>
          </p:cNvPr>
          <p:cNvSpPr/>
          <p:nvPr/>
        </p:nvSpPr>
        <p:spPr>
          <a:xfrm>
            <a:off x="1295399" y="304802"/>
            <a:ext cx="4120663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FTV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Subsidie </a:t>
            </a:r>
            <a:r>
              <a:rPr lang="nl-NL" sz="1400" dirty="0" err="1"/>
              <a:t>MinBZK</a:t>
            </a:r>
            <a:r>
              <a:rPr lang="nl-NL" sz="1400" dirty="0"/>
              <a:t> – Ronald Slomp</a:t>
            </a:r>
          </a:p>
          <a:p>
            <a:pPr algn="ctr"/>
            <a:r>
              <a:rPr lang="nl-NL" sz="1400" dirty="0"/>
              <a:t>Uitgevoerd door Stichting ICTU</a:t>
            </a:r>
          </a:p>
          <a:p>
            <a:pPr algn="ctr"/>
            <a:r>
              <a:rPr lang="nl-NL" sz="1400" dirty="0"/>
              <a:t>Projectleider Edward van Gelderen</a:t>
            </a:r>
          </a:p>
          <a:p>
            <a:pPr algn="ctr"/>
            <a:r>
              <a:rPr lang="nl-NL" sz="1400" dirty="0"/>
              <a:t>Marc 20 uur, Michiel 32 uur, Niels 36 uur</a:t>
            </a:r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4F4350B3-8351-9FDF-2252-7344D7B4F899}"/>
              </a:ext>
            </a:extLst>
          </p:cNvPr>
          <p:cNvSpPr/>
          <p:nvPr/>
        </p:nvSpPr>
        <p:spPr>
          <a:xfrm>
            <a:off x="1295398" y="2060336"/>
            <a:ext cx="4120663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Drie standaarden vaststellen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bouwen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op simulatieomgeving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Uitdragen / helpen implementaties</a:t>
            </a:r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6DB6D9F7-469F-855E-15E4-60E741C77893}"/>
              </a:ext>
            </a:extLst>
          </p:cNvPr>
          <p:cNvSpPr/>
          <p:nvPr/>
        </p:nvSpPr>
        <p:spPr>
          <a:xfrm>
            <a:off x="7526215" y="2047970"/>
            <a:ext cx="4333617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productiewaardig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live bij Utrecht en Den Haag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als component in CG </a:t>
            </a:r>
            <a:r>
              <a:rPr lang="nl-NL" sz="1400" dirty="0" err="1"/>
              <a:t>basisset</a:t>
            </a:r>
            <a:endParaRPr lang="nl-NL" sz="1400" dirty="0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94A14E9B-257E-6E58-11A7-BE7A1A6E3E4D}"/>
              </a:ext>
            </a:extLst>
          </p:cNvPr>
          <p:cNvSpPr/>
          <p:nvPr/>
        </p:nvSpPr>
        <p:spPr>
          <a:xfrm>
            <a:off x="64474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Digilab</a:t>
            </a:r>
          </a:p>
          <a:p>
            <a:pPr algn="ctr"/>
            <a:r>
              <a:rPr lang="nl-NL" sz="1400" dirty="0"/>
              <a:t>Financiering mix </a:t>
            </a:r>
            <a:r>
              <a:rPr lang="nl-NL" sz="1400" dirty="0" err="1"/>
              <a:t>MinBZK</a:t>
            </a:r>
            <a:r>
              <a:rPr lang="nl-NL" sz="1400" dirty="0"/>
              <a:t> en VNG</a:t>
            </a:r>
          </a:p>
          <a:p>
            <a:pPr algn="ctr"/>
            <a:r>
              <a:rPr lang="nl-NL" sz="1400" dirty="0" err="1"/>
              <a:t>Founder</a:t>
            </a:r>
            <a:r>
              <a:rPr lang="nl-NL" sz="1400" dirty="0"/>
              <a:t>: Eelco Hotting</a:t>
            </a:r>
          </a:p>
          <a:p>
            <a:pPr algn="ctr"/>
            <a:r>
              <a:rPr lang="nl-NL" sz="1400" dirty="0"/>
              <a:t>PO: Roos de Groot</a:t>
            </a:r>
          </a:p>
          <a:p>
            <a:pPr algn="ctr"/>
            <a:r>
              <a:rPr lang="nl-NL" sz="1400" dirty="0"/>
              <a:t>Portfoliomanagers: Eliza </a:t>
            </a:r>
            <a:r>
              <a:rPr lang="nl-NL" sz="1400" dirty="0" err="1"/>
              <a:t>Takovsky</a:t>
            </a:r>
            <a:r>
              <a:rPr lang="nl-NL" sz="1400" dirty="0"/>
              <a:t> en </a:t>
            </a:r>
          </a:p>
          <a:p>
            <a:pPr algn="ctr"/>
            <a:r>
              <a:rPr lang="nl-NL" sz="1400" dirty="0"/>
              <a:t>Caroline Steltenpool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: Sander van </a:t>
            </a:r>
            <a:r>
              <a:rPr lang="nl-NL" sz="1400" dirty="0" err="1"/>
              <a:t>Thillo</a:t>
            </a:r>
            <a:endParaRPr lang="nl-NL" sz="1400" dirty="0"/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Simulatieomgeving hosting</a:t>
            </a:r>
          </a:p>
        </p:txBody>
      </p:sp>
      <p:sp>
        <p:nvSpPr>
          <p:cNvPr id="9" name="Afgeronde rechthoek 8">
            <a:extLst>
              <a:ext uri="{FF2B5EF4-FFF2-40B4-BE49-F238E27FC236}">
                <a16:creationId xmlns:a16="http://schemas.microsoft.com/office/drawing/2014/main" id="{20AD93E1-6B10-1906-5BDD-C53EAD7476A0}"/>
              </a:ext>
            </a:extLst>
          </p:cNvPr>
          <p:cNvSpPr/>
          <p:nvPr/>
        </p:nvSpPr>
        <p:spPr>
          <a:xfrm>
            <a:off x="3409357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FDS</a:t>
            </a:r>
          </a:p>
          <a:p>
            <a:pPr algn="ctr"/>
            <a:r>
              <a:rPr lang="nl-NL" sz="1400" dirty="0" err="1"/>
              <a:t>MinBZK</a:t>
            </a:r>
            <a:r>
              <a:rPr lang="nl-NL" sz="1400" dirty="0"/>
              <a:t> – Uitgevoerd door ICTU</a:t>
            </a:r>
          </a:p>
          <a:p>
            <a:pPr algn="ctr"/>
            <a:r>
              <a:rPr lang="nl-NL" sz="1400" dirty="0"/>
              <a:t>PL: Edward, Mike Dell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 :Hugo Stijns, Pim </a:t>
            </a:r>
            <a:r>
              <a:rPr lang="nl-NL" sz="1400" dirty="0" err="1"/>
              <a:t>Gaemers</a:t>
            </a:r>
            <a:r>
              <a:rPr lang="nl-NL" sz="1400" dirty="0"/>
              <a:t>, Henk van Manen</a:t>
            </a:r>
          </a:p>
          <a:p>
            <a:pPr algn="ctr"/>
            <a:r>
              <a:rPr lang="nl-NL" sz="1400" dirty="0"/>
              <a:t>Architectuur Gideon Zegwaard, Danny Greefhorst </a:t>
            </a:r>
          </a:p>
        </p:txBody>
      </p:sp>
      <p:sp>
        <p:nvSpPr>
          <p:cNvPr id="10" name="Afgeronde rechthoek 9">
            <a:extLst>
              <a:ext uri="{FF2B5EF4-FFF2-40B4-BE49-F238E27FC236}">
                <a16:creationId xmlns:a16="http://schemas.microsoft.com/office/drawing/2014/main" id="{2EED8C26-8864-401F-5667-61E6584FAAD7}"/>
              </a:ext>
            </a:extLst>
          </p:cNvPr>
          <p:cNvSpPr/>
          <p:nvPr/>
        </p:nvSpPr>
        <p:spPr>
          <a:xfrm>
            <a:off x="7174523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Infrastructuur Utrecht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Pauline van Rotterdam</a:t>
            </a:r>
          </a:p>
        </p:txBody>
      </p:sp>
      <p:sp>
        <p:nvSpPr>
          <p:cNvPr id="11" name="Afgeronde rechthoek 10">
            <a:extLst>
              <a:ext uri="{FF2B5EF4-FFF2-40B4-BE49-F238E27FC236}">
                <a16:creationId xmlns:a16="http://schemas.microsoft.com/office/drawing/2014/main" id="{EFBB3CDC-B47A-6899-B5D9-AC03656E64E2}"/>
              </a:ext>
            </a:extLst>
          </p:cNvPr>
          <p:cNvSpPr/>
          <p:nvPr/>
        </p:nvSpPr>
        <p:spPr>
          <a:xfrm>
            <a:off x="3409356" y="5568243"/>
            <a:ext cx="3291255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Stichting RINIS</a:t>
            </a:r>
          </a:p>
          <a:p>
            <a:pPr algn="ctr"/>
            <a:r>
              <a:rPr lang="nl-NL" sz="1400" dirty="0"/>
              <a:t>Beheer </a:t>
            </a:r>
            <a:r>
              <a:rPr lang="nl-NL" sz="1400" dirty="0" err="1"/>
              <a:t>OpenFSC</a:t>
            </a:r>
            <a:endParaRPr lang="nl-NL" sz="1400" dirty="0"/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Lonneke </a:t>
            </a:r>
            <a:r>
              <a:rPr lang="nl-NL" sz="1400" dirty="0" err="1"/>
              <a:t>Dikmans</a:t>
            </a:r>
            <a:r>
              <a:rPr lang="nl-NL" sz="1400" dirty="0"/>
              <a:t>, Liam </a:t>
            </a:r>
            <a:r>
              <a:rPr lang="nl-NL" sz="1400" dirty="0" err="1"/>
              <a:t>Muitjens</a:t>
            </a:r>
            <a:endParaRPr lang="nl-NL" sz="1400" dirty="0"/>
          </a:p>
        </p:txBody>
      </p:sp>
      <p:sp>
        <p:nvSpPr>
          <p:cNvPr id="12" name="Afgeronde rechthoek 11">
            <a:extLst>
              <a:ext uri="{FF2B5EF4-FFF2-40B4-BE49-F238E27FC236}">
                <a16:creationId xmlns:a16="http://schemas.microsoft.com/office/drawing/2014/main" id="{82D64DE3-F38C-DBD3-390B-6B4F94A166E4}"/>
              </a:ext>
            </a:extLst>
          </p:cNvPr>
          <p:cNvSpPr/>
          <p:nvPr/>
        </p:nvSpPr>
        <p:spPr>
          <a:xfrm>
            <a:off x="84989" y="5571389"/>
            <a:ext cx="3270740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Logius</a:t>
            </a:r>
          </a:p>
          <a:p>
            <a:pPr algn="ctr"/>
            <a:r>
              <a:rPr lang="nl-NL" sz="1400" dirty="0"/>
              <a:t>Beheer van standaarden</a:t>
            </a:r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Stas </a:t>
            </a:r>
            <a:r>
              <a:rPr lang="nl-NL" sz="1400" dirty="0" err="1"/>
              <a:t>Mironov</a:t>
            </a:r>
            <a:r>
              <a:rPr lang="nl-NL" sz="1400" dirty="0"/>
              <a:t>, </a:t>
            </a:r>
            <a:r>
              <a:rPr lang="nl-NL" sz="1400" dirty="0" err="1"/>
              <a:t>Nil</a:t>
            </a:r>
            <a:r>
              <a:rPr lang="nl-NL" sz="1400" dirty="0"/>
              <a:t> </a:t>
            </a:r>
            <a:r>
              <a:rPr lang="nl-NL" sz="1400" dirty="0" err="1"/>
              <a:t>Barua</a:t>
            </a:r>
            <a:endParaRPr lang="nl-NL" sz="1400" dirty="0"/>
          </a:p>
        </p:txBody>
      </p:sp>
      <p:sp>
        <p:nvSpPr>
          <p:cNvPr id="13" name="Afgeronde rechthoek 12">
            <a:extLst>
              <a:ext uri="{FF2B5EF4-FFF2-40B4-BE49-F238E27FC236}">
                <a16:creationId xmlns:a16="http://schemas.microsoft.com/office/drawing/2014/main" id="{9A86E2D7-D120-3EED-AB54-233DE216F6A0}"/>
              </a:ext>
            </a:extLst>
          </p:cNvPr>
          <p:cNvSpPr/>
          <p:nvPr/>
        </p:nvSpPr>
        <p:spPr>
          <a:xfrm>
            <a:off x="9547267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Ritense</a:t>
            </a:r>
            <a:endParaRPr lang="nl-NL" sz="1400" b="1" dirty="0"/>
          </a:p>
          <a:p>
            <a:pPr algn="ctr"/>
            <a:r>
              <a:rPr lang="nl-NL" sz="1400" dirty="0"/>
              <a:t>Bouwer van GZAC</a:t>
            </a:r>
          </a:p>
          <a:p>
            <a:pPr algn="ctr"/>
            <a:r>
              <a:rPr lang="nl-NL" sz="1400" dirty="0" err="1"/>
              <a:t>Dev</a:t>
            </a:r>
            <a:r>
              <a:rPr lang="nl-NL" sz="1400" dirty="0"/>
              <a:t>: Niels </a:t>
            </a:r>
            <a:r>
              <a:rPr lang="nl-NL" sz="1400" dirty="0" err="1"/>
              <a:t>Erkamp</a:t>
            </a:r>
            <a:endParaRPr lang="nl-NL" sz="1400" dirty="0"/>
          </a:p>
        </p:txBody>
      </p:sp>
      <p:sp>
        <p:nvSpPr>
          <p:cNvPr id="14" name="Afgeronde rechthoek 13">
            <a:extLst>
              <a:ext uri="{FF2B5EF4-FFF2-40B4-BE49-F238E27FC236}">
                <a16:creationId xmlns:a16="http://schemas.microsoft.com/office/drawing/2014/main" id="{66172F67-90B1-F602-7826-9FB18535D5F3}"/>
              </a:ext>
            </a:extLst>
          </p:cNvPr>
          <p:cNvSpPr/>
          <p:nvPr/>
        </p:nvSpPr>
        <p:spPr>
          <a:xfrm>
            <a:off x="7174522" y="5246075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Maykin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OpenZaak</a:t>
            </a:r>
            <a:r>
              <a:rPr lang="nl-NL" sz="1400" dirty="0"/>
              <a:t>/Klant/Object</a:t>
            </a:r>
          </a:p>
          <a:p>
            <a:pPr algn="ctr"/>
            <a:r>
              <a:rPr lang="nl-NL" sz="1400" dirty="0"/>
              <a:t>Joeri Bekker</a:t>
            </a:r>
          </a:p>
        </p:txBody>
      </p:sp>
      <p:sp>
        <p:nvSpPr>
          <p:cNvPr id="15" name="Afgeronde rechthoek 14">
            <a:extLst>
              <a:ext uri="{FF2B5EF4-FFF2-40B4-BE49-F238E27FC236}">
                <a16:creationId xmlns:a16="http://schemas.microsoft.com/office/drawing/2014/main" id="{A74E0251-D755-DDEF-B6C1-5553BE8784E6}"/>
              </a:ext>
            </a:extLst>
          </p:cNvPr>
          <p:cNvSpPr/>
          <p:nvPr/>
        </p:nvSpPr>
        <p:spPr>
          <a:xfrm>
            <a:off x="9547267" y="5260728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Contezza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Tezza</a:t>
            </a:r>
            <a:endParaRPr lang="nl-NL" sz="1400" dirty="0"/>
          </a:p>
          <a:p>
            <a:pPr algn="ctr"/>
            <a:r>
              <a:rPr lang="nl-NL" sz="1400" dirty="0"/>
              <a:t>CTO </a:t>
            </a:r>
            <a:r>
              <a:rPr lang="nl-NL" sz="1400" dirty="0" err="1"/>
              <a:t>Tahir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19961346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199</Words>
  <Application>Microsoft Macintosh PowerPoint</Application>
  <PresentationFormat>Breedbeeld</PresentationFormat>
  <Paragraphs>55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Boer</dc:creator>
  <cp:lastModifiedBy>Marc de Boer</cp:lastModifiedBy>
  <cp:revision>6</cp:revision>
  <dcterms:created xsi:type="dcterms:W3CDTF">2026-07-07T11:39:13Z</dcterms:created>
  <dcterms:modified xsi:type="dcterms:W3CDTF">2026-07-08T08:23:58Z</dcterms:modified>
</cp:coreProperties>
</file>