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41"/>
    <p:restoredTop sz="94638"/>
  </p:normalViewPr>
  <p:slideViewPr>
    <p:cSldViewPr snapToGrid="0">
      <p:cViewPr varScale="1">
        <p:scale>
          <a:sx n="109" d="100"/>
          <a:sy n="109" d="100"/>
        </p:scale>
        <p:origin x="76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4134C3A-A653-7191-9EEF-88284C2F61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C6AC5CB7-AFF7-AACD-0E77-7B7A21C09A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B6EE8347-83AA-CCD5-111D-3230F49E04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8F821-C04C-9A49-A18E-ED1F3CC2D431}" type="datetimeFigureOut">
              <a:rPr lang="nl-NL" smtClean="0"/>
              <a:t>06-08-2026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1B5242BB-874C-F855-027B-8CD1491EE7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8D6A3CD8-50CF-416E-5C59-F80F91D02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E4C92-1571-4E40-924F-174A61564B60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233492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804BC0D-287C-734D-3756-EE6C8AB274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5E07F03D-AC62-434E-6F90-E08CDF97BC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F44BF75F-6076-FC5F-867B-2927EE0DF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8F821-C04C-9A49-A18E-ED1F3CC2D431}" type="datetimeFigureOut">
              <a:rPr lang="nl-NL" smtClean="0"/>
              <a:t>06-08-2026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2E79444-7D8A-57D2-1A97-522E3C24D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E1C66717-4D10-3DC1-092B-06C4954D5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E4C92-1571-4E40-924F-174A61564B60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441703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87B4717-A8CD-B5E1-54BB-62D17B05FD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8D9F376B-1F3A-433A-F54F-010DCCB04D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B56B7675-ED32-1B7F-A078-A85982C56D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8F821-C04C-9A49-A18E-ED1F3CC2D431}" type="datetimeFigureOut">
              <a:rPr lang="nl-NL" smtClean="0"/>
              <a:t>06-08-2026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3BE1B39A-BA7D-7520-11C9-998A5D030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7A992127-5591-B747-A5C1-2E1EEDB4F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E4C92-1571-4E40-924F-174A61564B60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382090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51D1CB5-FFEF-8CE6-5B8A-4688B8D4F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EBF6792-52A2-5A99-5082-2E79721F16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A74421F1-778B-FB30-420B-7E18126488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93D7CF0D-C1F3-2CFC-64B5-FF280E7846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8F821-C04C-9A49-A18E-ED1F3CC2D431}" type="datetimeFigureOut">
              <a:rPr lang="nl-NL" smtClean="0"/>
              <a:t>06-08-2026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E95B5BA9-CF39-0127-CB40-DB3977B381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A5CCE3BB-2CD9-D9FE-71AA-3217844B9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E4C92-1571-4E40-924F-174A61564B60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693468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C9E6105-54DD-DA66-4AFD-0BE5C8996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22165142-55ED-F7B5-2171-55DB50B6E2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3E6EEA2A-5A0C-3406-34C1-CB0585C559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D5B16F34-5971-03DF-7E0F-CDE16F6CFE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F566284D-A881-D491-284B-291C9B7AAD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5CE2439F-2974-CA21-681F-4DD2A8B3E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8F821-C04C-9A49-A18E-ED1F3CC2D431}" type="datetimeFigureOut">
              <a:rPr lang="nl-NL" smtClean="0"/>
              <a:t>06-08-2026</a:t>
            </a:fld>
            <a:endParaRPr lang="nl-NL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6404E4B8-CB60-D0B6-C788-70EF26C97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A3C46651-33AD-4C05-7165-B409890DB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E4C92-1571-4E40-924F-174A61564B60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941592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9B8677D-4770-7756-177C-F862BFB7D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A58D8CC3-0B63-B60F-4820-705BFFE883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8F821-C04C-9A49-A18E-ED1F3CC2D431}" type="datetimeFigureOut">
              <a:rPr lang="nl-NL" smtClean="0"/>
              <a:t>06-08-2026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4B1E4F8F-C628-74B3-2A20-2EB296D636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D7A345DD-790B-F3E8-AF31-7063F7EA1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E4C92-1571-4E40-924F-174A61564B60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137732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105A5092-B70B-85D7-4BD2-A6A8911E51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8F821-C04C-9A49-A18E-ED1F3CC2D431}" type="datetimeFigureOut">
              <a:rPr lang="nl-NL" smtClean="0"/>
              <a:t>06-08-2026</a:t>
            </a:fld>
            <a:endParaRPr lang="nl-NL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114C21C9-FD7F-AC61-B206-1BEB149177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C78F662C-0315-844D-29A5-A57CA5F73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E4C92-1571-4E40-924F-174A61564B60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067843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E7DE013-78E4-1429-12E2-2A597D0EB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4457E8F6-6723-57FB-259E-7DCBE9AF43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9CEB890E-F469-8E7D-8734-53840E4385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5BA522EE-B9F4-566C-CD43-A0A742A8C0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8F821-C04C-9A49-A18E-ED1F3CC2D431}" type="datetimeFigureOut">
              <a:rPr lang="nl-NL" smtClean="0"/>
              <a:t>06-08-2026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4DB88B65-57A7-0DE0-77E5-02FD7F89DC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5E6D9E96-DA19-8630-8937-8D51741C2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E4C92-1571-4E40-924F-174A61564B60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903541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4137726-A1DF-7993-265A-9B1DA4207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EC8F1CF2-9C76-45A6-F6C0-6AA543A406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0133F4C5-12FA-189F-97E8-B3D7766FC3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F0F7D74F-D84D-9D6A-3CB2-806B0292BC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8F821-C04C-9A49-A18E-ED1F3CC2D431}" type="datetimeFigureOut">
              <a:rPr lang="nl-NL" smtClean="0"/>
              <a:t>06-08-2026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F6C76973-B5AA-3ABE-4B3A-EE4FB01221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3C14237A-49DD-D70A-9920-EC1CC9178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E4C92-1571-4E40-924F-174A61564B60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172841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359A31D-26BE-3FB5-80C5-97D91F1D4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2FA3F5CF-F5D0-37C2-ABCC-00FE1147E6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E861F946-99FE-FA94-1B3F-38AA8325A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8F821-C04C-9A49-A18E-ED1F3CC2D431}" type="datetimeFigureOut">
              <a:rPr lang="nl-NL" smtClean="0"/>
              <a:t>06-08-2026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61E24429-1980-DA95-A873-166781C6F3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E1A93CF0-09C6-9CF6-FB07-B29EFA028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E4C92-1571-4E40-924F-174A61564B60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0179042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F12E4045-23E0-2DE6-AC0B-1FB2B8D3B6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D72E5576-5449-34EE-3DFE-25ACC51AFD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69C4769E-63A0-39B0-7A0A-F05EA20F94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8F821-C04C-9A49-A18E-ED1F3CC2D431}" type="datetimeFigureOut">
              <a:rPr lang="nl-NL" smtClean="0"/>
              <a:t>06-08-2026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CD54B22C-8BD2-8876-FEA4-CBA3C0AF8B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5AF83210-2B13-09AE-079C-38EC3543B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E4C92-1571-4E40-924F-174A61564B60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778141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BEE1D68E-15EE-EB0E-6F12-CDAB71257E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C5FA2808-7336-70C0-FE36-5E8A8875C4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ECC878E1-D5B0-6640-F7C8-A1B075301F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98F821-C04C-9A49-A18E-ED1F3CC2D431}" type="datetimeFigureOut">
              <a:rPr lang="nl-NL" smtClean="0"/>
              <a:t>06-08-2026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FC8B0E18-20D0-DCC6-BB74-A88361C126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4681C583-CFAA-0D77-8791-0490C08AFD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3E4C92-1571-4E40-924F-174A61564B60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807885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fgeronde rechthoek 3">
            <a:extLst>
              <a:ext uri="{FF2B5EF4-FFF2-40B4-BE49-F238E27FC236}">
                <a16:creationId xmlns:a16="http://schemas.microsoft.com/office/drawing/2014/main" id="{A7A47EB1-25DC-F0A7-5F34-76CD3E780139}"/>
              </a:ext>
            </a:extLst>
          </p:cNvPr>
          <p:cNvSpPr/>
          <p:nvPr/>
        </p:nvSpPr>
        <p:spPr>
          <a:xfrm>
            <a:off x="7526216" y="304802"/>
            <a:ext cx="4248436" cy="1696276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sz="1400" b="1" dirty="0"/>
              <a:t>Project “PBAC voor Common </a:t>
            </a:r>
            <a:r>
              <a:rPr lang="nl-NL" sz="1400" b="1" dirty="0" err="1"/>
              <a:t>Ground</a:t>
            </a:r>
            <a:r>
              <a:rPr lang="nl-NL" sz="1400" b="1" dirty="0"/>
              <a:t>”</a:t>
            </a:r>
          </a:p>
          <a:p>
            <a:pPr algn="ctr"/>
            <a:r>
              <a:rPr lang="nl-NL" sz="1400" dirty="0"/>
              <a:t>Subsidie VNG</a:t>
            </a:r>
          </a:p>
          <a:p>
            <a:pPr algn="ctr"/>
            <a:r>
              <a:rPr lang="nl-NL" sz="1400" dirty="0"/>
              <a:t>Uitgevoerd door PDV – </a:t>
            </a:r>
            <a:r>
              <a:rPr lang="nl-NL" sz="1400" dirty="0" err="1"/>
              <a:t>olv</a:t>
            </a:r>
            <a:r>
              <a:rPr lang="nl-NL" sz="1400" dirty="0"/>
              <a:t> Utrecht</a:t>
            </a:r>
          </a:p>
          <a:p>
            <a:pPr algn="ctr"/>
            <a:r>
              <a:rPr lang="nl-NL" sz="1400" dirty="0"/>
              <a:t>Projectleiding Anne </a:t>
            </a:r>
            <a:r>
              <a:rPr lang="nl-NL" sz="1400" dirty="0" err="1"/>
              <a:t>Leguit</a:t>
            </a:r>
            <a:r>
              <a:rPr lang="nl-NL" sz="1400" dirty="0"/>
              <a:t> en Florent van Wageningen</a:t>
            </a:r>
          </a:p>
          <a:p>
            <a:pPr algn="ctr"/>
            <a:r>
              <a:rPr lang="nl-NL" sz="1400" dirty="0"/>
              <a:t>PO: Jan Verbeek, Architect Ilja Vorstenbosch</a:t>
            </a:r>
          </a:p>
          <a:p>
            <a:pPr algn="ctr"/>
            <a:r>
              <a:rPr lang="nl-NL" sz="1400" dirty="0"/>
              <a:t>Marc 8 uur, Ton 36 uur</a:t>
            </a:r>
          </a:p>
          <a:p>
            <a:pPr algn="ctr"/>
            <a:endParaRPr lang="nl-NL" sz="1400" dirty="0"/>
          </a:p>
        </p:txBody>
      </p:sp>
      <p:sp>
        <p:nvSpPr>
          <p:cNvPr id="5" name="Afgeronde rechthoek 4">
            <a:extLst>
              <a:ext uri="{FF2B5EF4-FFF2-40B4-BE49-F238E27FC236}">
                <a16:creationId xmlns:a16="http://schemas.microsoft.com/office/drawing/2014/main" id="{EBB89C9C-C6E8-E4CF-6829-DCECC1F86BE8}"/>
              </a:ext>
            </a:extLst>
          </p:cNvPr>
          <p:cNvSpPr/>
          <p:nvPr/>
        </p:nvSpPr>
        <p:spPr>
          <a:xfrm>
            <a:off x="1295399" y="304802"/>
            <a:ext cx="4120663" cy="1696276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sz="1400" b="1" dirty="0"/>
              <a:t>Project FTV</a:t>
            </a:r>
          </a:p>
          <a:p>
            <a:pPr algn="ctr"/>
            <a:endParaRPr lang="nl-NL" sz="1400" b="1" dirty="0"/>
          </a:p>
          <a:p>
            <a:pPr algn="ctr"/>
            <a:r>
              <a:rPr lang="nl-NL" sz="1400" dirty="0"/>
              <a:t>Subsidie </a:t>
            </a:r>
            <a:r>
              <a:rPr lang="nl-NL" sz="1400" dirty="0" err="1"/>
              <a:t>MinBZK</a:t>
            </a:r>
            <a:r>
              <a:rPr lang="nl-NL" sz="1400" dirty="0"/>
              <a:t> – Ronald Slomp</a:t>
            </a:r>
          </a:p>
          <a:p>
            <a:pPr algn="ctr"/>
            <a:r>
              <a:rPr lang="nl-NL" sz="1400" dirty="0"/>
              <a:t>Uitgevoerd door Stichting ICTU</a:t>
            </a:r>
          </a:p>
          <a:p>
            <a:pPr algn="ctr"/>
            <a:r>
              <a:rPr lang="nl-NL" sz="1400" dirty="0"/>
              <a:t>Projectleider Edward van Gelderen</a:t>
            </a:r>
          </a:p>
          <a:p>
            <a:pPr algn="ctr"/>
            <a:r>
              <a:rPr lang="nl-NL" sz="1400" dirty="0"/>
              <a:t>Marc 20 uur, Michiel 32 uur, Niels 36 uur</a:t>
            </a:r>
          </a:p>
        </p:txBody>
      </p:sp>
      <p:sp>
        <p:nvSpPr>
          <p:cNvPr id="6" name="Afgeronde rechthoek 5">
            <a:extLst>
              <a:ext uri="{FF2B5EF4-FFF2-40B4-BE49-F238E27FC236}">
                <a16:creationId xmlns:a16="http://schemas.microsoft.com/office/drawing/2014/main" id="{4F4350B3-8351-9FDF-2252-7344D7B4F899}"/>
              </a:ext>
            </a:extLst>
          </p:cNvPr>
          <p:cNvSpPr/>
          <p:nvPr/>
        </p:nvSpPr>
        <p:spPr>
          <a:xfrm>
            <a:off x="1295398" y="2060336"/>
            <a:ext cx="4120663" cy="121919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400" dirty="0"/>
              <a:t>Doel:</a:t>
            </a:r>
          </a:p>
          <a:p>
            <a:pPr marL="342900" indent="-342900" algn="ctr">
              <a:buAutoNum type="arabicPeriod"/>
            </a:pPr>
            <a:r>
              <a:rPr lang="nl-NL" sz="1400" dirty="0"/>
              <a:t>Drie standaarden vaststellen</a:t>
            </a:r>
          </a:p>
          <a:p>
            <a:pPr marL="342900" indent="-342900" algn="ctr">
              <a:buAutoNum type="arabicPeriod"/>
            </a:pPr>
            <a:r>
              <a:rPr lang="nl-NL" sz="1400" dirty="0" err="1"/>
              <a:t>OpenFTV</a:t>
            </a:r>
            <a:r>
              <a:rPr lang="nl-NL" sz="1400" dirty="0"/>
              <a:t> bouwen</a:t>
            </a:r>
          </a:p>
          <a:p>
            <a:pPr marL="342900" indent="-342900" algn="ctr">
              <a:buAutoNum type="arabicPeriod"/>
            </a:pPr>
            <a:r>
              <a:rPr lang="nl-NL" sz="1400" dirty="0" err="1"/>
              <a:t>OpenFTV</a:t>
            </a:r>
            <a:r>
              <a:rPr lang="nl-NL" sz="1400" dirty="0"/>
              <a:t> op simulatieomgeving</a:t>
            </a:r>
          </a:p>
          <a:p>
            <a:pPr marL="342900" indent="-342900" algn="ctr">
              <a:buAutoNum type="arabicPeriod"/>
            </a:pPr>
            <a:r>
              <a:rPr lang="nl-NL" sz="1400" dirty="0"/>
              <a:t>Uitdragen / helpen implementaties</a:t>
            </a:r>
          </a:p>
        </p:txBody>
      </p:sp>
      <p:sp>
        <p:nvSpPr>
          <p:cNvPr id="7" name="Afgeronde rechthoek 6">
            <a:extLst>
              <a:ext uri="{FF2B5EF4-FFF2-40B4-BE49-F238E27FC236}">
                <a16:creationId xmlns:a16="http://schemas.microsoft.com/office/drawing/2014/main" id="{6DB6D9F7-469F-855E-15E4-60E741C77893}"/>
              </a:ext>
            </a:extLst>
          </p:cNvPr>
          <p:cNvSpPr/>
          <p:nvPr/>
        </p:nvSpPr>
        <p:spPr>
          <a:xfrm>
            <a:off x="7526215" y="2047970"/>
            <a:ext cx="4333617" cy="121919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400" dirty="0"/>
              <a:t>Doel:</a:t>
            </a:r>
          </a:p>
          <a:p>
            <a:pPr marL="342900" indent="-342900" algn="ctr">
              <a:buAutoNum type="arabicPeriod"/>
            </a:pPr>
            <a:r>
              <a:rPr lang="nl-NL" sz="1400" dirty="0" err="1"/>
              <a:t>OpenFTV</a:t>
            </a:r>
            <a:r>
              <a:rPr lang="nl-NL" sz="1400" dirty="0"/>
              <a:t> productiewaardig</a:t>
            </a:r>
          </a:p>
          <a:p>
            <a:pPr marL="342900" indent="-342900" algn="ctr">
              <a:buAutoNum type="arabicPeriod"/>
            </a:pPr>
            <a:r>
              <a:rPr lang="nl-NL" sz="1400" dirty="0" err="1"/>
              <a:t>OpenFTV</a:t>
            </a:r>
            <a:r>
              <a:rPr lang="nl-NL" sz="1400" dirty="0"/>
              <a:t> live bij Utrecht en Den Haag</a:t>
            </a:r>
          </a:p>
          <a:p>
            <a:pPr marL="342900" indent="-342900" algn="ctr">
              <a:buAutoNum type="arabicPeriod"/>
            </a:pPr>
            <a:r>
              <a:rPr lang="nl-NL" sz="1400" dirty="0" err="1"/>
              <a:t>OpenFTV</a:t>
            </a:r>
            <a:r>
              <a:rPr lang="nl-NL" sz="1400" dirty="0"/>
              <a:t> als component in CG </a:t>
            </a:r>
            <a:r>
              <a:rPr lang="nl-NL" sz="1400" dirty="0" err="1"/>
              <a:t>basisset</a:t>
            </a:r>
            <a:endParaRPr lang="nl-NL" sz="1400" dirty="0"/>
          </a:p>
        </p:txBody>
      </p:sp>
      <p:sp>
        <p:nvSpPr>
          <p:cNvPr id="8" name="Afgeronde rechthoek 7">
            <a:extLst>
              <a:ext uri="{FF2B5EF4-FFF2-40B4-BE49-F238E27FC236}">
                <a16:creationId xmlns:a16="http://schemas.microsoft.com/office/drawing/2014/main" id="{94A14E9B-257E-6E58-11A7-BE7A1A6E3E4D}"/>
              </a:ext>
            </a:extLst>
          </p:cNvPr>
          <p:cNvSpPr/>
          <p:nvPr/>
        </p:nvSpPr>
        <p:spPr>
          <a:xfrm>
            <a:off x="64474" y="3572605"/>
            <a:ext cx="3291255" cy="191672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sz="1400" b="1" dirty="0"/>
              <a:t>Digilab</a:t>
            </a:r>
          </a:p>
          <a:p>
            <a:pPr algn="ctr"/>
            <a:r>
              <a:rPr lang="nl-NL" sz="1400" dirty="0"/>
              <a:t>Simulatieomgeving hosting</a:t>
            </a:r>
            <a:endParaRPr lang="nl-NL" sz="1400" b="1" dirty="0"/>
          </a:p>
          <a:p>
            <a:pPr algn="ctr"/>
            <a:r>
              <a:rPr lang="nl-NL" sz="1400" dirty="0"/>
              <a:t>Financiering mix </a:t>
            </a:r>
            <a:r>
              <a:rPr lang="nl-NL" sz="1400" dirty="0" err="1"/>
              <a:t>MinBZK</a:t>
            </a:r>
            <a:r>
              <a:rPr lang="nl-NL" sz="1400" dirty="0"/>
              <a:t> en VNG</a:t>
            </a:r>
          </a:p>
          <a:p>
            <a:pPr algn="ctr"/>
            <a:r>
              <a:rPr lang="nl-NL" sz="1400" dirty="0" err="1"/>
              <a:t>Founder</a:t>
            </a:r>
            <a:r>
              <a:rPr lang="nl-NL" sz="1400" dirty="0"/>
              <a:t>: Eelco Hotting</a:t>
            </a:r>
          </a:p>
          <a:p>
            <a:pPr algn="ctr"/>
            <a:r>
              <a:rPr lang="nl-NL" sz="1400" dirty="0"/>
              <a:t>PO: Roos de Groot</a:t>
            </a:r>
          </a:p>
          <a:p>
            <a:pPr algn="ctr"/>
            <a:r>
              <a:rPr lang="nl-NL" sz="1400" dirty="0"/>
              <a:t>Portfoliomanagers: </a:t>
            </a:r>
            <a:r>
              <a:rPr lang="nl-NL" sz="1400" dirty="0" err="1"/>
              <a:t>Aliza</a:t>
            </a:r>
            <a:r>
              <a:rPr lang="nl-NL" sz="1400" dirty="0"/>
              <a:t> </a:t>
            </a:r>
            <a:r>
              <a:rPr lang="nl-NL" sz="1400" dirty="0" err="1"/>
              <a:t>Tekofsky</a:t>
            </a:r>
            <a:r>
              <a:rPr lang="nl-NL" sz="1400" dirty="0"/>
              <a:t> en </a:t>
            </a:r>
          </a:p>
          <a:p>
            <a:pPr algn="ctr"/>
            <a:r>
              <a:rPr lang="nl-NL" sz="1400" dirty="0"/>
              <a:t>Caroline Steltenpool</a:t>
            </a:r>
          </a:p>
          <a:p>
            <a:pPr algn="ctr"/>
            <a:r>
              <a:rPr lang="nl-NL" sz="1400" dirty="0" err="1"/>
              <a:t>DevOps</a:t>
            </a:r>
            <a:r>
              <a:rPr lang="nl-NL" sz="1400" dirty="0"/>
              <a:t>: Sander van </a:t>
            </a:r>
            <a:r>
              <a:rPr lang="nl-NL" sz="1400" dirty="0" err="1"/>
              <a:t>Thillo</a:t>
            </a:r>
            <a:endParaRPr lang="nl-NL" sz="1400" dirty="0"/>
          </a:p>
        </p:txBody>
      </p:sp>
      <p:sp>
        <p:nvSpPr>
          <p:cNvPr id="9" name="Afgeronde rechthoek 8">
            <a:extLst>
              <a:ext uri="{FF2B5EF4-FFF2-40B4-BE49-F238E27FC236}">
                <a16:creationId xmlns:a16="http://schemas.microsoft.com/office/drawing/2014/main" id="{20AD93E1-6B10-1906-5BDD-C53EAD7476A0}"/>
              </a:ext>
            </a:extLst>
          </p:cNvPr>
          <p:cNvSpPr/>
          <p:nvPr/>
        </p:nvSpPr>
        <p:spPr>
          <a:xfrm>
            <a:off x="3409357" y="3572605"/>
            <a:ext cx="3291255" cy="191672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sz="1400" b="1" dirty="0"/>
              <a:t>Federatief Datastelsel</a:t>
            </a:r>
          </a:p>
          <a:p>
            <a:pPr algn="ctr"/>
            <a:r>
              <a:rPr lang="nl-NL" sz="1400" dirty="0" err="1"/>
              <a:t>MinBZK</a:t>
            </a:r>
            <a:r>
              <a:rPr lang="nl-NL" sz="1400" dirty="0"/>
              <a:t> – Uitgevoerd door ICTU</a:t>
            </a:r>
          </a:p>
          <a:p>
            <a:pPr algn="ctr"/>
            <a:r>
              <a:rPr lang="nl-NL" sz="1400" dirty="0"/>
              <a:t>PL: Edward, Mike Dell, Andre van Brussel</a:t>
            </a:r>
          </a:p>
          <a:p>
            <a:pPr algn="ctr"/>
            <a:r>
              <a:rPr lang="nl-NL" sz="1400" dirty="0" err="1"/>
              <a:t>DevOps</a:t>
            </a:r>
            <a:r>
              <a:rPr lang="nl-NL" sz="1400" dirty="0"/>
              <a:t> :Hugo Stijns, Pim </a:t>
            </a:r>
            <a:r>
              <a:rPr lang="nl-NL" sz="1400" dirty="0" err="1"/>
              <a:t>Gaemers</a:t>
            </a:r>
            <a:r>
              <a:rPr lang="nl-NL" sz="1400" dirty="0"/>
              <a:t>, Henk van Manen</a:t>
            </a:r>
          </a:p>
          <a:p>
            <a:pPr algn="ctr"/>
            <a:r>
              <a:rPr lang="nl-NL" sz="1400" dirty="0"/>
              <a:t>Architectuur Gideon Zegwaard, Danny Greefhorst </a:t>
            </a:r>
          </a:p>
        </p:txBody>
      </p:sp>
      <p:sp>
        <p:nvSpPr>
          <p:cNvPr id="10" name="Afgeronde rechthoek 9">
            <a:extLst>
              <a:ext uri="{FF2B5EF4-FFF2-40B4-BE49-F238E27FC236}">
                <a16:creationId xmlns:a16="http://schemas.microsoft.com/office/drawing/2014/main" id="{2EED8C26-8864-401F-5667-61E6584FAAD7}"/>
              </a:ext>
            </a:extLst>
          </p:cNvPr>
          <p:cNvSpPr/>
          <p:nvPr/>
        </p:nvSpPr>
        <p:spPr>
          <a:xfrm>
            <a:off x="7174523" y="3572606"/>
            <a:ext cx="2227385" cy="1284318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sz="1400" b="1" dirty="0"/>
              <a:t>Infrastructuur Utrecht</a:t>
            </a:r>
          </a:p>
          <a:p>
            <a:pPr algn="ctr"/>
            <a:endParaRPr lang="nl-NL" sz="1400" b="1" dirty="0"/>
          </a:p>
          <a:p>
            <a:pPr algn="ctr"/>
            <a:r>
              <a:rPr lang="nl-NL" sz="1400" dirty="0"/>
              <a:t>Pauline van Rotterdam</a:t>
            </a:r>
          </a:p>
        </p:txBody>
      </p:sp>
      <p:sp>
        <p:nvSpPr>
          <p:cNvPr id="11" name="Afgeronde rechthoek 10">
            <a:extLst>
              <a:ext uri="{FF2B5EF4-FFF2-40B4-BE49-F238E27FC236}">
                <a16:creationId xmlns:a16="http://schemas.microsoft.com/office/drawing/2014/main" id="{EFBB3CDC-B47A-6899-B5D9-AC03656E64E2}"/>
              </a:ext>
            </a:extLst>
          </p:cNvPr>
          <p:cNvSpPr/>
          <p:nvPr/>
        </p:nvSpPr>
        <p:spPr>
          <a:xfrm>
            <a:off x="3409356" y="5568243"/>
            <a:ext cx="3291255" cy="1005252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sz="1400" b="1" dirty="0"/>
              <a:t>Stichting RINIS</a:t>
            </a:r>
          </a:p>
          <a:p>
            <a:pPr algn="ctr"/>
            <a:r>
              <a:rPr lang="nl-NL" sz="1400" dirty="0"/>
              <a:t>Beheer </a:t>
            </a:r>
            <a:r>
              <a:rPr lang="nl-NL" sz="1400" dirty="0" err="1"/>
              <a:t>OpenFSC</a:t>
            </a:r>
            <a:r>
              <a:rPr lang="nl-NL" sz="1400" dirty="0"/>
              <a:t> en straks </a:t>
            </a:r>
            <a:r>
              <a:rPr lang="nl-NL" sz="1400" dirty="0" err="1"/>
              <a:t>OpenFTV</a:t>
            </a:r>
            <a:endParaRPr lang="nl-NL" sz="1400" dirty="0"/>
          </a:p>
          <a:p>
            <a:pPr algn="ctr"/>
            <a:endParaRPr lang="nl-NL" sz="1400" dirty="0"/>
          </a:p>
          <a:p>
            <a:pPr algn="ctr"/>
            <a:r>
              <a:rPr lang="nl-NL" sz="1400" dirty="0"/>
              <a:t>Lonneke </a:t>
            </a:r>
            <a:r>
              <a:rPr lang="nl-NL" sz="1400" dirty="0" err="1"/>
              <a:t>Dikmans</a:t>
            </a:r>
            <a:r>
              <a:rPr lang="nl-NL" sz="1400" dirty="0"/>
              <a:t>, Liam </a:t>
            </a:r>
            <a:r>
              <a:rPr lang="nl-NL" sz="1400" dirty="0" err="1"/>
              <a:t>Muitjens</a:t>
            </a:r>
            <a:endParaRPr lang="nl-NL" sz="1400" dirty="0"/>
          </a:p>
        </p:txBody>
      </p:sp>
      <p:sp>
        <p:nvSpPr>
          <p:cNvPr id="12" name="Afgeronde rechthoek 11">
            <a:extLst>
              <a:ext uri="{FF2B5EF4-FFF2-40B4-BE49-F238E27FC236}">
                <a16:creationId xmlns:a16="http://schemas.microsoft.com/office/drawing/2014/main" id="{82D64DE3-F38C-DBD3-390B-6B4F94A166E4}"/>
              </a:ext>
            </a:extLst>
          </p:cNvPr>
          <p:cNvSpPr/>
          <p:nvPr/>
        </p:nvSpPr>
        <p:spPr>
          <a:xfrm>
            <a:off x="84989" y="5571389"/>
            <a:ext cx="3270740" cy="1005252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sz="1400" b="1" dirty="0"/>
              <a:t>Logius</a:t>
            </a:r>
          </a:p>
          <a:p>
            <a:pPr algn="ctr"/>
            <a:r>
              <a:rPr lang="nl-NL" sz="1400" dirty="0"/>
              <a:t>Beheer van standaarden</a:t>
            </a:r>
          </a:p>
          <a:p>
            <a:pPr algn="ctr"/>
            <a:endParaRPr lang="nl-NL" sz="1400" dirty="0"/>
          </a:p>
          <a:p>
            <a:pPr algn="ctr"/>
            <a:r>
              <a:rPr lang="nl-NL" sz="1400" dirty="0"/>
              <a:t>Stas </a:t>
            </a:r>
            <a:r>
              <a:rPr lang="nl-NL" sz="1400" dirty="0" err="1"/>
              <a:t>Mironov</a:t>
            </a:r>
            <a:r>
              <a:rPr lang="nl-NL" sz="1400" dirty="0"/>
              <a:t>, </a:t>
            </a:r>
            <a:r>
              <a:rPr lang="nl-NL" sz="1400" dirty="0" err="1"/>
              <a:t>Nil</a:t>
            </a:r>
            <a:r>
              <a:rPr lang="nl-NL" sz="1400" dirty="0"/>
              <a:t> </a:t>
            </a:r>
            <a:r>
              <a:rPr lang="nl-NL" sz="1400" dirty="0" err="1"/>
              <a:t>Barua</a:t>
            </a:r>
            <a:endParaRPr lang="nl-NL" sz="1400" dirty="0"/>
          </a:p>
        </p:txBody>
      </p:sp>
      <p:sp>
        <p:nvSpPr>
          <p:cNvPr id="13" name="Afgeronde rechthoek 12">
            <a:extLst>
              <a:ext uri="{FF2B5EF4-FFF2-40B4-BE49-F238E27FC236}">
                <a16:creationId xmlns:a16="http://schemas.microsoft.com/office/drawing/2014/main" id="{9A86E2D7-D120-3EED-AB54-233DE216F6A0}"/>
              </a:ext>
            </a:extLst>
          </p:cNvPr>
          <p:cNvSpPr/>
          <p:nvPr/>
        </p:nvSpPr>
        <p:spPr>
          <a:xfrm>
            <a:off x="9547267" y="3572606"/>
            <a:ext cx="2227385" cy="1284318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sz="1400" b="1" dirty="0" err="1"/>
              <a:t>Ritense</a:t>
            </a:r>
            <a:endParaRPr lang="nl-NL" sz="1400" b="1" dirty="0"/>
          </a:p>
          <a:p>
            <a:pPr algn="ctr"/>
            <a:r>
              <a:rPr lang="nl-NL" sz="1400" dirty="0"/>
              <a:t>Bouwer van GZAC</a:t>
            </a:r>
          </a:p>
          <a:p>
            <a:pPr algn="ctr"/>
            <a:r>
              <a:rPr lang="nl-NL" sz="1400" dirty="0" err="1"/>
              <a:t>Dev</a:t>
            </a:r>
            <a:r>
              <a:rPr lang="nl-NL" sz="1400" dirty="0"/>
              <a:t>: Niels </a:t>
            </a:r>
            <a:r>
              <a:rPr lang="nl-NL" sz="1400" dirty="0" err="1"/>
              <a:t>Erkamp</a:t>
            </a:r>
            <a:endParaRPr lang="nl-NL" sz="1400" dirty="0"/>
          </a:p>
        </p:txBody>
      </p:sp>
      <p:sp>
        <p:nvSpPr>
          <p:cNvPr id="14" name="Afgeronde rechthoek 13">
            <a:extLst>
              <a:ext uri="{FF2B5EF4-FFF2-40B4-BE49-F238E27FC236}">
                <a16:creationId xmlns:a16="http://schemas.microsoft.com/office/drawing/2014/main" id="{66172F67-90B1-F602-7826-9FB18535D5F3}"/>
              </a:ext>
            </a:extLst>
          </p:cNvPr>
          <p:cNvSpPr/>
          <p:nvPr/>
        </p:nvSpPr>
        <p:spPr>
          <a:xfrm>
            <a:off x="7174522" y="5246075"/>
            <a:ext cx="2227385" cy="131591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sz="1400" b="1" dirty="0" err="1"/>
              <a:t>Maykin</a:t>
            </a:r>
            <a:endParaRPr lang="nl-NL" sz="1400" b="1" dirty="0"/>
          </a:p>
          <a:p>
            <a:pPr algn="ctr"/>
            <a:r>
              <a:rPr lang="nl-NL" sz="1400" dirty="0"/>
              <a:t>Bouwer van </a:t>
            </a:r>
            <a:r>
              <a:rPr lang="nl-NL" sz="1400" dirty="0" err="1"/>
              <a:t>OpenZaak</a:t>
            </a:r>
            <a:r>
              <a:rPr lang="nl-NL" sz="1400" dirty="0"/>
              <a:t>/Klant/Object</a:t>
            </a:r>
          </a:p>
          <a:p>
            <a:pPr algn="ctr"/>
            <a:r>
              <a:rPr lang="nl-NL" sz="1400" dirty="0"/>
              <a:t>Joeri Bekker</a:t>
            </a:r>
          </a:p>
        </p:txBody>
      </p:sp>
      <p:sp>
        <p:nvSpPr>
          <p:cNvPr id="15" name="Afgeronde rechthoek 14">
            <a:extLst>
              <a:ext uri="{FF2B5EF4-FFF2-40B4-BE49-F238E27FC236}">
                <a16:creationId xmlns:a16="http://schemas.microsoft.com/office/drawing/2014/main" id="{A74E0251-D755-DDEF-B6C1-5553BE8784E6}"/>
              </a:ext>
            </a:extLst>
          </p:cNvPr>
          <p:cNvSpPr/>
          <p:nvPr/>
        </p:nvSpPr>
        <p:spPr>
          <a:xfrm>
            <a:off x="9547267" y="5260728"/>
            <a:ext cx="2227385" cy="131591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sz="1400" b="1" dirty="0" err="1"/>
              <a:t>WeAreFrank</a:t>
            </a:r>
            <a:endParaRPr lang="nl-NL" sz="1400" b="1" dirty="0"/>
          </a:p>
          <a:p>
            <a:pPr algn="ctr"/>
            <a:r>
              <a:rPr lang="nl-NL" sz="1400" dirty="0"/>
              <a:t>Bouwer van </a:t>
            </a:r>
            <a:r>
              <a:rPr lang="nl-NL" sz="1400" dirty="0" err="1"/>
              <a:t>HaalCentraal</a:t>
            </a:r>
            <a:r>
              <a:rPr lang="nl-NL" sz="1400" dirty="0"/>
              <a:t> client</a:t>
            </a:r>
          </a:p>
          <a:p>
            <a:pPr algn="ctr"/>
            <a:r>
              <a:rPr lang="nl-NL" sz="1400" dirty="0"/>
              <a:t>Jeroen van Roosendaal</a:t>
            </a:r>
          </a:p>
        </p:txBody>
      </p:sp>
    </p:spTree>
    <p:extLst>
      <p:ext uri="{BB962C8B-B14F-4D97-AF65-F5344CB8AC3E}">
        <p14:creationId xmlns:p14="http://schemas.microsoft.com/office/powerpoint/2010/main" val="199613463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361</TotalTime>
  <Words>209</Words>
  <Application>Microsoft Macintosh PowerPoint</Application>
  <PresentationFormat>Breedbeeld</PresentationFormat>
  <Paragraphs>54</Paragraphs>
  <Slides>1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Kantoorthema</vt:lpstr>
      <vt:lpstr>PowerPoint-presentatie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 de Boer</dc:creator>
  <cp:lastModifiedBy>Marc de Boer</cp:lastModifiedBy>
  <cp:revision>11</cp:revision>
  <dcterms:created xsi:type="dcterms:W3CDTF">2026-07-07T11:39:13Z</dcterms:created>
  <dcterms:modified xsi:type="dcterms:W3CDTF">2026-08-06T10:43:52Z</dcterms:modified>
</cp:coreProperties>
</file>