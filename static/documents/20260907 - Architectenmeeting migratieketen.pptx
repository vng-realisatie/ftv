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8"/>
  </p:notesMasterIdLst>
  <p:handoutMasterIdLst>
    <p:handoutMasterId r:id="rId49"/>
  </p:handoutMasterIdLst>
  <p:sldIdLst>
    <p:sldId id="257" r:id="rId5"/>
    <p:sldId id="341" r:id="rId6"/>
    <p:sldId id="278" r:id="rId7"/>
    <p:sldId id="436" r:id="rId8"/>
    <p:sldId id="388" r:id="rId9"/>
    <p:sldId id="385" r:id="rId10"/>
    <p:sldId id="435" r:id="rId11"/>
    <p:sldId id="418" r:id="rId12"/>
    <p:sldId id="434" r:id="rId13"/>
    <p:sldId id="364" r:id="rId14"/>
    <p:sldId id="392" r:id="rId15"/>
    <p:sldId id="430" r:id="rId16"/>
    <p:sldId id="365" r:id="rId17"/>
    <p:sldId id="421" r:id="rId18"/>
    <p:sldId id="431" r:id="rId19"/>
    <p:sldId id="420" r:id="rId20"/>
    <p:sldId id="426" r:id="rId21"/>
    <p:sldId id="320" r:id="rId22"/>
    <p:sldId id="260" r:id="rId23"/>
    <p:sldId id="438" r:id="rId24"/>
    <p:sldId id="296" r:id="rId25"/>
    <p:sldId id="297" r:id="rId26"/>
    <p:sldId id="298" r:id="rId27"/>
    <p:sldId id="299" r:id="rId28"/>
    <p:sldId id="300" r:id="rId29"/>
    <p:sldId id="301" r:id="rId30"/>
    <p:sldId id="310" r:id="rId31"/>
    <p:sldId id="403" r:id="rId32"/>
    <p:sldId id="352" r:id="rId33"/>
    <p:sldId id="380" r:id="rId34"/>
    <p:sldId id="381" r:id="rId35"/>
    <p:sldId id="437" r:id="rId36"/>
    <p:sldId id="439" r:id="rId37"/>
    <p:sldId id="440" r:id="rId38"/>
    <p:sldId id="356" r:id="rId39"/>
    <p:sldId id="350" r:id="rId40"/>
    <p:sldId id="351" r:id="rId41"/>
    <p:sldId id="429" r:id="rId42"/>
    <p:sldId id="441" r:id="rId43"/>
    <p:sldId id="405" r:id="rId44"/>
    <p:sldId id="427" r:id="rId45"/>
    <p:sldId id="428" r:id="rId46"/>
    <p:sldId id="329" r:id="rId47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dracht en team" id="{CA6BCBF6-1C88-4557-9737-21C7B4B1B76E}">
          <p14:sldIdLst>
            <p14:sldId id="257"/>
          </p14:sldIdLst>
        </p14:section>
        <p14:section name="Probleemstelling" id="{F2D22203-790F-44C4-A943-8FC7430D15A4}">
          <p14:sldIdLst>
            <p14:sldId id="341"/>
            <p14:sldId id="278"/>
            <p14:sldId id="436"/>
            <p14:sldId id="388"/>
            <p14:sldId id="385"/>
            <p14:sldId id="435"/>
            <p14:sldId id="418"/>
            <p14:sldId id="434"/>
          </p14:sldIdLst>
        </p14:section>
        <p14:section name="De methodiek" id="{8A88633F-7D5E-AC45-A514-4D6559D8857E}">
          <p14:sldIdLst>
            <p14:sldId id="364"/>
            <p14:sldId id="392"/>
            <p14:sldId id="430"/>
            <p14:sldId id="365"/>
            <p14:sldId id="421"/>
            <p14:sldId id="431"/>
            <p14:sldId id="420"/>
            <p14:sldId id="426"/>
            <p14:sldId id="320"/>
            <p14:sldId id="260"/>
            <p14:sldId id="438"/>
            <p14:sldId id="296"/>
            <p14:sldId id="297"/>
            <p14:sldId id="298"/>
            <p14:sldId id="299"/>
            <p14:sldId id="300"/>
            <p14:sldId id="301"/>
            <p14:sldId id="310"/>
            <p14:sldId id="403"/>
            <p14:sldId id="352"/>
            <p14:sldId id="380"/>
            <p14:sldId id="381"/>
          </p14:sldIdLst>
        </p14:section>
        <p14:section name="Standaardisering" id="{72DA2822-AAE9-42C0-80BC-C1CEA835CDBD}">
          <p14:sldIdLst>
            <p14:sldId id="437"/>
            <p14:sldId id="439"/>
            <p14:sldId id="440"/>
            <p14:sldId id="356"/>
            <p14:sldId id="350"/>
            <p14:sldId id="351"/>
            <p14:sldId id="429"/>
            <p14:sldId id="441"/>
          </p14:sldIdLst>
        </p14:section>
        <p14:section name="Status" id="{4AA9FA2F-8E0C-0D4C-B4C2-5D0C34FF5E1A}">
          <p14:sldIdLst>
            <p14:sldId id="405"/>
            <p14:sldId id="427"/>
            <p14:sldId id="428"/>
          </p14:sldIdLst>
        </p14:section>
        <p14:section name="Afsluiting" id="{E0CBC379-8EA8-4341-808D-5CB2B48836E7}">
          <p14:sldIdLst>
            <p14:sldId id="32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EFDDC51-1952-02E5-AA4B-FE2A5787329A}" name="René" initials="R" userId="S::rene@renevendrig.nl::6409c6c1-9b39-4484-a4d6-b4d6eba8e870" providerId="AD"/>
  <p188:author id="{89F0B68B-0114-0E0F-EABE-27A5A339B573}" name="René Vendrig" initials="RV" userId="a1694714f31da7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F9E21E"/>
    <a:srgbClr val="FFB713"/>
    <a:srgbClr val="FFFFFF"/>
    <a:srgbClr val="797979"/>
    <a:srgbClr val="929292"/>
    <a:srgbClr val="5E5E5E"/>
    <a:srgbClr val="112F5C"/>
    <a:srgbClr val="00B0F0"/>
    <a:srgbClr val="4EB4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3"/>
    <p:restoredTop sz="95000"/>
  </p:normalViewPr>
  <p:slideViewPr>
    <p:cSldViewPr snapToGrid="0">
      <p:cViewPr varScale="1">
        <p:scale>
          <a:sx n="99" d="100"/>
          <a:sy n="99" d="100"/>
        </p:scale>
        <p:origin x="192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528949EA-EE02-887A-8C6B-3473EC4869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7D8B179-C56C-A78D-6435-1A4407057AB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0DC13-A57A-5A4A-ABAE-37CFB22F1FF1}" type="datetimeFigureOut">
              <a:rPr lang="nl-NL" smtClean="0"/>
              <a:t>06-09-2026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E9FD811-F744-7526-66F8-D7723BBB38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E8F686C-4517-B671-6754-A403DE19129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DF4495-DA97-364F-9561-3020DD9C97F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255621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1T11:21:58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4343 1410 24575,'-8'0'0,"3"3"0,2 2 0,-1 3 0,-1 1 0,1-1 0,-3 0 0,2 1 0,-3 2 0,3-1 0,-2 2 0,2-4 0,-3 0 0,-1 1 0,5-1 0,-4 0 0,4-3 0,-1 2 0,-2-2 0,6 3 0,-6 0 0,2 1 0,0-1 0,-2 0 0,2 4 0,-3-3 0,0 3 0,-1 0 0,1-2 0,4 2 0,-4-4 0,7 0 0,-6 0 0,2 1 0,1-1 0,-4 0 0,7 1 0,-6-5 0,6 4 0,-6-7 0,6 6 0,-7-2 0,8 3 0,-8-4 0,7 4 0,-6-7 0,6 6 0,-3-2 0,1-1 0,2 4 0,-7-4 0,4 5 0,-5-1 0,1 0 0,0-3 0,3 2 0,-2-2 0,2-1 0,-3 4 0,0-4 0,-1 8 0,1-2 0,0 2 0,3-4 0,-2 0 0,2 0 0,-3 4 0,0-2 0,-1 5 0,1-2 0,-4 4 0,3-1 0,-3 1 0,3-4 0,1 2 0,-4-5 0,3 2 0,-3-4 0,4 4 0,-4 1 0,-7 22 0,2 5 0,-5 1 0,9 1 0,0-28 0,4 5 0,1-7 0,0-6 0,-4 8 0,2-12 0,-2 9 0,4-6 0,-4 3 0,3 0 0,-7 1 0,3-1 0,-3 0 0,-1 1 0,1 3 0,-1-3 0,0 3 0,4-8 0,1 4 0,0-7 0,7 6 0,-6-2 0,6-1 0,-3 4 0,0-4 0,-1 1 0,-3 2 0,3-2 0,-6 3 0,5 0 0,-5-3 0,5 2 0,-2-2 0,0 0 0,3 2 0,-3-2 0,0-1 0,3 4 0,-7-4 0,4 1 0,-5 2 0,4-2 0,-3-1 0,7 4 0,-3-7 0,0 6 0,3-2 0,-3 3 0,4 0 0,-4 1 0,-1-1 0,-10 6 0,-2-3 0,-7 4 0,-12-3 0,9-1 0,-9 2 0,1-1 0,8-1 0,-9 2 0,12-3 0,0 1 0,1 4 0,-1-3 0,0-2 0,1 0 0,6-9 0,1 7 0,8-7 0,-1 7 0,1-4 0,-8 6 0,6-2 0,-12-2 0,12 5 0,-12-5 0,11 7 0,-4 0 0,6-4 0,5 3 0,0-8 0,3 0 0,-3-4 0,-1 4 0,-3 0 0,3 5 0,1-1 0,4 0 0,3 1 0,-2-1 0,-2 0 0,-4 0 0,-10 6 0,-14 6 0,2 2 0,-21 0 0,9 2 0,-12-8 0,0 5 0,13-8 0,2 0 0,19-4 0,1-3 0,8 1 0,3-2 0,-3 3 0,7-3 0,-3-1 0,4-1 0,-1-2 0,1 7 0,0-4 0,0 1 0,-1-2 0,1-3 0,0 0 0,-1 0 0,1 4 0,3 1 0,-2-1 0,2 0 0,-7 0 0,3 0 0,-3 1 0,0 2 0,3-6 0,-3 3 0,4-4 0,-4 4 0,3-3 0,-7 2 0,7 1 0,-3-3 0,3 3 0,1-1 0,0-2 0,-4 6 0,3-6 0,-3 3 0,0 0 0,-1 0 0,-4 5 0,-6 0 0,-2 1 0,-7 0 0,7 0 0,-5-5 0,12 3 0,-12-3 0,12 4 0,-6 0 0,1 0 0,-2-4 0,-7 5 0,7-5 0,2 4 0,6-5 0,8 4 0,2-4 0,3 1 0,0 2 0,-5-2 0,-3 3 0,3-3 0,-3 2 0,4-2 0,-4 0 0,-1 6 0,-4-6 0,1 7 0,-20-1 0,-4 8 0,-31-2 0,21 3 0,-6-6 0,24-4 0,11 0 0,2-5 0,15 3 0,0-4 0,0 1 0,3 2 0,-2-2 0,-1 3 0,-1-3 0,-3 2 0,0-6 0,0 3 0,-1-1 0,-3-2 0,-1 3 0,-3-4 0,3 0 0,1 0 0,4 0 0,3 4 0,-2-3 0,2 6 0,-3-6 0,-1 6 0,-3-2 0,3 3 0,-6 0 0,5 1 0,-2-1 0,4 0 0,3 1 0,-2-5 0,6 4 0,-6-4 0,2 5 0,-3-1 0,0 0 0,-1 4 0,-3 1 0,3 4 0,-3-5 0,4 0 0,3 0 0,-2 1 0,2 0 0,1-1 0,-4-3 0,7-1 0,-2 0 0,3 0 0,-4 1 0,3 3 0,-6 1 0,6-1 0,-7 0 0,7-3 0,-6-1 0,6 0 0,-6 4 0,6-2 0,-3 2 0,1-4 0,2 0 0,-7 4 0,7 1 0,-6 4 0,6 6 0,-6-9 0,6 9 0,-3-10 0,4 0 0,0 2 0,0-5 0,0 5 0,4-2 0,-3 0 0,6 3 0,-6-3 0,3 0 0,-1-2 0,-2-2 0,3-1 0,-4 0 0,0 1 0,0-1 0,0 0 0,0 1 0,0-1 0,0 0 0,0 0 0,0 1 0,0-1 0,-4-3 0,3 2 0,-2-2 0,-1 3 0,3 0 0,-6 0 0,6 4 0,-7-2 0,7 5 0,-6-5 0,6 2 0,-3-4 0,1 0 0,2 0 0,-7 1 0,8-1 0,-8 0 0,7 1 0,-2-1 0,-1 4 0,3-3 0,-6 3 0,6-4 0,-3 1 0,4-1 0,-4 0 0,3 1 0,-2-1 0,-1 0 0,3 0 0,-3 1 0,4-1 0,0 0 0,-3 1 0,2-1 0,-7 4 0,7 1 0,-6 3 0,6-3 0,-6 3 0,6-7 0,-6 3 0,6-4 0,-3 1 0,4-1 0,0 4 0,-4 1 0,3 10 0,-2-5 0,3 13 0,0-6 0,0-1 0,0 0 0,0-11 0,0-1 0,0-4 0,3 0 0,-2 1 0,3-1 0,0 0 0,0 0 0,1 1 0,-2-1 0,1 0 0,-3 1 0,6-1 0,-6 4 0,3-3 0,-4 3 0,4-4 0,-3 1 0,2-1 0,-3 0 0,0 1 0,0-1 0,0 0 0,0 0 0,0 1 0,0-1 0,0 0 0,0 1 0,0-1 0,0 0 0,0 1 0,4-1 0,-3 0 0,3 4 0,-1 1 0,-2 0 0,3-1 0,-4 0 0,0 1 0,4 3 0,-3-3 0,2 3 0,-3-7 0,0 3 0,0-4 0,0 1 0,4-1 0,-3 0 0,3 4 0,-4 1 0,0 4 0,0-4 0,3 2 0,-2-2 0,7 4 0,-4-1 0,4 1 0,-3 0 0,3 6 0,-3-5 0,5 2 0,-6-8 0,0 0 0,-4-3 0,0 7 0,0-7 0,0 3 0,4-4 0,0 4 0,1 1 0,-2 4 0,1-5 0,-3 0 0,3-3 0,-1-1 0,-2 4 0,7-3 0,-7 3 0,2-3 0,1-1 0,1 0 0,3 0 0,-3 1 0,2-1 0,-2 4 0,3-3 0,0 7 0,0-7 0,4 7 0,-2-7 0,2 7 0,0-7 0,-3 3 0,6-4 0,-2 4 0,4-3 0,-4 7 0,-1-3 0,-4 0 0,0-1 0,1-4 0,-1 0 0,0 1 0,1 3 0,-5-3 0,4 3 0,-4-4 0,4 0 0,-3 4 0,2-2 0,-2 2 0,3-4 0,1 0 0,-1 4 0,0-3 0,1 7 0,-1-7 0,4 7 0,-3-3 0,3 0 0,-4-1 0,1 0 0,3-3 0,-3 7 0,3-4 0,-4 1 0,1 10 0,4-12 0,-3 11 0,2-9 0,-4 0 0,0 3 0,4-4 0,-2 5 0,2-4 0,0 3 0,-3-4 0,6 1 0,-2 3 0,0-3 0,3 4 0,-7-5 0,33 23 0,-27-22 0,23 18 0,-33-23 0,2 0 0,-2-3 0,3-1 0,4-1 0,1-2 0,3 7 0,1-7 0,0 6 0,-1-2 0,-3-1 0,-1 4 0,-4-8 0,1 4 0,-1 0 0,0-3 0,1 6 0,-1-6 0,0 3 0,0-4 0,-3 3 0,2-2 0,-2 3 0,3 0 0,1-3 0,-1 2 0,0-3 0,-3 4 0,2-3 0,-2 3 0,3-4 0,0 0 0,1 0 0,-1 0 0,0 0 0,1 0 0,-1 0 0,0 0 0,0 0 0,4 0 0,-2 3 0,5-2 0,-6 3 0,7-4 0,-7 0 0,7 0 0,-3 0 0,0 4 0,2-3 0,-2 2 0,11-3 0,-6 0 0,5 0 0,1 0 0,-6 4 0,5-3 0,-6 2 0,-1-3 0,1 0 0,-4 0 0,-1 0 0,0 0 0,-3 0 0,3 0 0,0 0 0,1 0 0,0 0 0,2 0 0,-5 0 0,5 0 0,-2 0 0,0 0 0,3 0 0,-7 0 0,7 0 0,-7 0 0,7 0 0,-7 0 0,6 0 0,-5 0 0,5 0 0,-2 0 0,4 0 0,-4 0 0,2 4 0,-2-3 0,4 3 0,-4-4 0,2 0 0,-5 0 0,5 0 0,-2 0 0,0 0 0,3 0 0,-3 0 0,10-5 0,2 4 0,7-8 0,-1 7 0,1-7 0,12 1 0,-9 2 0,2-1 0,-14 7 0,-10-3 0,6 2 0,-5-7 0,7 7 0,-5-6 0,1 2 0,-4 1 0,2 0 0,-2 0 0,0 4 0,3-4 0,-7 4 0,3-4 0,-4 0 0,1-5 0,3 5 0,-3 0 0,6 0 0,-2 3 0,0-2 0,3 3 0,-3-4 0,3 3 0,-3-6 0,3 6 0,-3-7 0,3 4 0,1-5 0,-4 5 0,3-3 0,-7 6 0,3-3 0,-4 4 0,0 0 0,4 0 0,-2 0 0,5-4 0,-6 3 0,7-2 0,-10-1 0,5-1 0,-7 1 0,5 0 0,-1 4 0,0-4 0,1 3 0,-1-2 0,0 3 0,0 0 0,1 0 0,-1-4 0,0 3 0,1-3 0,-1 4 0,0 0 0,0-3 0,1 2 0,-1-3 0,0 4 0,1 0 0,-1 0 0,4 0 0,1 0 0,3-4 0,8 4 0,1-9 0,6 8 0,1-8 0,-7 7 0,5-7 0,-12 8 0,6-8 0,-11 5 0,-1-1 0,-4 2 0,-3-1 0,2-1 0,-3 1 0,1-4 0,2 7 0,-2-6 0,3 2 0,1 1 0,-1 0 0,0 0 0,1 3 0,-1-2 0,0-1 0,0 3 0,1-6 0,-1 6 0,4-6 0,-3 6 0,3-7 0,-4 7 0,1-2 0,-1 3 0,0-4 0,1 3 0,-1-3 0,0 1 0,1 2 0,-1-3 0,0 0 0,0 3 0,1-6 0,3 6 0,-3-6 0,3 2 0,0-3 0,-3 0 0,7-1 0,-3 1 0,3 0 0,1-1 0,-1 1 0,8-6 0,1 3 0,19-12 0,-10 5 0,22-4 0,-28 8 0,15-3 0,-25 11 0,1-7 0,-7 8 0,-3-3 0,-1-1 0,0 1 0,1 0 0,-1-1 0,0 1 0,0 0 0,1 0 0,3-1 0,-3 5 0,3-4 0,-4 4 0,0-5 0,1 1 0,-1 0 0,0 0 0,1-1 0,-1 5 0,-3-4 0,2 0 0,-2-5 0,7 0 0,-3-3 0,3 7 0,-4-6 0,0 5 0,1-2 0,-5 4 0,4 0 0,-4 0 0,4-1 0,1 1 0,-1 0 0,0-4 0,1 2 0,-1-5 0,4 2 0,7-18 0,-1 11 0,4-11 0,-9 18 0,-1 2 0,-4 2 0,-3 1 0,2 3 0,-2-2 0,3 6 0,-3-6 0,2 6 0,8-8 0,18 2 0,26-7 0,16-10 0,11-3 0,0-8 0,-12 10 0,-15 3 0,-15 10 0,-22 6 0,-4 1 0,-9 5 0,-1 0 0,4 0 0,1 0 0,3 0 0,1 0 0,0 0 0,-5 0 0,4 0 0,-3 0 0,10 0 0,-4 0 0,4 0 0,0 5 0,2 1 0,7 4 0,-7-4 0,5-1 0,-15-5 0,7 0 0,-9 0 0,-4 3 0,2-2 0,-10 7 0,6-7 0,-2 10 0,7-10 0,8 12 0,5-8 0,6 6 0,1 0 0,0-1 0,-7 0 0,-2-1 0,-6-4 0,-4 2 0,2-2 0,-2 3 0,0-4 0,3 0 0,-7 0 0,7-3 0,-4 6 0,5-6 0,0 6 0,6-1 0,-5 3 0,12-4 0,-12 6 0,6-9 0,-11 9 0,2-10 0,5 3 0,5-4 0,7 0 0,12 0 0,2 0 0,-5 0 0,-10 0 0,-19 0 0,7 5 0,27 11 0,16-7 0,24 6 0,0-7-476,1-6 476,-1 13 0,-12-13 0,-3 5 0,-24 3 0,-3-8 0,-19 8 0,-2-10 0,1 4 476,-6-3-476,5 4 0,-6-5 0,6 0 0,-5 0 0,12 0 0,-5 0 0,0 0 0,-1 0 0,-8 4 0,1-3 0,-4 2 0,-1 1 0,-4-3 0,0 3 0,4-4 0,-2 3 0,5-2 0,-2 3 0,4 0 0,-1-3 0,1 2 0,-4-3 0,-1 0 0,-4 0 0,4 0 0,-3 0 0,7 0 0,-3 0 0,3 0 0,8 0 0,-6 0 0,5 0 0,-6 0 0,6 0 0,-5 0 0,13 0 0,-13 0 0,5 0 0,-10 0 0,-1 0 0,-4 0 0,1 0 0,3 0 0,-3 0 0,6-3 0,-2 2 0,4-3 0,0 4 0,-5-4 0,0 3 0,-3-2 0,-1 3 0,0-4 0,1 3 0,-1-3 0,0 4 0,0 0 0,1 0 0,-1 0 0,0 0 0,4 0 0,1-3 0,4 2 0,6-8 0,2 4 0,19-8 0,-9 7 0,9-5 0,-13 5 0,1-5 0,-7 2 0,17-4 0,-21 4 0,22-3 0,-18-2 0,6 2 0,-6-2 0,-1 5 0,-1-1 0,-5 2 0,6-2 0,-8 6 0,1-4 0,-1 4 0,1-1 0,-1-2 0,-3 6 0,-1-6 0,-3 6 0,-1-3 0,-3 0 0,2 3 0,1-2 0,1-1 0,7-1 0,4-4 0,5 0 0,6-2 0,-6-2 0,-1 6 0,-8-4 0,-3 7 0,3-5 0,-7 5 0,3-4 0,-4 7 0,-3-6 0,2 6 0,-2-6 0,7 2 0,1-7 0,3 3 0,1-7 0,12-9 0,-3 3 0,21-30 0,-18 20 0,10-11 0,-16 12 0,-3 15 0,-3-7 0,-7 14 0,2-3 0,-4 4 0,4-4 0,-3-1 0,7-4 0,-3 1 0,3-1 0,3-6 0,0-2 0,-3-7 0,4 0 0,-8 1 0,8-1 0,-9 7 0,4-5 0,-1 5 0,-2-7 0,2 7 0,-1 2 0,-4 6 0,3 1 0,-3-1 0,3 1 0,2-8 0,16-6 0,-11-3 0,21-10 0,-21 10 0,7 2 0,-11 1 0,-6 12 0,0-9 0,-4 13 0,2-2 0,-6 8 0,6-4 0,1-20 0,2 4 0,2-16 0,-1 13 0,2 6 0,-2-5 0,-2 11 0,5-11 0,-7 5 0,7 0 0,-3-5 0,-3 12 0,1-5 0,0 6 0,-1 1 0,1-8 0,1-1 0,5-6 0,-1-13 0,1 9 0,6-21 0,-8 21 0,6-9 0,-8 13 0,-1-1 0,1 0 0,-5 7 0,2 2 0,-7 0 0,6 4 0,-6-11 0,8 5 0,-8-6 0,7 6 0,-2-5 0,-1 5 0,4-7 0,-8 0 0,4 0 0,0 1 0,-4 6 0,3-5 0,-4-3 0,0 6 0,0-10 0,0 19 0,0-24 0,0 20 0,0-13 0,-4 12 0,3-2 0,-4 3 0,5 0 0,0 13 0,0-3 0,0 0 0,0-1 0,0-11 0,0-25 0,8-25 0,-7 24 0,0-1 0,4-1 0,-1 2 0,-4-36 0,0 2 0,0 22 0,0-9 0,0 24 0,0 3 0,-5 13 0,-1-1 0,-4 0 0,-1 1 0,-1-13 0,1 9 0,-4-21 0,4 21 0,-6-9 0,10 13 0,-7-1 0,8 0 0,-3 7 0,-2-5 0,3 12 0,2-5 0,-1 6 0,6-6 0,-7 5 0,4-2 0,-5 4 0,5 7 0,-3-7 0,6 7 0,-8-13 0,0-24 0,-13-16 0,4-12 0,-12 3 0,11 24 0,-3-9 0,7 28 0,3-14 0,-2 17 0,3 0 0,-4-5 0,7 11 0,-2-4 0,2 7 0,0-1 0,-1 0 0,1 4 0,0-2 0,-1 2 0,-5-10 0,5 4 0,-9-4 0,9 6 0,-3 8 0,4 2 0,-1 7 0,5-8 0,-4-1 0,0-7 0,-7-8 0,-21 0 0,-6-6 0,-22-10 0,-8 6 0,6 1 0,-18-7 0,22 14 0,3-5 0,26 10 0,10 7 0,11 1 0,-5-3 0,0 7 0,-18-12 0,-5 7 0,-19-14 0,0 12 0,0-5 0,-12-3 0,9 7 0,-22-8 0,34 12 0,-18-2 0,40 5 0,-14 2 0,24 5 0,-6 3 0,12 0 0,0 0 0,3-4 0,-3-1 0,-1-3 0,-10-6 0,-2 3 0,-7-9 0,-12 7 0,10-3 0,-22 8 0,9 4 0,0-1 0,3 4 0,12-4 0,1 5 0,6 0 0,1 0 0,8 0 0,3 0 0,1-4 0,4 3 0,-4-6 0,-1 6 0,-4-6 0,-6 6 0,5-3 0,-12-1 0,5 4 0,-19-4 0,-15 5 0,-15 0 0,-25 0-430,10 0 430,2 7 0,16-5 0,24 4 0,10-6 0,7 0 0,12 0 0,-12 5 0,5-4 430,-43 4-430,27 0 0,-27 0 0,36 1 0,0 4 0,7-9 0,2 7 0,10-7 0,1 3 0,4-4 0,-4 4 0,-20-4 0,11 4 0,-11-4 0,20 0 0,0 0 0,-1 4 0,-10-3 0,-14 16 0,-10-8 0,-24 14 0,9-8 0,3-1 0,15-2 0,12-6 0,7 3 0,2-9 0,6 8 0,4-4 0,1 1 0,4-1 0,0-1 0,-1 2 0,1 3 0,-11 2 0,5-2 0,-9 1 0,-1 1 0,6 2 0,-5-2 0,10-1 0,1-2 0,4-2 0,-4 3 0,2 0 0,-2 0 0,0-3 0,3 2 0,-3-2 0,4 3 0,-11 2 0,5-2 0,-10 5 0,8-4 0,-1 3 0,4-7 0,5 2 0,1-6 0,6 7 0,-7-4 0,4 8 0,-15 3 0,-1 21 0,-5-13 0,-13 36 0,-1-31 0,-22 29 0,1-25 0,9 4 0,14-13 0,13-8 0,11-3 0,5-4 0,1 0 0,2 1 0,-3-1 0,-4 0 0,-1 4 0,-4 1 0,1 0 0,-1 3 0,-6-6 0,5 2 0,-6 1 0,11-4 0,-2 3 0,6-3 0,-3 3 0,7-3 0,-2 6 0,2-5 0,-3 2 0,3-4 0,-2 4 0,2 1 0,-9 10 0,3 2 0,-7 0 0,4-2 0,-4 1 0,1-10 0,-2 5 0,3-7 0,3-3 0,1 0 0,3-2 0,1-2 0,0-1 0,0 3 0,-1-2 0,1 3 0,0 1 0,-1-1 0,1-3 0,0-2 0,3 1 0,-2 1 0,2-1 0,-3 4 0,0-4 0,-1 4 0,-3 4 0,3-2 0,-7 2 0,7-4 0,-6 0 0,5 1 0,-5-1 0,5 0 0,-2 0 0,0 1 0,0 3 0,-5-3 0,0 3 0,1 0 0,-1 1 0,1 3 0,-1 1 0,4-4 0,1 2 0,4-2 0,0 0 0,-1 3 0,5-7 0,-4-1 0,7 0 0,-6-4 0,6 5 0,-6-1 0,2 4 0,-7-3 0,-7 9 0,-6-3 0,-7 2 0,-12 6 0,9-5 0,-9 2 0,19-6 0,2-4 0,10-2 0,1 0 0,4 0 0,0-3 0,3 2 0,1-2 0,1 3 0,-2 1 0,0-1 0,-2 0 0,2-3 0,1 2 0,-4-2 0,8 3 0,-8 4 0,4 1 0,-10 10 0,4-4 0,-5 11 0,1-5 0,3 0 0,-9 5 0,7-12 0,-6 2 0,2-8 0,5-4 0,0 0 0,3-3 0,1-2 0,3 1 0,-2 1 0,2 3 0,1 4 0,-4 1 0,4 0 0,-4 2 0,-1-5 0,1 5 0,-4-5 0,3 2 0,-3-4 0,3-4 0,1 0 0,0 0 0,0-3 0,-1 2 0,1 1 0,0-3 0,-4 6 0,-1-2 0,0 3 0,1-3 0,4 2 0,-1-6 0,1 7 0,0-8 0,-1 8 0,1-7 0,0 6 0,0-2 0,-1 3 0,1 0 0,0 1 0,-4-1 0,-1-3 0,0 2 0,1-2 0,0-1 0,6 3 0,-1-2 0,7 3 0,0-3 0,0-1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1T11:22:11.8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1 952 24575,'0'-8'0,"4"-4"0,0-1 0,1 0 0,3-9 0,-3 7 0,4-8 0,0 10 0,0-9 0,-1 7 0,2-8 0,-2 6 0,0 1 0,-3 3 0,-1 1 0,-1 4 0,-2-1 0,3 1 0,0 0 0,-3-1 0,6 5 0,-6-4 0,6 0 0,-2-1 0,3-7 0,4 3 0,-3-3 0,7-1 0,-7 1 0,3 6 0,-4-1 0,1 7 0,-5-5 0,7 5 0,-5-7 0,6 5 0,0-10 0,1 4 0,0-1 0,2-3 0,-2 7 0,0-3 0,-1 7 0,-7-2 0,2 6 0,-6-10 0,6 5 0,-2-6 0,0 0 0,2 7 0,-2-10 0,3 10 0,0-7 0,1 3 0,-1-3 0,0-1 0,0 1 0,1 0 0,-1 3 0,0-3 0,-3 3 0,6-7 0,-5 3 0,6-10 0,1 5 0,-2-12 0,7 5 0,-6-7 0,8 0 0,-10 7 0,4 6 0,-9 7 0,-1 7 0,-4 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1T11:22:26.3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3794 2092 24575,'-4'8'0,"3"1"0,-6 3 0,-1 1 0,-7 10 0,-15 7 0,-4 9 0,-16-1 0,-7 8 0,-16-4 0,7 0 0,-10 7 0,23-11 0,-9 3 0,5 5 0,9-17 0,0 5 0,16-12 0,0-1 0,7-2 0,-5 1 0,5 0 0,0-5 0,-5 0 0,12-3 0,-5-1 0,6 0 0,0-2 0,1-1 0,-1 0 0,-6 6 0,-16 7 0,4 1 0,-11-1 0,2 3 0,9-12 0,-21 16 0,21-16 0,-8 12 0,18-17 0,-5 12 0,11-13 0,-4 4 0,6-2 0,1 0 0,-1 1 0,-6 9 0,-14 1 0,-10 7 0,-12 3 0,0 1 0,0-1 0,12-3 0,10-3 0,7-7 0,12-4 0,-2-3 0,4-4 0,3 2 0,0-2 0,2 0 0,-1 2 0,2-6 0,-13 6 0,9-2 0,-17 0 0,13 6 0,-12-10 0,5 7 0,0-5 0,-5-2 0,11 3 0,-4-4 0,10 4 0,1-3 0,0 2 0,-1 1 0,-3 1 0,-1 3 0,-18 10 0,-6 2 0,-18 9 0,0-6 0,0 5 0,0-12 0,0 12 0,0-5 0,0 0 0,12-3 0,-9-6 0,28-4 0,-7 1 0,12-2 0,4 0 0,-11 1 0,12-1 0,-5 0 0,6 0 0,1-1 0,-1 0 0,0 0 0,1 1 0,-1-1 0,4-3 0,1 2 0,4-6 0,0 3 0,-4-4 0,-1 7 0,-4 2 0,1 8 0,3-4 0,1 2 0,7-5 0,-2 5 0,-1-2 0,-11 23 0,-11-3 0,-19 29 0,2-15 0,-8 8 0,16-21 0,12-4 0,5-15 0,12-3 0,-2 0 0,4-7 0,0 6 0,-1-6 0,5 7 0,-4-3 0,0 3 0,-1-4 0,-3 1 0,4-1 0,3 0 0,-2-3 0,6 2 0,-3-2 0,0-1 0,4 4 0,-8-4 0,7 5 0,-2-1 0,-1-4 0,3 4 0,-3-4 0,1 1 0,2 2 0,-3-2 0,4 7 0,-4-3 0,3 3 0,-2 0 0,-1-3 0,3 3 0,-3-3 0,4-1 0,0 0 0,0 1 0,0-1 0,0 4 0,0-3 0,0 7 0,0-7 0,0 7 0,0-7 0,0 7 0,0-7 0,0 6 0,0-5 0,0 2 0,0 0 0,0 0 0,0 1 0,0 10 0,0-9 0,0 29 0,0-15 0,5 15 0,3 1 0,-2 3 0,1 0 0,-1 9 0,-4-21 0,11 21 0,-11-28 0,4 14 0,-1-17 0,-4 0 0,7-2 0,-7-6 0,7-1 0,-7 1 0,7 6 0,3 2 0,3 31 0,21-1 0,-14 29 0,27-13 0,-19 13 0,10-17 0,-19-18 0,-1-1 0,8 6 0,2 28 0,-9-47 0,-4 21 0,-1-22 0,-3 0 0,-7-15 0,3-7 0,-7-3 0,6 6 0,-1 5 0,12 17 0,-3 22 0,8 15 0,2 13 0,0-13 0,0-3 0,-1-24 0,-10-3 0,0-19 0,-4 5 0,-1-12 0,0 5 0,-1-6 0,1 0 0,3-1 0,-3-3 0,6 3 0,-2-7 0,4 3 0,-4-7 0,-1-2 0,0 1 0,1-3 0,3 3 0,8-4 0,1 4 0,18-3 0,16 12 0,4-11 0,20 13 0,3-13-363,-36 2 1,2 0 362,-2-4 0,1 0 0,48 0 0,-13 0 0,0 0-57,-12 0 57,-2 0 0,-13-7 0,-13 1 0,-8-6 0,-15 7 723,-10-3-723,2 7 59,-5-2-59,5 3 0,-2-4 0,11 3 0,-6-6 0,1 6 0,-7-3 0,-3 4 0,-1 0 0,11 0 0,-5 0 0,16 0 0,-5 0 0,19 0 0,-9 0 0,9 0 0,-19 0 0,5 0 0,-12 0 0,5 4 0,-6-3 0,0 2 0,-1-3 0,1 0 0,-4 0 0,-1 0 0,-4 0 0,0 0 0,1 0 0,-5-3 0,3 2 0,2-3 0,0 0 0,7 0 0,-7-1 0,7-6 0,-4 2 0,1 0 0,-1-2 0,0 10 0,-2-3 0,2 0 0,-4 3 0,11-7 0,-5 3 0,16-5 0,-5-4 0,19-7 0,3-4 0,12 2 0,-12-1 0,-3 15 0,-19-4 0,-2 12 0,-10-3 0,2 0 0,-5 3 0,2-6 0,-4 6 0,4-6 0,-3 6 0,14-8 0,10-5 0,2 1 0,21-14 0,-22 14 0,10-6 0,-12 9 0,0-1 0,-1 1 0,1-1 0,-7 2 0,-2-4 0,-6 0 0,0-4 0,-3-6 0,4-2 0,-7-7 0,0 11 0,-3 6 0,-3 4 0,3 1 0,6-13 0,-3-2 0,3 0 0,15-21 0,-16 23 0,15-17 0,-17 27 0,-1-2 0,5 5 0,-5-5 0,7-5 0,-6-5 0,9-7 0,-4 1 0,4 6 0,-6 1 0,-2 15 0,-3-2 0,-1 6 0,0 1 0,4 0 0,1 4 0,11-4 0,1 2 0,6-7 0,-6 4 0,5-1 0,-11-1 0,11 6 0,-12-6 0,5 6 0,-6-7 0,-4 8 0,2-4 0,-2 0 0,4 3 0,-4-2 0,2-1 0,-2 3 0,4-6 0,6 6 0,-5-7 0,12 3 0,-11-4 0,11-1 0,-12 1 0,5 4 0,-10 1 0,-1 4 0,-3-4 0,-1 3 0,0-2 0,0 3 0,1 0 0,-1-4 0,0 3 0,1-3 0,-1 4 0,0 0 0,4 0 0,1 0 0,23 0 0,4 0 0,31 0 0,-9 0 0,21 0 0,-21-6 0,-3 4 0,-15-4 0,-23 6 0,-2 0 0,-11 0 0,1 0 0,-1 0 0,0 0 0,4 3 0,-3-2 0,14 3 0,-9-4 0,10 0 0,-1 0 0,-5 0 0,6 0 0,-8 4 0,-3 0 0,3 1 0,-7 2 0,3-6 0,-4 3 0,4-4 0,1 0 0,4 3 0,-4-2 0,2 3 0,-2 0 0,4-3 0,6 7 0,-8-3 0,11 1 0,-12-3 0,6-3 0,-4 0 0,-3 0 0,-1 4 0,0-3 0,1 6 0,23-6 0,4 3 0,19-4 0,12 0 0,3 8-597,25-7 597,-10 7 0,-33-7 0,-1-2 0,22 1 0,6 0 0,-43 0 0,-4 0 0,-20 0 0,-3 0 0,-1 0 597,-3 0-597,-1 0 0,0 0 0,0 0 0,4 0 0,8 0 0,5 0 0,7 0 0,-7 0 0,-2 0 0,-6 0 0,6 0 0,-5 0 0,2 0 0,-5 0 0,5 0 0,17 0 0,10 0 0,24 0 0,3 0 0,25-8-852,-10 6 852,-33-6 0,-1-1 0,34-1-181,-2 0 181,-16-5 0,-31 14 0,-8-6 0,-20 7 0,-4 0 844,11 0-844,2 0 189,11-4-189,-1 2 0,13-9 0,-9 9 0,2-8 0,-7 9 0,-12-6 0,6 2 0,-8 1 0,-3-4 0,-1 4 0,0-5 0,-3 1 0,3 0 0,0-4 0,-3 3 0,3-3 0,-3 7 0,-1-2 0,0 6 0,4-3 0,-2 0 0,2 3 0,0-2 0,-3-1 0,6 3 0,-2-6 0,-3 2 0,4 1 0,-8-4 0,6 4 0,0-8 0,7 6 0,31-9 0,-19 13 0,13-6 0,-32 8 0,0 0 0,0 0 0,-2-3 0,4 2 0,-4-7 0,6 4 0,1-4 0,18-4 0,-7 2 0,9-5 0,-13 9 0,-8-5 0,-6 6 0,1-3 0,-10-1 0,6 1 0,-6 0 0,6 0 0,-6-1 0,6 5 0,-6-4 0,7 4 0,0-8 0,21-32 0,-3 1 0,2 0 0,4-1 0,20-24 0,-19 28 0,-2 0 0,12-25 0,-14 21 0,-18 8 0,-3 19 0,-3 1 0,2 3 0,-6-9 0,6 7 0,-1-15 0,4 5 0,2-19 0,-1 9 0,10-21 0,-9 28 0,5-7 0,-8 18 0,-1 8 0,-3-2 0,2 6 0,-2-3 0,3-4 0,4-1 0,-3-3 0,7 3 0,-3-3 0,0 7 0,-2-3 0,-2 7 0,-1-2 0,0 6 0,-3-6 0,2 6 0,-2-10 0,3 5 0,1-6 0,-1 4 0,0-4 0,0-1 0,1-4 0,-1 5 0,0-4 0,-3 7 0,2-3 0,-6 0 0,7 2 0,-7-2 0,2 4 0,1-4 0,-3-7 0,7-6 0,-2-7 0,6-12 0,0 9 0,-5-9 0,5 1 0,-6 8 0,15-21 0,-9 21 0,7-9 0,-8 13 0,-1-1 0,1 0 0,1-12 0,1-3 0,-4-12 0,4 0 0,-5 0 0,5 12 0,8-9 0,-9 22 0,11-18 0,-16 29 0,1-3 0,-4 18 0,-3-11 0,10-26 0,-1-30 0,4 20 0,0-3-502,-3 0 0,0-1 502,3-5 0,0 2 0,-4 10 0,-2 3 0,3-38 0,-4 28 0,-7 15 0,-3 19 0,-3-5 0,-4 5 1004,4-6-1004,-5-13 0,10 9 0,-13-21 0,8 21 0,-2-21 0,4 28 0,0-7 0,3 18 0,-6 1 0,2 3 0,0-3 0,-2 7 0,6-3 0,-2 4 0,3-4 0,-7-20 0,-1-8 0,-7-19 0,0 0 0,0 0 0,1 0 0,-1 0 0,2 12 0,-1-9 0,3 21 0,-2-9 0,1 0 0,2 16 0,-2-14 0,3 24 0,-1-12 0,1 15 0,-4-7 0,4 13 0,-3-3 0,7 3 0,-2 1 0,1-11 0,-3-2 0,-10-23 0,-4-15 0,-7-3 0,-2-9 0,9 12 0,-1 12 0,10 3 0,0 19 0,1 6 0,0 3 0,0 7 0,-3-3 0,3 0 0,1 3 0,-4-7 0,-4 6 0,2-3 0,-12 8 0,12-3 0,-6 7 0,8-6 0,-1 6 0,4-3 0,1 4 0,4-3 0,0-2 0,-4-7 0,-1 3 0,-4-3 0,1 0 0,3 3 0,-10-9 0,9 8 0,-16-5 0,5 6 0,-7-2 0,7 2 0,2-1 0,-15 2 0,19 0 0,-14 3 0,25 2 0,-1 3 0,5-4 0,-4 3 0,4-6 0,-27-7 0,1-13 0,-15-1 0,14 3 0,8 7 0,6 5 0,-6-1 0,-14-1 0,-10 2 0,0 0 0,3 6 0,13 2 0,-1 0 0,0-1 0,7-3 0,2-1 0,10 6 0,1-4 0,4 8 0,-1-4 0,1 4 0,-4 0 0,-1 0 0,-3 0 0,-1 0 0,0 0 0,5 0 0,0 4 0,3-4 0,5 8 0,-4-11 0,7 2 0,-6-11 0,-3-7 0,-4 0 0,-1 0 0,0 7 0,2 3 0,-4 5 0,-6 0 0,5 4 0,-6 0 0,1 0 0,5 0 0,-2 0 0,8-4 0,0 3 0,-1-6 0,0 6 0,-2-6 0,5 6 0,-2-3 0,4 4 0,-4 0 0,-1-3 0,0 2 0,-2-3 0,6 4 0,-3 0 0,3 0 0,1 0 0,0-4 0,-23 3 0,6-7 0,-18 7 0,-1-11 0,-3 11 0,-12-6 0,0 7 0,0 0 0,12-4 0,3 2 0,23-2 0,2 4 0,11 0 0,0 0 0,-1 0 0,1 0 0,0 0 0,-1 3 0,-3 2 0,-1 0 0,-3 2 0,-1-2 0,1-1 0,3 4 0,1-7 0,4 6 0,-1-6 0,1 6 0,-4-6 0,-1 6 0,-4-6 0,1 3 0,3 0 0,1-3 0,4 2 0,-1-3 0,1 4 0,0-3 0,-1 3 0,5-1 0,-3-2 0,-2 3 0,0 0 0,-3-3 0,4 2 0,-4-3 0,3 0 0,-3 0 0,3 4 0,1-3 0,0 3 0,-1-4 0,-3 0 0,-1 0 0,-10 0 0,-2 4 0,-7-3 0,1 4 0,-1-5 0,0 0 0,7 4 0,-5-3 0,12 6 0,-24-6 0,14 7 0,-16-6 0,0 2 0,9 1 0,-21-4 0,22 4 0,-10-5 0,12 5 0,0-4 0,7 7 0,2-7 0,10 3 0,1-4 0,4 0 0,0 3 0,-11-2 0,-2 12 0,-4-7 0,1 5 0,8-4 0,-1-6 0,-6 7 0,-14 0 0,2 3 0,-9 2 0,0-1 0,10-1 0,-10 2 0,12-3 0,7 0 0,2-5 0,-1 4 0,10-8 0,-9 4 0,14-2 0,-3 2 0,4-1 0,0 4 0,-1-7 0,1 6 0,0-2 0,-1 3 0,1 0 0,0-3 0,0 2 0,-1-6 0,5 7 0,-4-7 0,4 2 0,-1 1 0,-2-3 0,2 6 0,-3-6 0,-1 6 0,1-2 0,0 0 0,0 2 0,-1-2 0,1-1 0,0 4 0,-1-4 0,1 5 0,0-1 0,3 0 0,-2 0 0,2 1 0,-3-5 0,3 4 0,-2-4 0,-1 5 0,-2-1 0,-5 4 0,6-3 0,-7 3 0,7-4 0,0 1 0,2-5 0,2 4 0,1-4 0,-4 1 0,7 2 0,-6-6 0,6 7 0,-2-4 0,-1 4 0,-1 1 0,1-1 0,-4 0 0,4 1 0,-5-1 0,5 0 0,-4 0 0,7 1 0,-2-1 0,-1 0 0,3 4 0,-6-2 0,6 2 0,-7-8 0,4 4 0,-4-4 0,-1 1 0,5 2 0,-4-2 0,4 3 0,-5-3 0,1 2 0,0-2 0,0 3 0,-1 0 0,1 0 0,3 1 0,-2-5 0,2 4 0,1-4 0,-4 5 0,4-5 0,-5 4 0,1-7 0,0 6 0,0-2 0,-1-1 0,1 4 0,0-8 0,-1 8 0,1-4 0,0 5 0,0-1 0,-1 0 0,1 1 0,-4 3 0,3-3 0,-3-1 0,3-1 0,1-2 0,0 0 0,0 2 0,-1-2 0,5 3 0,-4-3 0,4 6 0,-1-6 0,-2 7 0,2-4 0,-3 1 0,0-1 0,-1 0 0,1 4 0,0-6 0,-1 5 0,5-7 0,-4 5 0,4-1 0,-5 0 0,1 1 0,0-1 0,0 0 0,-1-3 0,1 2 0,0-2 0,-1 3 0,1 0 0,0 1 0,0-1 0,3 0 0,-2-3 0,6 2 0,-7-2 0,7 3 0,-6-3 0,2 2 0,-3-2 0,0 3 0,-4 0 0,-1 1 0,0-1 0,-3 0 0,7 1 0,-7 3 0,4 0 0,-12 7 0,-6 10 0,3-7 0,-14 19 0,21-21 0,-8 9 0,11-13 0,3 8 0,2-6 0,-3 12 0,9-19 0,-4 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DBB16A-D929-554D-8D35-A358C3C5D94F}" type="datetimeFigureOut">
              <a:rPr lang="nl-NL" smtClean="0"/>
              <a:t>06-09-2026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9818A3-B556-7F4E-9CD5-E84A676666F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25923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845471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2543A-C099-407F-4270-0001CBD17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F3C6750-914E-55C5-1C45-4E44BD9345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0BB6155-5216-2CD7-E5E1-8DE0201CB4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26888D3-C066-6145-8635-7891B8D834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69926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3161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BBA72-59D5-D514-B3FC-73C171918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7592906-BFF7-2107-3333-5CA21292E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59D8A84-CE87-8134-70EA-F7BA510DE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DE57829-CE78-A6BE-6F3F-35F580BF69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803385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520EE-B2F8-D2D4-45C6-B10D0C0E3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9D94CD5B-058C-8B5F-1132-C16B782BC2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CC017BB-C9DC-07A7-03F8-E2BF1A6F4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2A859F5-5CF6-0D38-7101-9DD7DD4C5F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05392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1368B-9633-6917-4418-D5E380D02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A9EE3B8-05C6-DD81-FFD7-2357162C06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1F64814-C772-31AD-AFD0-1A2C50400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0DB2D01-D8ED-9A3A-C448-3920697AF4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402501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2FE39-A9F0-3A8E-F396-0E963921A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0A274931-5346-FE2B-6301-02B63DB6C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FF770BE-089F-5CF2-9DD7-BAA2D7B31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71CDDD0-E8F8-627D-C998-AA26F1C88F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54110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CF78A-A442-0670-7AE0-A9E0BEF75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637C95D-E368-392C-4AD2-A09B00041C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4213BDF-0C7C-3EFB-EF75-88551B6133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09AE5F1-BC1B-29E0-ABE0-AD739F3BD4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48213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F7FBF-2141-5AA9-DFAB-4E0C33842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03488C4-B031-7C0B-BEBB-26F2F2153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621DF9DC-AE0A-B486-4A2E-006EE0320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AEA2AC3-A3A5-B2D8-F9EE-BAFCE578E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015294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2D8EE-10ED-CF48-F399-C42E92254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C18010CD-FC4D-9516-0FF0-B6C6E19660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E9F2312-81ED-CA7E-791E-1544AC1D0C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B0A3A1E-4BF1-8E8E-5DE6-7FE2454EEB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60074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00BAE-39AF-E44F-2D92-890B74897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97C102C8-C94F-4BFF-697D-03E1D8ED7E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8EC442A-3C05-9B08-17A8-ADA92C127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BEE9F64-D595-A875-41CF-A72B40D45B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272984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E2939-E77B-3846-DB59-AB7C1E1DD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6947039-0661-8F95-BF66-D76816B043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6B4C60E-9190-3B71-4DA0-76942363B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9DC81D2-19D0-1E45-A35B-F40BEE0CE5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298770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A6C6F-46E9-6FE0-4F62-92348243A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E7CB2C3-FD1B-F72E-A9AF-E26095111D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FFA2041-66DE-A64B-E597-FE3006BF5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1F38204-A862-D92E-CE49-D56B2C29A4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338297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1EA78-46BD-1ED3-E28E-CD0B4F6A9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69CC16AC-47B8-5CEB-F66C-890E8F66D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59EBE7C-E721-456A-04BD-8055AC283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F79BEE2-1965-73F7-6ED8-B17D5074E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533883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DC50A-6B6A-B9D0-DE22-2CC670F90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67967DB6-A366-2EED-96DD-7245E86896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BA79786-1FCA-582D-D5AF-F7206D37A8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35B2EF5-9154-9C72-87E2-91226F25A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86270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5723B-3E8E-4105-0FC5-076B08FA8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2FF29A26-22E9-AFD1-97C9-103577383B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D12D46E-A97C-3F20-768D-D630D6692C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1C462C4-BBD3-C6AD-EF45-3BE591CA22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375705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20CCB-12FF-C59B-6C24-90E29E2DB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81D6542-EB23-4F03-27A3-CEF44BC3A5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84FB8AB7-8FB2-597D-62F2-141E361C1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8CEAFE7-C5BB-95F0-B34F-B297A75468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289623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39F73-655E-407D-2DDC-DB3D17EEA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662FD637-2C68-CC10-1FF5-1030998451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C0FE057-963E-76B1-40B0-2826A4832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1AAB128-6F42-8F16-1122-F6F4C8283A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904160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487711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3FD7C-E1BC-935A-BB4D-575C9BF88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68C72A3-E323-27BE-A01F-E4BC066730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5D2F54CD-1399-F6D5-F919-A9C09CEB33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BA8C135-EDA9-5F86-471C-1857B9B7A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760597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4B214-C3AB-6362-FEB1-E47841AFB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0C50985-A4E8-31F6-A5FA-3F3204A04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424733E-BF0C-B717-EF64-ED3E293197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5530396-3D6D-4032-122A-7859D74700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188597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07A0D-EE73-B2F6-88D6-6E6FE03A2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0629F610-687D-2052-5C38-98D74CA4CB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27BFAF8-0B94-A31E-F1EA-8A12F0143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2CD36E4-4F95-FFCF-6EAA-2176D3A14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120638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A8ED3-31E0-14AD-773C-F80AEFEEC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90687670-01F3-F2DA-A184-79580C3A5D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E35BC32C-6201-DAD7-8413-DD4ADEF8D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4499630-F854-7C99-4EF2-2F8EC5F2D0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389705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196AA-CD37-43A5-FFD6-CE1A8501A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0E0F09E0-6131-34B7-D57E-056BB88468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BA27CDA-B65F-9C1F-7C71-0636435EA0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BC55C59-9568-0A62-1A90-73301A89E0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865962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D32D9-7B1E-F629-D483-13DF2E2C5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3253E38-3DEF-3F8F-7374-C0003EB8FA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B4CFAA1-A649-6173-6F74-C7CEE220E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A5F7F7E-080D-8623-2A2B-D7622904CE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917187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7C88F-097B-8ADC-EA39-903FAEC6B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FD7CF30-9B63-C0D2-3EE5-BD631FBED3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4D40859-EF06-5FAC-23FD-648035A70D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4ABA794-0B26-7B3C-069F-F7F086474B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904386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CF92B-3291-8A53-5804-A3D8191F9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25FC8E0-2338-8DEE-3C7A-9241167124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69D8EB1B-02D6-D940-3F55-186E3D1D3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E4ED3B9-0F11-1376-B37E-CFE3D80412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27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215802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1666A-09BE-D3B3-5305-57879103C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1074536-A10B-C52F-CC47-1C3363A9E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4DF1768-12E2-8BE4-920F-7ABDCCF70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FD6D6F3-A689-51B3-7E64-9F3C8045B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28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61912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50F1F-91FF-E369-01E1-0795A5C87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ABC0C83-82F7-D5EE-3677-56667C704A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BDF7FB7-156F-7F59-7661-8EBEDC6D1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5BD2F12-58FB-66CE-BE34-744324B3E5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29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068173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A5613-D831-8908-2737-A706B1573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557D494-34EB-A3CF-D024-39958A5038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4327814-A75A-7624-46C0-0415EC580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650641D-A8A7-7889-E8FC-7C9F8FB05A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30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623615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6A48E-F794-8595-0DF8-B72DFB451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17157EF-8E4B-9F5D-4287-B9B1439811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B48DE912-ADCC-88B5-F4B7-1EA9221E5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13458B4-24FD-68E8-5A9E-6C509CE0C5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31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98203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A82E2-D001-BE47-1916-48A05A873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091C496-D742-1CD6-71ED-77F43B4C29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FEB8671-BB39-7B4B-9853-775C030DA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9572DD7-B178-43D6-6342-695B59ABA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32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57699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2C798-9314-D6EF-C8AB-97C9AF734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4F153A46-D523-BEA8-2ABC-8863AD7452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AAA5973-9717-7363-94E4-BD258349C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55D54E1-7286-F8E8-329A-5EFB344D5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33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762716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94360-0CE5-5BE1-3EFB-6CD9FF2D9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192EADB-7210-8DC6-957E-A1BC7D7D5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9A178D1-1FBC-3DB1-FE2D-4B00BCDFFC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9200D89-8B9C-9666-4986-C97FD3576B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34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9330934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BD60D-5EB7-2E17-787A-31FBC8C87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98D13EE-83DC-5644-7AE8-6D3D88D3D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A028B1C-F4AC-3FCE-930E-E506B5817B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6124AC8-6501-9E9B-6089-C99C6AD374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35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099566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6234A-27BD-4007-E108-D8C4A9E0F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7F55CA9-42AE-6B07-265B-BD914A7980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E27408E0-FFA1-1B49-6E3C-17257D049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8B9CF54-8A8E-8BCC-B860-4F39EBFD1F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36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9115998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94360-0CE5-5BE1-3EFB-6CD9FF2D9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192EADB-7210-8DC6-957E-A1BC7D7D5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9A178D1-1FBC-3DB1-FE2D-4B00BCDFFC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9200D89-8B9C-9666-4986-C97FD3576B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37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9330934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CF964-4AB2-88CD-A253-534E870D0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22342E6-805F-B15A-B1A0-B9506D7AFC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05A4FFB0-0E57-CEBF-8BB3-6028AA067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21E3D05-77C2-2804-6B2A-AFCCCFD3AC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38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0296218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B2F7E-B9B3-F875-0FBC-CF7CE531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B6290223-89B0-BB2C-B834-4C5588B3D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C074655-FE14-B927-9902-CCDBFAD5CA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5474E7B-4815-B1F4-A5BC-193EF80DF2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39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513848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71693-E0FD-73CD-89A9-0C572BC0C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4EB7D795-333D-6EC2-E803-019B992A2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E79B13D8-FAE6-3685-C8D0-A2AA16619D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D562D41-739F-C820-9B3A-30379B28A9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40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6269756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2CE28-52EE-0ECC-FEC7-9BC0551B6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18CC387-4651-A7A8-1056-F7071E2B9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483194D-7D5A-260F-4E1E-824E9E9931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33AE396-942A-376D-D09E-47F11B18D7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41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8281227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F488A-BC29-D430-E88F-309CCFB49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8BC7FA5-F038-1C41-96C4-C1A253481A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8F196FE-A898-4A8F-4334-90D512C2A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272A4C6-60AC-C9E3-095C-3F0269E79F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42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5690395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818A3-B556-7F4E-9CD5-E84A676666FD}" type="slidenum">
              <a:rPr lang="nl-NL" smtClean="0"/>
              <a:t>43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42827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EF03CA29-21D3-6A78-B138-584794F157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415246"/>
            <a:ext cx="7772400" cy="2442754"/>
          </a:xfrm>
          <a:prstGeom prst="rect">
            <a:avLst/>
          </a:prstGeom>
        </p:spPr>
      </p:pic>
      <p:sp>
        <p:nvSpPr>
          <p:cNvPr id="11" name="Rechthoek met aan één zijde afgeronde hoeken 10">
            <a:extLst>
              <a:ext uri="{FF2B5EF4-FFF2-40B4-BE49-F238E27FC236}">
                <a16:creationId xmlns:a16="http://schemas.microsoft.com/office/drawing/2014/main" id="{735C4261-F2B3-CD86-CB44-771D56D62D71}"/>
              </a:ext>
            </a:extLst>
          </p:cNvPr>
          <p:cNvSpPr/>
          <p:nvPr userDrawn="1"/>
        </p:nvSpPr>
        <p:spPr>
          <a:xfrm rot="5400000">
            <a:off x="4028283" y="-2143918"/>
            <a:ext cx="4135435" cy="10668002"/>
          </a:xfrm>
          <a:prstGeom prst="round2SameRect">
            <a:avLst/>
          </a:prstGeom>
          <a:solidFill>
            <a:srgbClr val="112F5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977C2C1-E6EB-ADE7-FBBA-AA3FD796DC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noFill/>
          <a:effectLst/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F21E6CA-5C64-188E-D8F7-D1EA1D34AF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BEA7157-93FD-B56F-523D-93E8AF35A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06-09-2026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2153330-A7F9-1858-B2A5-26E35B023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4F8C818-EDF9-A786-65B3-F6667F4BC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47636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98B75E-4815-BDF7-151D-EC7D75561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ECB2F8E-2F1B-7D84-8CF2-AEB2AB65A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/>
            </a:lvl3pPr>
            <a:lvl4pPr>
              <a:lnSpc>
                <a:spcPct val="12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D14B7B-DC15-21C7-AAF4-4CF0B6936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06-09-2026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40BE83D-B5FC-F378-8B75-FD45808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8D65748-771A-0C05-5427-C6156EFB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92805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el en object">
    <p:bg>
      <p:bgPr>
        <a:gradFill>
          <a:gsLst>
            <a:gs pos="0">
              <a:srgbClr val="797979"/>
            </a:gs>
            <a:gs pos="99000">
              <a:srgbClr val="92929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98B75E-4815-BDF7-151D-EC7D75561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ECB2F8E-2F1B-7D84-8CF2-AEB2AB65A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D14B7B-DC15-21C7-AAF4-4CF0B6936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06-09-2026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40BE83D-B5FC-F378-8B75-FD45808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8D65748-771A-0C05-5427-C6156EFB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26771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98B75E-4815-BDF7-151D-EC7D75561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ECB2F8E-2F1B-7D84-8CF2-AEB2AB65A9EE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D14B7B-DC15-21C7-AAF4-4CF0B6936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06-09-2026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40BE83D-B5FC-F378-8B75-FD45808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8D65748-771A-0C05-5427-C6156EFB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64113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20E7B81F-EE72-2973-3590-AB72C554B8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19600" y="0"/>
            <a:ext cx="7772400" cy="548856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B76DDD3-09EE-16FA-2713-C5F629422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19CD3DB-ED41-FEA0-38F4-5B63B7A45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00B05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07F73EF-A5FD-BDA6-A998-ACC53B666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06-09-2026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8AE56D5-DB11-E3B8-0B13-C6CF41601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92B66DC-DD81-4DE0-DC22-9930BFDD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6825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ekop (B)">
    <p:bg>
      <p:bgPr>
        <a:gradFill>
          <a:gsLst>
            <a:gs pos="0">
              <a:srgbClr val="4EB4D9"/>
            </a:gs>
            <a:gs pos="100000">
              <a:srgbClr val="0070C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8B3B687-B355-985E-DD82-6838066FFF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9900000">
            <a:off x="-4084305" y="-2250231"/>
            <a:ext cx="9237739" cy="603716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B76DDD3-09EE-16FA-2713-C5F629422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19CD3DB-ED41-FEA0-38F4-5B63B7A45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07F73EF-A5FD-BDA6-A998-ACC53B666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06-09-2026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8AE56D5-DB11-E3B8-0B13-C6CF41601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92B66DC-DD81-4DE0-DC22-9930BFDD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0827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ekop (B)">
    <p:bg>
      <p:bgPr>
        <a:gradFill>
          <a:gsLst>
            <a:gs pos="0">
              <a:srgbClr val="929292"/>
            </a:gs>
            <a:gs pos="100000">
              <a:srgbClr val="5E5E5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8B3B687-B355-985E-DD82-6838066FFF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9900000">
            <a:off x="-4084305" y="-2250231"/>
            <a:ext cx="9237739" cy="603716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B76DDD3-09EE-16FA-2713-C5F629422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19CD3DB-ED41-FEA0-38F4-5B63B7A45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07F73EF-A5FD-BDA6-A998-ACC53B666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06-09-2026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8AE56D5-DB11-E3B8-0B13-C6CF41601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92B66DC-DD81-4DE0-DC22-9930BFDD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29853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318D83-7C43-CB3C-F87B-DA58FB63A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983A172-72E7-F92F-23DF-F4DBF065E5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ED0A90C-386C-E11F-44A6-BB16F0F39C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3DAF539-52CB-AEE2-DFCF-CF7D55A17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06-09-2026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5F5C216-DA75-B480-7F46-E0EE8C712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C2AA76E-F837-E0E3-F8E0-FBE58343F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0516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CEA873-C638-FE9A-6EC0-176023ECD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C2CDAE0-B125-8851-5F82-A76F32902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3AA889B-43D9-C3C7-515A-49A41A669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2EF60833-82C6-9AB1-53B5-4AB3915AAD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4D74F9C6-729C-464F-ACBF-EA01E2894D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AEC7D596-F5C2-5EDF-1F42-5B053DE40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06-09-2026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F4F404FF-35FF-EF08-8BEB-5A4921AB9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B4697724-A5F0-BDA4-521B-987F158D7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1741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003CC8-3D42-8A73-9601-2C7C91A4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8316728B-34F4-EB66-EB5D-7522E0A28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06-09-2026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5777070-BA96-3E0A-1054-744834780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0F62E630-B729-46ED-34F9-F30A784C4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52461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684001D-923C-0DDF-A88F-984CDFAC9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06-09-2026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7BCA677F-0DD3-8D42-6F13-1C2A01E4F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BAB2299-25B1-D256-15D5-F6F1D212D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29526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7A335D-0EDB-5210-B2FD-2EC6D9646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D5EF8E4-83F7-001E-244F-EB99A9051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A729775-C4CE-7917-F05E-844B6E6B67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665DD01-C4DB-6F38-E4E9-2529F3908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06-09-2026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56B9C58-0DDE-E41B-3F4D-51CDE3FA7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A5CDD8C-FB75-BD16-3DDD-1F48B53C9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61343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826CB9-FA3D-213E-255A-660224656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23965FE3-4075-5837-56DC-A3D490D26C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F05CD46-3226-F3AA-D3EB-802E25012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90C7CE4-C141-F6FF-92C7-E9D5F43AC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06-09-2026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BA1D351-8174-F44A-D880-8E63FB633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832F889-7095-9421-839A-1FE09D2CD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13713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_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5AEFB99-9357-7A11-9BFD-6B7B3DF0E6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-3784272" y="506819"/>
            <a:ext cx="7772400" cy="508642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A826CB9-FA3D-213E-255A-660224656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23965FE3-4075-5837-56DC-A3D490D26C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F05CD46-3226-F3AA-D3EB-802E25012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90C7CE4-C141-F6FF-92C7-E9D5F43AC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06-09-2026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BA1D351-8174-F44A-D880-8E63FB633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832F889-7095-9421-839A-1FE09D2CD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07387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Afbeelding met bijschrift">
    <p:bg>
      <p:bgPr>
        <a:gradFill>
          <a:gsLst>
            <a:gs pos="0">
              <a:srgbClr val="00B0F0"/>
            </a:gs>
            <a:gs pos="100000">
              <a:srgbClr val="0070C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D94C15D-92AD-F2CC-24E8-31DD6D8C31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9900000">
            <a:off x="-4084305" y="-2250231"/>
            <a:ext cx="9237739" cy="603716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A826CB9-FA3D-213E-255A-660224656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23965FE3-4075-5837-56DC-A3D490D26C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F05CD46-3226-F3AA-D3EB-802E25012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90C7CE4-C141-F6FF-92C7-E9D5F43AC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06-09-2026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BA1D351-8174-F44A-D880-8E63FB633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832F889-7095-9421-839A-1FE09D2CD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44798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3B6519-C24D-0261-799B-F50F085E4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D8676437-A7F7-5E0E-E48D-4CED7806B6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61CAA22-242A-2219-B6A5-577A8A7F2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06-09-2026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14DEE3-D89E-9D9E-1616-61EB7C903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8168FC5-5F5A-E918-7E1D-7E6691DB2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450251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FA9CDCF0-4E02-E360-4DE7-00156A4851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2996E86-68E8-7710-5523-AD872CA0B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14C4A21-7FFF-F9D0-6C84-6F6806B16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6A95-3FD8-9C48-85AA-6FECB852C84D}" type="datetimeFigureOut">
              <a:rPr lang="nl-NL" smtClean="0"/>
              <a:t>06-09-2026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0372C6A-F4BF-E723-D6C4-93F39FC60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9A33B9F-2685-02DB-B489-1790710A3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394B-DFA9-E249-8215-E97519F84A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79496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B713"/>
            </a:gs>
            <a:gs pos="100000">
              <a:srgbClr val="F9E21E">
                <a:lumMod val="76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DFEDBA43-8105-B9D5-86B6-E60FCF5EB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9BB207C-7B05-FE8D-7ECE-DCECAAD34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7D19AB3-BFE3-A76C-5E79-ABDA37957C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bg1"/>
                </a:solidFill>
                <a:latin typeface="Fira Sans" panose="020B0503050000020004" pitchFamily="34" charset="0"/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7FF563C-DB79-DBBE-F121-3AD0868B7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bg1"/>
                </a:solidFill>
                <a:latin typeface="Fira Mono" panose="020B0509050000020004" pitchFamily="49" charset="0"/>
              </a:defRPr>
            </a:lvl1pPr>
          </a:lstStyle>
          <a:p>
            <a:fld id="{DF02394B-DFA9-E249-8215-E97519F84AE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B518921-F1F4-F86B-B2F9-60C04B1EC3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bg1"/>
                </a:solidFill>
                <a:latin typeface="Fira Mono" panose="020B0509050000020004" pitchFamily="49" charset="0"/>
              </a:defRPr>
            </a:lvl1pPr>
          </a:lstStyle>
          <a:p>
            <a:fld id="{143A6A95-3FD8-9C48-85AA-6FECB852C84D}" type="datetimeFigureOut">
              <a:rPr lang="nl-NL" smtClean="0"/>
              <a:pPr/>
              <a:t>06-09-2026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20687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7" r:id="rId3"/>
    <p:sldLayoutId id="2147483673" r:id="rId4"/>
    <p:sldLayoutId id="2147483663" r:id="rId5"/>
    <p:sldLayoutId id="2147483672" r:id="rId6"/>
    <p:sldLayoutId id="2147483676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5" r:id="rId14"/>
    <p:sldLayoutId id="2147483674" r:id="rId15"/>
    <p:sldLayoutId id="2147483670" r:id="rId16"/>
    <p:sldLayoutId id="214748367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baseline="0">
          <a:solidFill>
            <a:schemeClr val="tx1"/>
          </a:solidFill>
          <a:latin typeface="Fira Sans SemiBold" panose="020B05030500000200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600"/>
        </a:spcBef>
        <a:buFont typeface="Arial" panose="020B0604020202020204" pitchFamily="34" charset="0"/>
        <a:buChar char="•"/>
        <a:defRPr sz="2200" kern="1200" baseline="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1100"/>
        </a:spcBef>
        <a:buFont typeface="Arial" panose="020B0604020202020204" pitchFamily="34" charset="0"/>
        <a:buChar char="•"/>
        <a:defRPr sz="2200" kern="1200" baseline="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11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11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11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7.sv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25.png"/><Relationship Id="rId4" Type="http://schemas.openxmlformats.org/officeDocument/2006/relationships/customXml" Target="../ink/ink1.xml"/><Relationship Id="rId9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4.svg"/><Relationship Id="rId9" Type="http://schemas.openxmlformats.org/officeDocument/2006/relationships/image" Target="../media/image33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14.sv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svg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hyperlink" Target="mailto:marc.deboer@ictu.nl" TargetMode="External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5.xml"/><Relationship Id="rId6" Type="http://schemas.openxmlformats.org/officeDocument/2006/relationships/hyperlink" Target="https://digilab.overheid.nl/chat/digilab/channels/federatieve-toegangsverlening" TargetMode="External"/><Relationship Id="rId11" Type="http://schemas.openxmlformats.org/officeDocument/2006/relationships/image" Target="../media/image44.svg"/><Relationship Id="rId5" Type="http://schemas.openxmlformats.org/officeDocument/2006/relationships/hyperlink" Target="https://gitlab.com/digilab.overheid.nl/ecosystem/ftv/open-ftv" TargetMode="External"/><Relationship Id="rId10" Type="http://schemas.openxmlformats.org/officeDocument/2006/relationships/image" Target="../media/image43.svg"/><Relationship Id="rId4" Type="http://schemas.openxmlformats.org/officeDocument/2006/relationships/hyperlink" Target="https://vng-realisatie.github.io/ftv/" TargetMode="External"/><Relationship Id="rId9" Type="http://schemas.openxmlformats.org/officeDocument/2006/relationships/image" Target="../media/image4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nl-NL" noProof="0" dirty="0">
                <a:latin typeface="Fira Sans SemiBold"/>
              </a:rPr>
              <a:t>Federatieve toegangsverlening</a:t>
            </a:r>
            <a:endParaRPr lang="nl-NL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183544"/>
          </a:xfrm>
        </p:spPr>
        <p:txBody>
          <a:bodyPr/>
          <a:lstStyle/>
          <a:p>
            <a:pPr algn="l"/>
            <a:r>
              <a:rPr lang="nl-NL" noProof="0" dirty="0"/>
              <a:t>Michiel Trimpe – Architect</a:t>
            </a:r>
          </a:p>
          <a:p>
            <a:pPr algn="l"/>
            <a:r>
              <a:rPr lang="nl-NL" noProof="0" dirty="0"/>
              <a:t>Marc de Boer – Product </a:t>
            </a:r>
            <a:r>
              <a:rPr lang="nl-NL" noProof="0" dirty="0" err="1"/>
              <a:t>owner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34AC6-7370-4F93-1185-3B082A14F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CE77A96-E73A-E512-013D-27D42A227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>
                <a:latin typeface="Fira Sans SemiBold"/>
              </a:rPr>
              <a:t>Probleemstelling</a:t>
            </a:r>
            <a:endParaRPr lang="nl-NL" noProof="0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07E536F5-C007-5981-8E6F-0DEC29F5D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5106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029F8-EBB4-262F-E7C0-10A9A6442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E6C58-228E-BA33-AC6E-D4E0A9912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NL" noProof="0" dirty="0">
                <a:latin typeface="Fira Sans SemiBold"/>
              </a:rPr>
              <a:t>Wat is toegangsverlening?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7F025-B49B-EF31-3B36-2C551BA75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441682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>
              <a:buNone/>
            </a:pPr>
            <a:r>
              <a:rPr lang="nl-NL" sz="3600" noProof="0" dirty="0">
                <a:latin typeface="Fira Sans"/>
              </a:rPr>
              <a:t>Een verzoek tot toegang toestaan of afwijzen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518AEBED-EA16-5F26-F1D3-474B50CB96A7}"/>
              </a:ext>
            </a:extLst>
          </p:cNvPr>
          <p:cNvSpPr txBox="1"/>
          <p:nvPr/>
        </p:nvSpPr>
        <p:spPr>
          <a:xfrm>
            <a:off x="9121698" y="45943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 noProof="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790D25-C0B2-48EC-7B84-1B5C69951E9C}"/>
              </a:ext>
            </a:extLst>
          </p:cNvPr>
          <p:cNvSpPr txBox="1">
            <a:spLocks/>
          </p:cNvSpPr>
          <p:nvPr/>
        </p:nvSpPr>
        <p:spPr>
          <a:xfrm>
            <a:off x="1035398" y="5363736"/>
            <a:ext cx="10515600" cy="130204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nl-NL" sz="2400" noProof="0" dirty="0">
                <a:latin typeface="Fira Sans"/>
              </a:rPr>
              <a:t>Autorisatie </a:t>
            </a:r>
            <a:r>
              <a:rPr lang="nl-NL" sz="2400" dirty="0">
                <a:latin typeface="Fira Sans"/>
              </a:rPr>
              <a:t>komt bovenop </a:t>
            </a:r>
            <a:r>
              <a:rPr lang="nl-NL" sz="2400" noProof="0" dirty="0">
                <a:latin typeface="Fira Sans"/>
              </a:rPr>
              <a:t>identificatie en authenticatie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29150887-6D0C-53B0-4A9A-E14CC4944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6882" y="3034650"/>
            <a:ext cx="4696522" cy="198659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392B148-5162-65BA-AB2C-3E5B0D39ED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16570" y="3034650"/>
            <a:ext cx="5358860" cy="2611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077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87BE1-80F3-7A7F-D0FE-4CA8568DF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0E6DF-4240-4DBF-072F-F2871ED81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Fira Sans SemiBold"/>
              </a:rPr>
              <a:t>Access Control Lists</a:t>
            </a:r>
            <a:endParaRPr lang="en-US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1388106-E274-C8F0-AF12-9A79D2F64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05684"/>
            <a:ext cx="5397500" cy="3663266"/>
          </a:xfrm>
        </p:spPr>
        <p:txBody>
          <a:bodyPr anchor="t">
            <a:normAutofit/>
          </a:bodyPr>
          <a:lstStyle/>
          <a:p>
            <a:r>
              <a:rPr lang="en-US" sz="2400" dirty="0" err="1">
                <a:latin typeface="Fira Sans"/>
                <a:ea typeface="+mn-lt"/>
                <a:cs typeface="+mn-lt"/>
              </a:rPr>
              <a:t>Eén</a:t>
            </a:r>
            <a:r>
              <a:rPr lang="en-US" sz="2400" dirty="0">
                <a:latin typeface="Fira Sans"/>
                <a:ea typeface="+mn-lt"/>
                <a:cs typeface="+mn-lt"/>
              </a:rPr>
              <a:t> bit per </a:t>
            </a:r>
            <a:r>
              <a:rPr lang="en-US" sz="2400" dirty="0" err="1">
                <a:latin typeface="Fira Sans"/>
                <a:ea typeface="+mn-lt"/>
                <a:cs typeface="+mn-lt"/>
              </a:rPr>
              <a:t>actie</a:t>
            </a:r>
            <a:r>
              <a:rPr lang="en-US" sz="2400" dirty="0">
                <a:latin typeface="Fira Sans"/>
                <a:ea typeface="+mn-lt"/>
                <a:cs typeface="+mn-lt"/>
              </a:rPr>
              <a:t>-</a:t>
            </a:r>
            <a:r>
              <a:rPr lang="en-US" sz="2400" dirty="0" err="1">
                <a:latin typeface="Fira Sans"/>
                <a:ea typeface="+mn-lt"/>
                <a:cs typeface="+mn-lt"/>
              </a:rPr>
              <a:t>rol</a:t>
            </a:r>
            <a:r>
              <a:rPr lang="en-US" sz="2400" dirty="0">
                <a:latin typeface="Fira Sans"/>
                <a:ea typeface="+mn-lt"/>
                <a:cs typeface="+mn-lt"/>
              </a:rPr>
              <a:t>-resource-</a:t>
            </a:r>
            <a:r>
              <a:rPr lang="en-US" sz="2400" dirty="0" err="1">
                <a:latin typeface="Fira Sans"/>
                <a:ea typeface="+mn-lt"/>
                <a:cs typeface="+mn-lt"/>
              </a:rPr>
              <a:t>combinatie</a:t>
            </a:r>
            <a:endParaRPr lang="en-US" sz="2400" dirty="0">
              <a:latin typeface="Aptos"/>
            </a:endParaRPr>
          </a:p>
          <a:p>
            <a:r>
              <a:rPr lang="en-US" sz="2400" dirty="0">
                <a:latin typeface="Fira Sans"/>
                <a:ea typeface="+mn-lt"/>
                <a:cs typeface="+mn-lt"/>
              </a:rPr>
              <a:t>Hoge </a:t>
            </a:r>
            <a:r>
              <a:rPr lang="en-US" sz="2400" dirty="0" err="1">
                <a:latin typeface="Fira Sans"/>
                <a:ea typeface="+mn-lt"/>
                <a:cs typeface="+mn-lt"/>
              </a:rPr>
              <a:t>granulariteit</a:t>
            </a:r>
            <a:r>
              <a:rPr lang="en-US" sz="2400" dirty="0">
                <a:latin typeface="Fira Sans"/>
                <a:ea typeface="+mn-lt"/>
                <a:cs typeface="+mn-lt"/>
              </a:rPr>
              <a:t> </a:t>
            </a:r>
            <a:r>
              <a:rPr lang="en-US" sz="2400" dirty="0" err="1">
                <a:latin typeface="Fira Sans"/>
                <a:ea typeface="+mn-lt"/>
                <a:cs typeface="+mn-lt"/>
              </a:rPr>
              <a:t>vereist</a:t>
            </a:r>
            <a:r>
              <a:rPr lang="en-US" sz="2400" dirty="0">
                <a:latin typeface="Fira Sans"/>
                <a:ea typeface="+mn-lt"/>
                <a:cs typeface="+mn-lt"/>
              </a:rPr>
              <a:t> </a:t>
            </a:r>
            <a:r>
              <a:rPr lang="en-US" sz="2400" dirty="0" err="1">
                <a:latin typeface="Fira Sans"/>
                <a:ea typeface="+mn-lt"/>
                <a:cs typeface="+mn-lt"/>
              </a:rPr>
              <a:t>veel</a:t>
            </a:r>
            <a:r>
              <a:rPr lang="en-US" sz="2400" dirty="0">
                <a:latin typeface="Fira Sans"/>
                <a:ea typeface="+mn-lt"/>
                <a:cs typeface="+mn-lt"/>
              </a:rPr>
              <a:t> data</a:t>
            </a:r>
          </a:p>
          <a:p>
            <a:r>
              <a:rPr lang="en-US" sz="2400" dirty="0">
                <a:latin typeface="Fira Sans"/>
                <a:ea typeface="+mn-lt"/>
                <a:cs typeface="+mn-lt"/>
              </a:rPr>
              <a:t>Veel data </a:t>
            </a:r>
            <a:r>
              <a:rPr lang="en-US" sz="2400" dirty="0" err="1">
                <a:latin typeface="Fira Sans"/>
                <a:ea typeface="+mn-lt"/>
                <a:cs typeface="+mn-lt"/>
              </a:rPr>
              <a:t>wordt</a:t>
            </a:r>
            <a:r>
              <a:rPr lang="en-US" sz="2400" dirty="0">
                <a:latin typeface="Fira Sans"/>
                <a:ea typeface="+mn-lt"/>
                <a:cs typeface="+mn-lt"/>
              </a:rPr>
              <a:t> </a:t>
            </a:r>
            <a:r>
              <a:rPr lang="en-US" sz="2400" dirty="0" err="1">
                <a:latin typeface="Fira Sans"/>
                <a:ea typeface="+mn-lt"/>
                <a:cs typeface="+mn-lt"/>
              </a:rPr>
              <a:t>gedupliceerd</a:t>
            </a:r>
            <a:endParaRPr lang="en-US" sz="2400" dirty="0">
              <a:latin typeface="Fira Sans"/>
              <a:ea typeface="+mn-lt"/>
              <a:cs typeface="+mn-lt"/>
            </a:endParaRPr>
          </a:p>
          <a:p>
            <a:r>
              <a:rPr lang="en-US" sz="2400" dirty="0" err="1">
                <a:latin typeface="Fira Sans"/>
                <a:ea typeface="+mn-lt"/>
                <a:cs typeface="+mn-lt"/>
              </a:rPr>
              <a:t>Moeilijk</a:t>
            </a:r>
            <a:r>
              <a:rPr lang="en-US" sz="2400" dirty="0">
                <a:latin typeface="Fira Sans"/>
                <a:ea typeface="+mn-lt"/>
                <a:cs typeface="+mn-lt"/>
              </a:rPr>
              <a:t> </a:t>
            </a:r>
            <a:r>
              <a:rPr lang="en-US" sz="2400" dirty="0" err="1">
                <a:latin typeface="Fira Sans"/>
                <a:ea typeface="+mn-lt"/>
                <a:cs typeface="+mn-lt"/>
              </a:rPr>
              <a:t>te</a:t>
            </a:r>
            <a:r>
              <a:rPr lang="en-US" sz="2400" dirty="0">
                <a:latin typeface="Fira Sans"/>
                <a:ea typeface="+mn-lt"/>
                <a:cs typeface="+mn-lt"/>
              </a:rPr>
              <a:t> </a:t>
            </a:r>
            <a:r>
              <a:rPr lang="en-US" sz="2400" dirty="0" err="1">
                <a:latin typeface="Fira Sans"/>
                <a:ea typeface="+mn-lt"/>
                <a:cs typeface="+mn-lt"/>
              </a:rPr>
              <a:t>beheren</a:t>
            </a:r>
            <a:endParaRPr lang="en-US" sz="2400" dirty="0">
              <a:latin typeface="Apto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D9A4A18-8A95-1D9A-F2EA-53426295BB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2768" y="1187792"/>
            <a:ext cx="5057084" cy="448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684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6EB43-8920-6971-13F4-FF439483E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62132-0F74-DD82-8FE9-F4EDE4676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noProof="0" dirty="0" err="1">
                <a:latin typeface="Fira Sans SemiBold"/>
              </a:rPr>
              <a:t>Role</a:t>
            </a:r>
            <a:r>
              <a:rPr lang="nl-NL" noProof="0" dirty="0">
                <a:latin typeface="Fira Sans SemiBold"/>
              </a:rPr>
              <a:t> </a:t>
            </a:r>
            <a:r>
              <a:rPr lang="nl-NL" noProof="0" dirty="0" err="1">
                <a:latin typeface="Fira Sans SemiBold"/>
              </a:rPr>
              <a:t>Based</a:t>
            </a:r>
            <a:r>
              <a:rPr lang="nl-NL" noProof="0" dirty="0">
                <a:latin typeface="Fira Sans SemiBold"/>
              </a:rPr>
              <a:t> Access Control (RBAC)</a:t>
            </a:r>
            <a:endParaRPr lang="nl-NL" noProof="0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2428224-6FC3-2862-0DE9-DE7DFB263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05684"/>
            <a:ext cx="5509590" cy="4482416"/>
          </a:xfrm>
        </p:spPr>
        <p:txBody>
          <a:bodyPr anchor="t">
            <a:normAutofit/>
          </a:bodyPr>
          <a:lstStyle/>
          <a:p>
            <a:r>
              <a:rPr lang="nl-NL" sz="2400" noProof="0" dirty="0">
                <a:latin typeface="Fira Sans"/>
                <a:ea typeface="+mn-lt"/>
                <a:cs typeface="+mn-lt"/>
              </a:rPr>
              <a:t>Geïntroduceerd in 1992</a:t>
            </a:r>
          </a:p>
          <a:p>
            <a:r>
              <a:rPr lang="nl-NL" sz="2400" noProof="0" dirty="0">
                <a:latin typeface="Fira Sans"/>
                <a:ea typeface="+mn-lt"/>
                <a:cs typeface="+mn-lt"/>
              </a:rPr>
              <a:t>Geneste rollen met transitieve relaties</a:t>
            </a:r>
          </a:p>
          <a:p>
            <a:r>
              <a:rPr lang="nl-NL" sz="2400" noProof="0" dirty="0">
                <a:latin typeface="Fira Sans"/>
                <a:ea typeface="+mn-lt"/>
                <a:cs typeface="+mn-lt"/>
              </a:rPr>
              <a:t>Makkelijk te begrijpen en beheren</a:t>
            </a:r>
          </a:p>
          <a:p>
            <a:r>
              <a:rPr lang="nl-NL" sz="2400" noProof="0" dirty="0">
                <a:latin typeface="Fira Sans"/>
                <a:ea typeface="+mn-lt"/>
                <a:cs typeface="+mn-lt"/>
              </a:rPr>
              <a:t>Reflecteert organisatie structuren</a:t>
            </a:r>
            <a:endParaRPr lang="nl-NL" sz="2400" noProof="0" dirty="0">
              <a:latin typeface="Apto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C90029-EE37-E97C-4F04-367BADD41C8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49081" y="1513810"/>
            <a:ext cx="4289448" cy="46151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E3B8B3-6C19-17C2-EF92-3534DCF152AE}"/>
              </a:ext>
            </a:extLst>
          </p:cNvPr>
          <p:cNvSpPr txBox="1"/>
          <p:nvPr/>
        </p:nvSpPr>
        <p:spPr>
          <a:xfrm>
            <a:off x="5857103" y="6343948"/>
            <a:ext cx="5711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noProof="0" dirty="0" err="1"/>
              <a:t>Role-Based</a:t>
            </a:r>
            <a:r>
              <a:rPr lang="nl-NL" noProof="0" dirty="0"/>
              <a:t> Access Controls - </a:t>
            </a:r>
            <a:r>
              <a:rPr lang="nl-NL" noProof="0" dirty="0" err="1"/>
              <a:t>Ferraiolo</a:t>
            </a:r>
            <a:r>
              <a:rPr lang="nl-NL" noProof="0" dirty="0"/>
              <a:t> </a:t>
            </a:r>
            <a:r>
              <a:rPr lang="nl-NL" noProof="0" dirty="0" err="1"/>
              <a:t>and</a:t>
            </a:r>
            <a:r>
              <a:rPr lang="nl-NL" noProof="0" dirty="0"/>
              <a:t> Kuhn - 1992</a:t>
            </a:r>
          </a:p>
        </p:txBody>
      </p:sp>
    </p:spTree>
    <p:extLst>
      <p:ext uri="{BB962C8B-B14F-4D97-AF65-F5344CB8AC3E}">
        <p14:creationId xmlns:p14="http://schemas.microsoft.com/office/powerpoint/2010/main" val="979168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087C5-D502-7ED3-55C7-B67D9E8E8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94973-0D98-8332-0136-2C938E0E2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noProof="0" dirty="0" err="1">
                <a:latin typeface="Fira Sans SemiBold"/>
              </a:rPr>
              <a:t>Role</a:t>
            </a:r>
            <a:r>
              <a:rPr lang="nl-NL" noProof="0" dirty="0">
                <a:latin typeface="Fira Sans SemiBold"/>
              </a:rPr>
              <a:t> </a:t>
            </a:r>
            <a:r>
              <a:rPr lang="nl-NL" noProof="0" dirty="0" err="1">
                <a:latin typeface="Fira Sans SemiBold"/>
              </a:rPr>
              <a:t>Based</a:t>
            </a:r>
            <a:r>
              <a:rPr lang="nl-NL" noProof="0" dirty="0">
                <a:latin typeface="Fira Sans SemiBold"/>
              </a:rPr>
              <a:t> Access Control (RBAC)</a:t>
            </a:r>
            <a:endParaRPr lang="nl-NL" noProof="0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0A22F48-D0DB-2424-3E37-E9A50A3E5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05684"/>
            <a:ext cx="5397500" cy="4482416"/>
          </a:xfrm>
        </p:spPr>
        <p:txBody>
          <a:bodyPr anchor="t">
            <a:normAutofit/>
          </a:bodyPr>
          <a:lstStyle/>
          <a:p>
            <a:r>
              <a:rPr lang="nl-NL" sz="2400" noProof="0" dirty="0">
                <a:latin typeface="Fira Sans"/>
                <a:ea typeface="+mn-lt"/>
                <a:cs typeface="+mn-lt"/>
              </a:rPr>
              <a:t>Fijnmazige autorisatie leidt tot </a:t>
            </a:r>
            <a:r>
              <a:rPr lang="nl-NL" sz="2400" noProof="0" dirty="0" err="1">
                <a:latin typeface="Fira Sans"/>
                <a:ea typeface="+mn-lt"/>
                <a:cs typeface="+mn-lt"/>
              </a:rPr>
              <a:t>role-explosion</a:t>
            </a:r>
            <a:endParaRPr lang="nl-NL" sz="2400" noProof="0" dirty="0">
              <a:latin typeface="Fira Sans"/>
              <a:ea typeface="+mn-lt"/>
              <a:cs typeface="+mn-lt"/>
            </a:endParaRPr>
          </a:p>
          <a:p>
            <a:r>
              <a:rPr lang="nl-NL" sz="2400" noProof="0" dirty="0">
                <a:latin typeface="Fira Sans"/>
                <a:ea typeface="+mn-lt"/>
                <a:cs typeface="+mn-lt"/>
              </a:rPr>
              <a:t>Toegangsbeleid wordt dus in applicaties ingebouwd</a:t>
            </a:r>
          </a:p>
          <a:p>
            <a:r>
              <a:rPr lang="nl-NL" sz="2400" noProof="0" dirty="0">
                <a:latin typeface="Fira Sans"/>
                <a:ea typeface="+mn-lt"/>
                <a:cs typeface="+mn-lt"/>
              </a:rPr>
              <a:t>Elke applicatie doet het op een andere manier</a:t>
            </a:r>
          </a:p>
          <a:p>
            <a:r>
              <a:rPr lang="nl-NL" sz="2400" noProof="0" dirty="0">
                <a:latin typeface="Fira Sans"/>
                <a:ea typeface="+mn-lt"/>
                <a:cs typeface="+mn-lt"/>
              </a:rPr>
              <a:t>Foutgevoelig en onbeheersbaar op schaal</a:t>
            </a:r>
          </a:p>
          <a:p>
            <a:pPr marL="0" indent="0">
              <a:buNone/>
            </a:pPr>
            <a:endParaRPr lang="nl-NL" sz="2400" noProof="0" dirty="0">
              <a:latin typeface="Apto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E64764D-6E1F-9DBA-1A3F-E61EBDF1E1B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49081" y="1513810"/>
            <a:ext cx="4289448" cy="4615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702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149E4-24A3-5DA4-4C3D-05F268654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73315-F31C-22D8-90C0-21ABBC7B6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>
                <a:latin typeface="Fira Sans SemiBold"/>
              </a:rPr>
              <a:t>Het probleem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97D30-CED8-84A5-15C1-DF2D090F0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93821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nl-NL" sz="2400" noProof="0" dirty="0">
                <a:latin typeface="Fira Sans"/>
              </a:rPr>
              <a:t>Elke applicatie doet autorisatie anders</a:t>
            </a:r>
          </a:p>
          <a:p>
            <a:r>
              <a:rPr lang="nl-NL" sz="2400" noProof="0" dirty="0">
                <a:latin typeface="Fira Sans"/>
              </a:rPr>
              <a:t>Traditionele rollen-rechten oplossingen zijn onvoldoende</a:t>
            </a:r>
          </a:p>
          <a:p>
            <a:endParaRPr lang="nl-NL" sz="2400" noProof="0" dirty="0">
              <a:latin typeface="Fira Sans"/>
            </a:endParaRPr>
          </a:p>
          <a:p>
            <a:pPr marL="0" indent="0">
              <a:buNone/>
            </a:pPr>
            <a:r>
              <a:rPr lang="nl-NL" sz="2400" b="1" dirty="0">
                <a:latin typeface="Fira Sans"/>
              </a:rPr>
              <a:t>Gevolgen</a:t>
            </a:r>
            <a:r>
              <a:rPr lang="nl-NL" sz="2400" dirty="0">
                <a:latin typeface="Fira Sans"/>
              </a:rPr>
              <a:t>:</a:t>
            </a:r>
          </a:p>
          <a:p>
            <a:r>
              <a:rPr lang="nl-NL" sz="2400" dirty="0">
                <a:latin typeface="Fira Sans"/>
              </a:rPr>
              <a:t>Meer ontwikkelkosten, grote beheerslast en beperkt inzicht</a:t>
            </a:r>
          </a:p>
          <a:p>
            <a:r>
              <a:rPr lang="nl-NL" sz="2400" noProof="0" dirty="0">
                <a:latin typeface="Fira Sans"/>
              </a:rPr>
              <a:t>En vooral: beveiligingsrisico’s</a:t>
            </a:r>
          </a:p>
          <a:p>
            <a:r>
              <a:rPr lang="nl-NL" sz="2400" dirty="0">
                <a:latin typeface="Fira Sans"/>
              </a:rPr>
              <a:t>Bij schaalvergroting (e.g. FDS) wordt dit probleem exponentieel groter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3A3EE01C-1A17-799B-A3C0-D7D572A123CB}"/>
              </a:ext>
            </a:extLst>
          </p:cNvPr>
          <p:cNvSpPr txBox="1"/>
          <p:nvPr/>
        </p:nvSpPr>
        <p:spPr>
          <a:xfrm>
            <a:off x="9121698" y="45943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3708668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6734B-A0F7-66CB-765B-4A8B45B3F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8E384-72B9-9F76-490E-38A81CBC8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latin typeface="Fira Sans SemiBold"/>
              </a:rPr>
              <a:t>Doelstellingen FTV</a:t>
            </a:r>
            <a:endParaRPr lang="nl-NL" noProof="0" dirty="0">
              <a:latin typeface="Fira Sa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F027B-0ECE-A8AD-E07D-822FEBA53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557"/>
            <a:ext cx="10515600" cy="1603375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nl-NL" sz="3600" noProof="0" dirty="0">
                <a:latin typeface="Fira Sans"/>
              </a:rPr>
              <a:t>1. Flexibiliteit</a:t>
            </a:r>
            <a:endParaRPr lang="nl-NL" sz="2400" noProof="0" dirty="0">
              <a:latin typeface="Fira Sans"/>
            </a:endParaRP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0C45EC15-2911-A6FA-AFB8-EE294556AE4F}"/>
              </a:ext>
            </a:extLst>
          </p:cNvPr>
          <p:cNvSpPr txBox="1"/>
          <p:nvPr/>
        </p:nvSpPr>
        <p:spPr>
          <a:xfrm>
            <a:off x="9121698" y="45943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 noProof="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6219A5-B804-7D24-BCFB-E6DC547BCD70}"/>
              </a:ext>
            </a:extLst>
          </p:cNvPr>
          <p:cNvSpPr txBox="1">
            <a:spLocks/>
          </p:cNvSpPr>
          <p:nvPr/>
        </p:nvSpPr>
        <p:spPr>
          <a:xfrm>
            <a:off x="838200" y="2734113"/>
            <a:ext cx="10515600" cy="160337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3600" dirty="0">
                <a:latin typeface="Fira Sans"/>
              </a:rPr>
              <a:t>2. Schaalbaarheid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BFCCA7E-9E5A-5DED-A6D9-24D3535B0E75}"/>
              </a:ext>
            </a:extLst>
          </p:cNvPr>
          <p:cNvSpPr txBox="1">
            <a:spLocks/>
          </p:cNvSpPr>
          <p:nvPr/>
        </p:nvSpPr>
        <p:spPr>
          <a:xfrm>
            <a:off x="838200" y="3664208"/>
            <a:ext cx="10515600" cy="160337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3600" dirty="0">
                <a:latin typeface="Fira Sans"/>
              </a:rPr>
              <a:t>3. Traceerbaarheid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02533D2-1D4B-68E7-B1E7-08D5C492145D}"/>
              </a:ext>
            </a:extLst>
          </p:cNvPr>
          <p:cNvSpPr txBox="1">
            <a:spLocks/>
          </p:cNvSpPr>
          <p:nvPr/>
        </p:nvSpPr>
        <p:spPr>
          <a:xfrm>
            <a:off x="838200" y="4617870"/>
            <a:ext cx="10515600" cy="160337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3600" dirty="0">
                <a:latin typeface="Fira Sans"/>
              </a:rPr>
              <a:t>4. Leveranciersonafhankelijkheid</a:t>
            </a:r>
          </a:p>
        </p:txBody>
      </p:sp>
    </p:spTree>
    <p:extLst>
      <p:ext uri="{BB962C8B-B14F-4D97-AF65-F5344CB8AC3E}">
        <p14:creationId xmlns:p14="http://schemas.microsoft.com/office/powerpoint/2010/main" val="3953644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47D4C-ED90-FF87-35B3-B855D8EFA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vak 3">
            <a:extLst>
              <a:ext uri="{FF2B5EF4-FFF2-40B4-BE49-F238E27FC236}">
                <a16:creationId xmlns:a16="http://schemas.microsoft.com/office/drawing/2014/main" id="{C6A42F06-AC00-2A81-0E9A-C28505AB3514}"/>
              </a:ext>
            </a:extLst>
          </p:cNvPr>
          <p:cNvSpPr txBox="1"/>
          <p:nvPr/>
        </p:nvSpPr>
        <p:spPr>
          <a:xfrm>
            <a:off x="9121698" y="45943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 noProof="0" dirty="0"/>
          </a:p>
        </p:txBody>
      </p:sp>
      <p:pic>
        <p:nvPicPr>
          <p:cNvPr id="1026" name="Picture 2" descr="Stakeholderkaart">
            <a:extLst>
              <a:ext uri="{FF2B5EF4-FFF2-40B4-BE49-F238E27FC236}">
                <a16:creationId xmlns:a16="http://schemas.microsoft.com/office/drawing/2014/main" id="{C14851C6-FB67-FF0F-20AC-FBA2FD907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792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8C0CA-9C23-2D6D-E4E3-1AF9F9361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4D5AAA5-7C17-7261-37C4-27E181B0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De methodiek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6E147C4-6112-8BFF-D40E-DA22B3FDC4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 dirty="0" err="1">
                <a:latin typeface="Fira Sans SemiBold"/>
              </a:rPr>
              <a:t>Externalized</a:t>
            </a:r>
            <a:r>
              <a:rPr lang="nl-NL" dirty="0">
                <a:latin typeface="Fira Sans SemiBold"/>
              </a:rPr>
              <a:t> </a:t>
            </a:r>
            <a:r>
              <a:rPr lang="nl-NL" dirty="0" err="1">
                <a:latin typeface="Fira Sans SemiBold"/>
              </a:rPr>
              <a:t>Authorization</a:t>
            </a:r>
            <a:r>
              <a:rPr lang="nl-NL" dirty="0">
                <a:latin typeface="Fira Sans SemiBold"/>
              </a:rPr>
              <a:t> Management (EAM)</a:t>
            </a:r>
            <a:endParaRPr lang="nl-NL" noProof="0" dirty="0">
              <a:latin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3693042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D8286-7E8A-0AA6-3392-C4143F621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18322-AE1E-CA96-2CB9-AAF044F36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 err="1">
                <a:latin typeface="Fira Sans SemiBold"/>
              </a:rPr>
              <a:t>Externalized</a:t>
            </a:r>
            <a:r>
              <a:rPr lang="nl-NL" dirty="0">
                <a:latin typeface="Fira Sans SemiBold"/>
              </a:rPr>
              <a:t> Access Management (EAM)</a:t>
            </a:r>
            <a:endParaRPr lang="nl-NL" noProof="0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FDFF9F69-6EAB-EE48-58CE-FCF9D89FA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85937"/>
            <a:ext cx="4028223" cy="4110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2573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0D0AB-219D-B8C4-DD61-E74A88044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702E6-5986-350D-6F54-419AC42F8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 err="1">
                <a:latin typeface="Fira Sans SemiBold"/>
              </a:rPr>
              <a:t>Externalized</a:t>
            </a:r>
            <a:r>
              <a:rPr lang="nl-NL" dirty="0">
                <a:latin typeface="Fira Sans SemiBold"/>
              </a:rPr>
              <a:t> Access Management (EAM)</a:t>
            </a:r>
            <a:endParaRPr lang="nl-NL" noProof="0" dirty="0"/>
          </a:p>
        </p:txBody>
      </p:sp>
      <p:sp>
        <p:nvSpPr>
          <p:cNvPr id="9" name="Tijdelijke aanduiding voor inhoud 3">
            <a:extLst>
              <a:ext uri="{FF2B5EF4-FFF2-40B4-BE49-F238E27FC236}">
                <a16:creationId xmlns:a16="http://schemas.microsoft.com/office/drawing/2014/main" id="{2E5EFE53-5C24-9FF3-DF65-25ED1C1CAB30}"/>
              </a:ext>
            </a:extLst>
          </p:cNvPr>
          <p:cNvSpPr txBox="1">
            <a:spLocks/>
          </p:cNvSpPr>
          <p:nvPr/>
        </p:nvSpPr>
        <p:spPr>
          <a:xfrm>
            <a:off x="838201" y="1905684"/>
            <a:ext cx="5397500" cy="44824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400" noProof="0" dirty="0">
                <a:latin typeface="Fira Sans"/>
                <a:ea typeface="+mn-lt"/>
                <a:cs typeface="+mn-lt"/>
              </a:rPr>
              <a:t>Beleid (</a:t>
            </a:r>
            <a:r>
              <a:rPr lang="nl-NL" sz="2400" noProof="0" dirty="0" err="1">
                <a:latin typeface="Fira Sans"/>
                <a:ea typeface="+mn-lt"/>
                <a:cs typeface="+mn-lt"/>
              </a:rPr>
              <a:t>policies</a:t>
            </a:r>
            <a:r>
              <a:rPr lang="nl-NL" sz="2400" noProof="0" dirty="0">
                <a:latin typeface="Fira Sans"/>
                <a:ea typeface="+mn-lt"/>
                <a:cs typeface="+mn-lt"/>
              </a:rPr>
              <a:t>) expliciet maken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1AF004-216B-ED0E-3667-19707D157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60863"/>
            <a:ext cx="4077368" cy="4160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4041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81620-8130-523B-A173-5D9F0A0E5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6BEFC-34EC-620B-7AD0-1D26DBFCC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noProof="0" dirty="0" err="1">
                <a:latin typeface="Fira Sans SemiBold"/>
              </a:rPr>
              <a:t>Externalized</a:t>
            </a:r>
            <a:r>
              <a:rPr lang="nl-NL" noProof="0" dirty="0">
                <a:latin typeface="Fira Sans SemiBold"/>
              </a:rPr>
              <a:t> Access Management (EAM)</a:t>
            </a:r>
            <a:endParaRPr lang="nl-NL" noProof="0" dirty="0"/>
          </a:p>
        </p:txBody>
      </p:sp>
      <p:sp>
        <p:nvSpPr>
          <p:cNvPr id="19" name="Tijdelijke aanduiding voor inhoud 3">
            <a:extLst>
              <a:ext uri="{FF2B5EF4-FFF2-40B4-BE49-F238E27FC236}">
                <a16:creationId xmlns:a16="http://schemas.microsoft.com/office/drawing/2014/main" id="{6A1A0888-688E-8BBB-F54E-69060EE39D34}"/>
              </a:ext>
            </a:extLst>
          </p:cNvPr>
          <p:cNvSpPr txBox="1">
            <a:spLocks/>
          </p:cNvSpPr>
          <p:nvPr/>
        </p:nvSpPr>
        <p:spPr>
          <a:xfrm>
            <a:off x="838201" y="1905684"/>
            <a:ext cx="5397500" cy="44824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400" dirty="0">
                <a:latin typeface="Fira Sans"/>
                <a:ea typeface="+mn-lt"/>
                <a:cs typeface="+mn-lt"/>
              </a:rPr>
              <a:t>Beleid (</a:t>
            </a:r>
            <a:r>
              <a:rPr lang="nl-NL" sz="2400" dirty="0" err="1">
                <a:latin typeface="Fira Sans"/>
                <a:ea typeface="+mn-lt"/>
                <a:cs typeface="+mn-lt"/>
              </a:rPr>
              <a:t>policies</a:t>
            </a:r>
            <a:r>
              <a:rPr lang="nl-NL" sz="2400" dirty="0">
                <a:latin typeface="Fira Sans"/>
                <a:ea typeface="+mn-lt"/>
                <a:cs typeface="+mn-lt"/>
              </a:rPr>
              <a:t>) expliciet maken</a:t>
            </a:r>
          </a:p>
          <a:p>
            <a:r>
              <a:rPr lang="nl-NL" sz="2400" dirty="0">
                <a:latin typeface="Fira Sans"/>
                <a:ea typeface="+mn-lt"/>
                <a:cs typeface="+mn-lt"/>
              </a:rPr>
              <a:t>Policies losmaken van applicaties</a:t>
            </a:r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6241CC87-438C-F9AA-BAE9-6F76506C0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437" y="1642954"/>
            <a:ext cx="4230494" cy="4396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8889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21D73-AEF0-CF5A-E69F-7DC52EAEA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5F883-3C37-BCB2-7975-6B156A96C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noProof="0" dirty="0" err="1">
                <a:latin typeface="Fira Sans SemiBold"/>
              </a:rPr>
              <a:t>Externalized</a:t>
            </a:r>
            <a:r>
              <a:rPr lang="nl-NL" noProof="0" dirty="0">
                <a:latin typeface="Fira Sans SemiBold"/>
              </a:rPr>
              <a:t> Access Management (EAM)</a:t>
            </a:r>
            <a:endParaRPr lang="nl-NL" noProof="0" dirty="0"/>
          </a:p>
        </p:txBody>
      </p:sp>
      <p:sp>
        <p:nvSpPr>
          <p:cNvPr id="19" name="Tijdelijke aanduiding voor inhoud 3">
            <a:extLst>
              <a:ext uri="{FF2B5EF4-FFF2-40B4-BE49-F238E27FC236}">
                <a16:creationId xmlns:a16="http://schemas.microsoft.com/office/drawing/2014/main" id="{3DB24684-8A06-7B41-0E1F-38358E145CA5}"/>
              </a:ext>
            </a:extLst>
          </p:cNvPr>
          <p:cNvSpPr txBox="1">
            <a:spLocks/>
          </p:cNvSpPr>
          <p:nvPr/>
        </p:nvSpPr>
        <p:spPr>
          <a:xfrm>
            <a:off x="838201" y="1905684"/>
            <a:ext cx="5397500" cy="44824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400" dirty="0">
                <a:latin typeface="Fira Sans"/>
                <a:ea typeface="+mn-lt"/>
                <a:cs typeface="+mn-lt"/>
              </a:rPr>
              <a:t>Beleid (</a:t>
            </a:r>
            <a:r>
              <a:rPr lang="nl-NL" sz="2400" dirty="0" err="1">
                <a:latin typeface="Fira Sans"/>
                <a:ea typeface="+mn-lt"/>
                <a:cs typeface="+mn-lt"/>
              </a:rPr>
              <a:t>policies</a:t>
            </a:r>
            <a:r>
              <a:rPr lang="nl-NL" sz="2400" dirty="0">
                <a:latin typeface="Fira Sans"/>
                <a:ea typeface="+mn-lt"/>
                <a:cs typeface="+mn-lt"/>
              </a:rPr>
              <a:t>) expliciet maken</a:t>
            </a:r>
          </a:p>
          <a:p>
            <a:r>
              <a:rPr lang="nl-NL" sz="2400" dirty="0">
                <a:latin typeface="Fira Sans"/>
                <a:ea typeface="+mn-lt"/>
                <a:cs typeface="+mn-lt"/>
              </a:rPr>
              <a:t>Policies losmaken van applicaties</a:t>
            </a:r>
          </a:p>
          <a:p>
            <a:r>
              <a:rPr lang="nl-NL" sz="2400" noProof="0" dirty="0">
                <a:latin typeface="Fira Sans"/>
                <a:ea typeface="+mn-lt"/>
                <a:cs typeface="+mn-lt"/>
              </a:rPr>
              <a:t>Policies </a:t>
            </a:r>
            <a:r>
              <a:rPr lang="nl-NL" sz="2400" dirty="0">
                <a:latin typeface="Fira Sans"/>
                <a:ea typeface="+mn-lt"/>
                <a:cs typeface="+mn-lt"/>
              </a:rPr>
              <a:t>naar centraal beheer, handhaving blijft lokaal</a:t>
            </a:r>
          </a:p>
          <a:p>
            <a:pPr marL="0" indent="0">
              <a:buNone/>
            </a:pPr>
            <a:endParaRPr lang="nl-NL" sz="2400" dirty="0">
              <a:latin typeface="Fira Sans"/>
              <a:ea typeface="+mn-lt"/>
              <a:cs typeface="+mn-lt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BEF83278-C9BC-CA63-0491-5E9E93A1E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548" y="1642954"/>
            <a:ext cx="5972463" cy="4396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0282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60D50-2300-6C53-A4A3-F2AAB2652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8127C-9746-C040-E30F-E6F541319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noProof="0" dirty="0" err="1">
                <a:latin typeface="Fira Sans SemiBold"/>
              </a:rPr>
              <a:t>Externalized</a:t>
            </a:r>
            <a:r>
              <a:rPr lang="nl-NL" noProof="0" dirty="0">
                <a:latin typeface="Fira Sans SemiBold"/>
              </a:rPr>
              <a:t> Access Management (EAM)</a:t>
            </a:r>
            <a:endParaRPr lang="nl-NL" noProof="0" dirty="0"/>
          </a:p>
        </p:txBody>
      </p:sp>
      <p:sp>
        <p:nvSpPr>
          <p:cNvPr id="19" name="Tijdelijke aanduiding voor inhoud 3">
            <a:extLst>
              <a:ext uri="{FF2B5EF4-FFF2-40B4-BE49-F238E27FC236}">
                <a16:creationId xmlns:a16="http://schemas.microsoft.com/office/drawing/2014/main" id="{3010EE4E-C35F-AE31-30D2-611B8ADB6F04}"/>
              </a:ext>
            </a:extLst>
          </p:cNvPr>
          <p:cNvSpPr txBox="1">
            <a:spLocks/>
          </p:cNvSpPr>
          <p:nvPr/>
        </p:nvSpPr>
        <p:spPr>
          <a:xfrm>
            <a:off x="838201" y="1905684"/>
            <a:ext cx="5397500" cy="44824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400" dirty="0">
                <a:latin typeface="Fira Sans"/>
                <a:ea typeface="+mn-lt"/>
                <a:cs typeface="+mn-lt"/>
              </a:rPr>
              <a:t>Beleid (</a:t>
            </a:r>
            <a:r>
              <a:rPr lang="nl-NL" sz="2400" dirty="0" err="1">
                <a:latin typeface="Fira Sans"/>
                <a:ea typeface="+mn-lt"/>
                <a:cs typeface="+mn-lt"/>
              </a:rPr>
              <a:t>policies</a:t>
            </a:r>
            <a:r>
              <a:rPr lang="nl-NL" sz="2400" dirty="0">
                <a:latin typeface="Fira Sans"/>
                <a:ea typeface="+mn-lt"/>
                <a:cs typeface="+mn-lt"/>
              </a:rPr>
              <a:t>) expliciet maken</a:t>
            </a:r>
          </a:p>
          <a:p>
            <a:r>
              <a:rPr lang="nl-NL" sz="2400" dirty="0">
                <a:latin typeface="Fira Sans"/>
                <a:ea typeface="+mn-lt"/>
                <a:cs typeface="+mn-lt"/>
              </a:rPr>
              <a:t>Policies losmaken van applicaties</a:t>
            </a:r>
          </a:p>
          <a:p>
            <a:r>
              <a:rPr lang="nl-NL" sz="2400" noProof="0" dirty="0">
                <a:latin typeface="Fira Sans"/>
                <a:ea typeface="+mn-lt"/>
                <a:cs typeface="+mn-lt"/>
              </a:rPr>
              <a:t>Policies </a:t>
            </a:r>
            <a:r>
              <a:rPr lang="nl-NL" sz="2400" dirty="0">
                <a:latin typeface="Fira Sans"/>
                <a:ea typeface="+mn-lt"/>
                <a:cs typeface="+mn-lt"/>
              </a:rPr>
              <a:t>naar centraal beheer, handhaving blijft lokaal</a:t>
            </a:r>
          </a:p>
          <a:p>
            <a:r>
              <a:rPr lang="nl-NL" sz="2400" dirty="0">
                <a:latin typeface="Fira Sans"/>
                <a:ea typeface="+mn-lt"/>
                <a:cs typeface="+mn-lt"/>
              </a:rPr>
              <a:t>De levenscyclus van </a:t>
            </a:r>
            <a:r>
              <a:rPr lang="nl-NL" sz="2400" dirty="0" err="1">
                <a:latin typeface="Fira Sans"/>
                <a:ea typeface="+mn-lt"/>
                <a:cs typeface="+mn-lt"/>
              </a:rPr>
              <a:t>policies</a:t>
            </a:r>
            <a:r>
              <a:rPr lang="nl-NL" sz="2400" dirty="0">
                <a:latin typeface="Fira Sans"/>
                <a:ea typeface="+mn-lt"/>
                <a:cs typeface="+mn-lt"/>
              </a:rPr>
              <a:t> loskoppelen van applicaties </a:t>
            </a:r>
          </a:p>
          <a:p>
            <a:endParaRPr lang="nl-NL" sz="2400" dirty="0">
              <a:latin typeface="Fira Sans"/>
              <a:ea typeface="+mn-lt"/>
              <a:cs typeface="+mn-lt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D75774D3-4F89-C266-9DCE-77F75DB10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8673" y="1642954"/>
            <a:ext cx="5972463" cy="4396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8788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E6F33-7AC2-7946-DF65-BCE17991E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09990-155B-FF07-A84C-75D0DFC71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>
                <a:latin typeface="Fira Sans SemiBold"/>
              </a:rPr>
              <a:t>C</a:t>
            </a:r>
            <a:r>
              <a:rPr lang="nl-NL" noProof="0" dirty="0" err="1">
                <a:latin typeface="Fira Sans SemiBold"/>
              </a:rPr>
              <a:t>entraal</a:t>
            </a:r>
            <a:r>
              <a:rPr lang="nl-NL" noProof="0" dirty="0">
                <a:latin typeface="Fira Sans SemiBold"/>
              </a:rPr>
              <a:t> beheren, lokaal handhaven</a:t>
            </a:r>
            <a:endParaRPr lang="nl-NL" noProof="0" dirty="0"/>
          </a:p>
        </p:txBody>
      </p:sp>
      <p:sp>
        <p:nvSpPr>
          <p:cNvPr id="19" name="Tijdelijke aanduiding voor inhoud 3">
            <a:extLst>
              <a:ext uri="{FF2B5EF4-FFF2-40B4-BE49-F238E27FC236}">
                <a16:creationId xmlns:a16="http://schemas.microsoft.com/office/drawing/2014/main" id="{D7029CF5-3194-3F1F-07B0-291D2110EDF8}"/>
              </a:ext>
            </a:extLst>
          </p:cNvPr>
          <p:cNvSpPr txBox="1">
            <a:spLocks/>
          </p:cNvSpPr>
          <p:nvPr/>
        </p:nvSpPr>
        <p:spPr>
          <a:xfrm>
            <a:off x="838201" y="1905684"/>
            <a:ext cx="5397500" cy="44824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400" noProof="0" dirty="0">
                <a:latin typeface="Fira Sans"/>
                <a:ea typeface="+mn-lt"/>
                <a:cs typeface="+mn-lt"/>
              </a:rPr>
              <a:t>Policies zijn code en moeten met evenveel zorg beheerd worden als applicatiecode.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1CD79C12-33EA-073A-4EBB-F9E1BF9E4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548" y="1642954"/>
            <a:ext cx="5972463" cy="4396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83331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C101E-907F-47C4-2452-C39D64E0E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842C106A-6B23-8D97-A695-71AFE4B29F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45" r="646" b="-2191"/>
          <a:stretch>
            <a:fillRect/>
          </a:stretch>
        </p:blipFill>
        <p:spPr>
          <a:xfrm>
            <a:off x="5208103" y="2192199"/>
            <a:ext cx="6551237" cy="3171458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8FE3D0C-D18F-506B-2060-5A4061518F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0269" b="-2191"/>
          <a:stretch>
            <a:fillRect/>
          </a:stretch>
        </p:blipFill>
        <p:spPr>
          <a:xfrm>
            <a:off x="339895" y="2195673"/>
            <a:ext cx="4775444" cy="31714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D7CBA8-B71D-E700-0B77-60F4D7812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>
                <a:latin typeface="Fira Sans SemiBold"/>
              </a:rPr>
              <a:t>Functioneel overzicht</a:t>
            </a:r>
            <a:endParaRPr lang="nl-NL" noProof="0" dirty="0"/>
          </a:p>
        </p:txBody>
      </p:sp>
      <p:sp>
        <p:nvSpPr>
          <p:cNvPr id="4" name="AutoShape 4" descr="Overzicht functies en rollen in EAM ">
            <a:extLst>
              <a:ext uri="{FF2B5EF4-FFF2-40B4-BE49-F238E27FC236}">
                <a16:creationId xmlns:a16="http://schemas.microsoft.com/office/drawing/2014/main" id="{E48FD1BE-7197-AE45-A44B-DD9BBD9CB8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4728117" cy="4728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2DF6D22E-1E77-733C-AB0F-D9ECEAEEF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659" y="1684062"/>
            <a:ext cx="11326681" cy="3594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A15C33C3-412B-3D15-4520-DDE03ACB91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259050">
            <a:off x="6820331" y="5217883"/>
            <a:ext cx="3326781" cy="141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735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6C41D-BA95-3C98-6DE4-451327B5A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CF04ABB-71C5-D89C-363E-6214D928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>
                <a:latin typeface="Fira Sans SemiBold"/>
              </a:rPr>
              <a:t>Het </a:t>
            </a:r>
            <a:r>
              <a:rPr lang="nl-NL" noProof="0" dirty="0" err="1">
                <a:latin typeface="Fira Sans SemiBold"/>
              </a:rPr>
              <a:t>PxP</a:t>
            </a:r>
            <a:r>
              <a:rPr lang="nl-NL" noProof="0" dirty="0">
                <a:latin typeface="Fira Sans SemiBold"/>
              </a:rPr>
              <a:t>-architectuurpatroon</a:t>
            </a:r>
            <a:endParaRPr lang="nl-NL" noProof="0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113EC41-6981-3C80-B5A4-94B8CCE468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558398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A68A4-88F6-7653-E655-B15F95271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10153" cy="1325563"/>
          </a:xfrm>
        </p:spPr>
        <p:txBody>
          <a:bodyPr/>
          <a:lstStyle/>
          <a:p>
            <a:r>
              <a:rPr lang="en-US" dirty="0">
                <a:latin typeface="Fira Sans SemiBold"/>
              </a:rPr>
              <a:t>De </a:t>
            </a:r>
            <a:r>
              <a:rPr lang="en-US" dirty="0" err="1">
                <a:latin typeface="Fira Sans SemiBold"/>
              </a:rPr>
              <a:t>PxP-architectuur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ED29417-F208-C2E2-43BD-48ED06456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3984"/>
            <a:ext cx="9529293" cy="4363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l-NL" sz="2400" i="0" u="none" strike="noStrike" dirty="0">
                <a:solidFill>
                  <a:srgbClr val="000000"/>
                </a:solidFill>
                <a:effectLst/>
              </a:rPr>
              <a:t>Een flow van informatie voor toegangsaanvragen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l-NL" sz="2400" dirty="0">
                <a:solidFill>
                  <a:srgbClr val="000000"/>
                </a:solidFill>
              </a:rPr>
              <a:t>Is een deel van XACML uit 2001</a:t>
            </a:r>
            <a:endParaRPr lang="nl-NL" sz="2400" u="none" strike="noStrike" dirty="0">
              <a:solidFill>
                <a:srgbClr val="000000"/>
              </a:solidFill>
              <a:effectLst/>
              <a:latin typeface="Fira Sans Medium" panose="020B05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62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4AE61-8CA6-06D9-E90E-91F11D0F7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FDD67-FBB4-D13E-C7B3-458324622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10153" cy="1325563"/>
          </a:xfrm>
        </p:spPr>
        <p:txBody>
          <a:bodyPr/>
          <a:lstStyle/>
          <a:p>
            <a:r>
              <a:rPr lang="en-US">
                <a:latin typeface="Fira Sans SemiBold"/>
              </a:rPr>
              <a:t>1. </a:t>
            </a:r>
            <a:r>
              <a:rPr lang="en-US" err="1">
                <a:latin typeface="Fira Sans SemiBold"/>
              </a:rPr>
              <a:t>Aanvrager</a:t>
            </a:r>
            <a:r>
              <a:rPr lang="en-US">
                <a:latin typeface="Fira Sans SemiBold"/>
              </a:rPr>
              <a:t> </a:t>
            </a:r>
            <a:r>
              <a:rPr lang="en-US" err="1">
                <a:latin typeface="Fira Sans SemiBold"/>
              </a:rPr>
              <a:t>dient</a:t>
            </a:r>
            <a:r>
              <a:rPr lang="en-US">
                <a:latin typeface="Fira Sans SemiBold"/>
              </a:rPr>
              <a:t> </a:t>
            </a:r>
            <a:r>
              <a:rPr lang="en-US" err="1">
                <a:latin typeface="Fira Sans SemiBold"/>
              </a:rPr>
              <a:t>verwerkingsverzoek</a:t>
            </a:r>
            <a:r>
              <a:rPr lang="en-US">
                <a:latin typeface="Fira Sans SemiBold"/>
              </a:rPr>
              <a:t> in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A18E8B-0F06-76E7-B421-42C18C53B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3984"/>
            <a:ext cx="4916825" cy="4363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l-NL" sz="2400" b="0" i="0" u="none" strike="noStrike">
                <a:solidFill>
                  <a:srgbClr val="000000"/>
                </a:solidFill>
                <a:effectLst/>
              </a:rPr>
              <a:t>De applicatie ontvangt een verzoek om data te </a:t>
            </a:r>
            <a:r>
              <a:rPr lang="nl-NL" sz="2400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raadplegen, vast te leggen, te wijzigen, wissen, etc.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nl-NL" sz="2400" b="0" i="0" u="none" strike="noStrike">
                <a:solidFill>
                  <a:srgbClr val="000000"/>
                </a:solidFill>
                <a:effectLst/>
              </a:rPr>
              <a:t>Dit verzoek wordt opgevangen door het</a:t>
            </a:r>
            <a:r>
              <a:rPr lang="nl-NL" sz="2400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 Policy </a:t>
            </a:r>
            <a:r>
              <a:rPr lang="nl-NL" sz="2400" u="none" strike="noStrike" err="1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Enforcement</a:t>
            </a:r>
            <a:r>
              <a:rPr lang="nl-NL" sz="2400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 Point (PEP)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AC78EDB-DE99-B061-FE07-42949D0D81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875" y="1974774"/>
            <a:ext cx="5114250" cy="3766451"/>
          </a:xfrm>
          <a:prstGeom prst="rect">
            <a:avLst/>
          </a:prstGeom>
        </p:spPr>
      </p:pic>
      <p:sp>
        <p:nvSpPr>
          <p:cNvPr id="16" name="Rechthoek 15">
            <a:extLst>
              <a:ext uri="{FF2B5EF4-FFF2-40B4-BE49-F238E27FC236}">
                <a16:creationId xmlns:a16="http://schemas.microsoft.com/office/drawing/2014/main" id="{847D05AC-420D-5D4B-A9B3-29E1BCD653B7}"/>
              </a:ext>
            </a:extLst>
          </p:cNvPr>
          <p:cNvSpPr/>
          <p:nvPr/>
        </p:nvSpPr>
        <p:spPr>
          <a:xfrm>
            <a:off x="6994826" y="3090272"/>
            <a:ext cx="200234" cy="21358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>
                <a:solidFill>
                  <a:schemeClr val="bg1"/>
                </a:solidFill>
                <a:latin typeface="Fira Sans" panose="020B05030500000200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44609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22CFF-B39A-2F23-01D1-821947164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1C54C-60AA-139B-F3CB-CABE7F4F4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ira Sans SemiBold"/>
              </a:rPr>
              <a:t>2. PEP </a:t>
            </a:r>
            <a:r>
              <a:rPr lang="en-US" err="1">
                <a:latin typeface="Fira Sans SemiBold"/>
              </a:rPr>
              <a:t>biedt</a:t>
            </a:r>
            <a:r>
              <a:rPr lang="en-US">
                <a:latin typeface="Fira Sans SemiBold"/>
              </a:rPr>
              <a:t> </a:t>
            </a:r>
            <a:r>
              <a:rPr lang="en-US" err="1">
                <a:latin typeface="Fira Sans SemiBold"/>
              </a:rPr>
              <a:t>verzoek</a:t>
            </a:r>
            <a:r>
              <a:rPr lang="en-US">
                <a:latin typeface="Fira Sans SemiBold"/>
              </a:rPr>
              <a:t> </a:t>
            </a:r>
            <a:r>
              <a:rPr lang="en-US" err="1">
                <a:latin typeface="Fira Sans SemiBold"/>
              </a:rPr>
              <a:t>ter</a:t>
            </a:r>
            <a:r>
              <a:rPr lang="en-US">
                <a:latin typeface="Fira Sans SemiBold"/>
              </a:rPr>
              <a:t> </a:t>
            </a:r>
            <a:r>
              <a:rPr lang="en-US" err="1">
                <a:latin typeface="Fira Sans SemiBold"/>
              </a:rPr>
              <a:t>beslissing</a:t>
            </a:r>
            <a:r>
              <a:rPr lang="en-US">
                <a:latin typeface="Fira Sans SemiBold"/>
              </a:rPr>
              <a:t> </a:t>
            </a:r>
            <a:r>
              <a:rPr lang="en-US" err="1">
                <a:latin typeface="Fira Sans SemiBold"/>
              </a:rPr>
              <a:t>aan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935720F-6CD0-91D5-0BFC-2CA7F5FD9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7878"/>
            <a:ext cx="5120504" cy="358440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nl-NL" sz="2400" b="0" i="0" u="none" strike="noStrike">
                <a:solidFill>
                  <a:srgbClr val="000000"/>
                </a:solidFill>
                <a:effectLst/>
                <a:latin typeface="Fira Sans"/>
              </a:rPr>
              <a:t>Het verzoek wordt samengevat via het </a:t>
            </a:r>
            <a:r>
              <a:rPr lang="nl-NL" sz="2400">
                <a:solidFill>
                  <a:srgbClr val="000000"/>
                </a:solidFill>
                <a:latin typeface="Fira Sans Medium" panose="020B0503050000020004" pitchFamily="34" charset="0"/>
              </a:rPr>
              <a:t>meta-informatiemodel</a:t>
            </a:r>
            <a:r>
              <a:rPr lang="nl-NL" sz="2400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 </a:t>
            </a:r>
            <a:r>
              <a:rPr lang="nl-NL" sz="2400" b="0" i="0" u="none" strike="noStrike">
                <a:solidFill>
                  <a:srgbClr val="000000"/>
                </a:solidFill>
                <a:effectLst/>
                <a:latin typeface="Fira Sans"/>
              </a:rPr>
              <a:t>van de organisatie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nl-NL" sz="2400" b="0" i="0" u="none" strike="noStrike">
                <a:solidFill>
                  <a:srgbClr val="000000"/>
                </a:solidFill>
                <a:effectLst/>
                <a:latin typeface="Fira Sans"/>
              </a:rPr>
              <a:t>Wordt vervolgens</a:t>
            </a:r>
            <a:r>
              <a:rPr lang="nl-NL" sz="2400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 </a:t>
            </a:r>
            <a:r>
              <a:rPr lang="nl-NL" sz="2400" b="0" i="0" u="none" strike="noStrike">
                <a:solidFill>
                  <a:srgbClr val="000000"/>
                </a:solidFill>
                <a:effectLst/>
                <a:latin typeface="Fira Sans"/>
              </a:rPr>
              <a:t>aangeboden aan het </a:t>
            </a:r>
            <a:r>
              <a:rPr lang="nl-NL" sz="2400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Policy </a:t>
            </a:r>
            <a:r>
              <a:rPr lang="nl-NL" sz="2400" u="none" strike="noStrike" err="1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Decision</a:t>
            </a:r>
            <a:r>
              <a:rPr lang="nl-NL" sz="2400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 Point (PDP)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5649E7F-FE2E-0EFC-686D-11234E4F81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875" y="1974774"/>
            <a:ext cx="5114250" cy="3766451"/>
          </a:xfrm>
          <a:prstGeom prst="rect">
            <a:avLst/>
          </a:prstGeom>
        </p:spPr>
      </p:pic>
      <p:sp>
        <p:nvSpPr>
          <p:cNvPr id="4" name="Rechthoek 3">
            <a:extLst>
              <a:ext uri="{FF2B5EF4-FFF2-40B4-BE49-F238E27FC236}">
                <a16:creationId xmlns:a16="http://schemas.microsoft.com/office/drawing/2014/main" id="{D7677F46-7632-3B0F-188D-EFA687E7C285}"/>
              </a:ext>
            </a:extLst>
          </p:cNvPr>
          <p:cNvSpPr/>
          <p:nvPr/>
        </p:nvSpPr>
        <p:spPr>
          <a:xfrm>
            <a:off x="7688969" y="3550810"/>
            <a:ext cx="200234" cy="21358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>
                <a:solidFill>
                  <a:schemeClr val="bg1"/>
                </a:solidFill>
                <a:latin typeface="Fira Sans" panose="020B05030500000200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802830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F864B-F801-77E6-814A-4EDFBF548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14981-2369-2EAE-1A51-727C5F20C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latin typeface="Fira Sans SemiBold"/>
              </a:rPr>
              <a:t>3. PDP </a:t>
            </a:r>
            <a:r>
              <a:rPr lang="en-US" sz="4000" err="1">
                <a:latin typeface="Fira Sans SemiBold"/>
              </a:rPr>
              <a:t>toetst</a:t>
            </a:r>
            <a:r>
              <a:rPr lang="en-US" sz="4000">
                <a:latin typeface="Fira Sans SemiBold"/>
              </a:rPr>
              <a:t> </a:t>
            </a:r>
            <a:r>
              <a:rPr lang="en-US" sz="4000" err="1">
                <a:latin typeface="Fira Sans SemiBold"/>
              </a:rPr>
              <a:t>aan</a:t>
            </a:r>
            <a:r>
              <a:rPr lang="en-US" sz="4000">
                <a:latin typeface="Fira Sans SemiBold"/>
              </a:rPr>
              <a:t> </a:t>
            </a:r>
            <a:r>
              <a:rPr lang="en-US" sz="4000" err="1">
                <a:latin typeface="Fira Sans SemiBold"/>
              </a:rPr>
              <a:t>toegangsbeleid</a:t>
            </a:r>
            <a:r>
              <a:rPr lang="en-US" sz="4000">
                <a:latin typeface="Fira Sans SemiBold"/>
              </a:rPr>
              <a:t> </a:t>
            </a:r>
            <a:r>
              <a:rPr lang="en-US" sz="4000" err="1">
                <a:latin typeface="Fira Sans SemiBold"/>
              </a:rPr>
              <a:t>uit</a:t>
            </a:r>
            <a:r>
              <a:rPr lang="en-US" sz="4000">
                <a:latin typeface="Fira Sans SemiBold"/>
              </a:rPr>
              <a:t> PAP</a:t>
            </a:r>
            <a:endParaRPr lang="en-US" sz="400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322025F-AEE9-B25D-3BD8-2C45E2F25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5892"/>
            <a:ext cx="4772030" cy="43614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2400"/>
              <a:t>Het verzoek wordt getoetst aan het</a:t>
            </a:r>
            <a:r>
              <a:rPr lang="nl-NL" sz="2400">
                <a:latin typeface="Fira Sans Medium" panose="020B0503050000020004" pitchFamily="34" charset="0"/>
              </a:rPr>
              <a:t> actuele toegangsbeleid</a:t>
            </a:r>
          </a:p>
          <a:p>
            <a:r>
              <a:rPr lang="nl-NL" sz="2400"/>
              <a:t>Beleid wordt beheerd in het </a:t>
            </a:r>
            <a:r>
              <a:rPr lang="nl-NL" sz="2400">
                <a:latin typeface="Fira Sans Medium" panose="020B0503050000020004" pitchFamily="34" charset="0"/>
              </a:rPr>
              <a:t>Policy Administration Point (PAP)</a:t>
            </a:r>
          </a:p>
          <a:p>
            <a:r>
              <a:rPr lang="nl-NL" sz="2400"/>
              <a:t>De PAP stelt versies van het beleid beschikbaar aan het </a:t>
            </a:r>
            <a:r>
              <a:rPr lang="nl-NL" sz="2400">
                <a:latin typeface="Fira Sans Medium" panose="020B0503050000020004" pitchFamily="34" charset="0"/>
              </a:rPr>
              <a:t>Policy </a:t>
            </a:r>
            <a:r>
              <a:rPr lang="nl-NL" sz="2400" err="1">
                <a:latin typeface="Fira Sans Medium" panose="020B0503050000020004" pitchFamily="34" charset="0"/>
              </a:rPr>
              <a:t>Decision</a:t>
            </a:r>
            <a:r>
              <a:rPr lang="nl-NL" sz="2400">
                <a:latin typeface="Fira Sans Medium" panose="020B0503050000020004" pitchFamily="34" charset="0"/>
              </a:rPr>
              <a:t> Point (PDP)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89FBFF9-270B-6EBE-55E1-D86BC5C39B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875" y="1974774"/>
            <a:ext cx="5114250" cy="3766451"/>
          </a:xfrm>
          <a:prstGeom prst="rect">
            <a:avLst/>
          </a:prstGeom>
        </p:spPr>
      </p:pic>
      <p:sp>
        <p:nvSpPr>
          <p:cNvPr id="4" name="Rechthoek 3">
            <a:extLst>
              <a:ext uri="{FF2B5EF4-FFF2-40B4-BE49-F238E27FC236}">
                <a16:creationId xmlns:a16="http://schemas.microsoft.com/office/drawing/2014/main" id="{69EC1D6B-54F6-D2D7-46F1-94C3FCE82478}"/>
              </a:ext>
            </a:extLst>
          </p:cNvPr>
          <p:cNvSpPr/>
          <p:nvPr/>
        </p:nvSpPr>
        <p:spPr>
          <a:xfrm>
            <a:off x="9257466" y="3096947"/>
            <a:ext cx="200234" cy="21358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>
                <a:solidFill>
                  <a:schemeClr val="bg1"/>
                </a:solidFill>
                <a:latin typeface="Fira Sans" panose="020B05030500000200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413228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93390-0C1E-657C-2266-F425C5594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B433F-8544-31AC-BE9B-BAB581358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93940" cy="1325563"/>
          </a:xfrm>
        </p:spPr>
        <p:txBody>
          <a:bodyPr/>
          <a:lstStyle/>
          <a:p>
            <a:r>
              <a:rPr lang="en-US">
                <a:latin typeface="Fira Sans SemiBold"/>
              </a:rPr>
              <a:t>4. PIP </a:t>
            </a:r>
            <a:r>
              <a:rPr lang="en-US" err="1">
                <a:latin typeface="Fira Sans SemiBold"/>
              </a:rPr>
              <a:t>verrijkt</a:t>
            </a:r>
            <a:r>
              <a:rPr lang="en-US">
                <a:latin typeface="Fira Sans SemiBold"/>
              </a:rPr>
              <a:t> met </a:t>
            </a:r>
            <a:r>
              <a:rPr lang="en-US" err="1">
                <a:latin typeface="Fira Sans SemiBold"/>
              </a:rPr>
              <a:t>herleidbare</a:t>
            </a:r>
            <a:r>
              <a:rPr lang="en-US">
                <a:latin typeface="Fira Sans SemiBold"/>
              </a:rPr>
              <a:t> </a:t>
            </a:r>
            <a:r>
              <a:rPr lang="en-US" err="1">
                <a:latin typeface="Fira Sans SemiBold"/>
              </a:rPr>
              <a:t>informatie</a:t>
            </a:r>
            <a:endParaRPr lang="en-US" err="1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0E69BCE-0FBF-CDB6-BBEE-251A08AD2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5984"/>
            <a:ext cx="464082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2400" b="0" i="0" u="none" strike="noStrike">
                <a:solidFill>
                  <a:srgbClr val="000000"/>
                </a:solidFill>
                <a:effectLst/>
              </a:rPr>
              <a:t>Als extra informatie nodig is, levert het </a:t>
            </a:r>
            <a:r>
              <a:rPr lang="nl-NL" sz="2400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Policy Information Point (PIP) </a:t>
            </a:r>
            <a:r>
              <a:rPr lang="nl-NL" sz="2400" b="0" i="0" u="none" strike="noStrike">
                <a:solidFill>
                  <a:srgbClr val="000000"/>
                </a:solidFill>
                <a:effectLst/>
              </a:rPr>
              <a:t>deze aan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nl-NL" sz="2400" b="0" i="0" u="none" strike="noStrike">
                <a:solidFill>
                  <a:srgbClr val="000000"/>
                </a:solidFill>
                <a:effectLst/>
              </a:rPr>
              <a:t>Het PIP zorgt voor </a:t>
            </a:r>
            <a:r>
              <a:rPr lang="nl-NL" sz="2400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herleidbaarheid</a:t>
            </a:r>
            <a:r>
              <a:rPr lang="nl-NL" sz="2400">
                <a:solidFill>
                  <a:srgbClr val="000000"/>
                </a:solidFill>
                <a:latin typeface="Fira Sans Medium" panose="020B0503050000020004" pitchFamily="34" charset="0"/>
              </a:rPr>
              <a:t> </a:t>
            </a:r>
            <a:r>
              <a:rPr lang="nl-NL" sz="2400" b="0" i="0" u="none" strike="noStrike">
                <a:solidFill>
                  <a:srgbClr val="000000"/>
                </a:solidFill>
                <a:effectLst/>
              </a:rPr>
              <a:t>via </a:t>
            </a:r>
            <a:r>
              <a:rPr lang="nl-NL" sz="2400" b="0" i="0" u="none" strike="noStrike" err="1">
                <a:solidFill>
                  <a:srgbClr val="000000"/>
                </a:solidFill>
                <a:effectLst/>
              </a:rPr>
              <a:t>logging</a:t>
            </a:r>
            <a:r>
              <a:rPr lang="nl-NL" sz="2400" b="0" i="0" u="none" strike="noStrike">
                <a:solidFill>
                  <a:srgbClr val="000000"/>
                </a:solidFill>
                <a:effectLst/>
              </a:rPr>
              <a:t> en </a:t>
            </a:r>
            <a:r>
              <a:rPr lang="nl-NL" sz="2400" b="0" i="0" u="none" strike="noStrike" err="1">
                <a:solidFill>
                  <a:srgbClr val="000000"/>
                </a:solidFill>
                <a:effectLst/>
              </a:rPr>
              <a:t>historisering</a:t>
            </a:r>
            <a:endParaRPr lang="nl-NL" sz="2400" b="0" i="0" u="none" strike="noStrike">
              <a:solidFill>
                <a:srgbClr val="000000"/>
              </a:solidFill>
              <a:effectLst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93706C6-1508-DF2B-DA66-AA921CC752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875" y="1974774"/>
            <a:ext cx="5114250" cy="3766451"/>
          </a:xfrm>
          <a:prstGeom prst="rect">
            <a:avLst/>
          </a:prstGeom>
        </p:spPr>
      </p:pic>
      <p:sp>
        <p:nvSpPr>
          <p:cNvPr id="4" name="Rechthoek 3">
            <a:extLst>
              <a:ext uri="{FF2B5EF4-FFF2-40B4-BE49-F238E27FC236}">
                <a16:creationId xmlns:a16="http://schemas.microsoft.com/office/drawing/2014/main" id="{B335B318-17A7-27C0-85B0-8A918730DCD1}"/>
              </a:ext>
            </a:extLst>
          </p:cNvPr>
          <p:cNvSpPr/>
          <p:nvPr/>
        </p:nvSpPr>
        <p:spPr>
          <a:xfrm>
            <a:off x="9217417" y="3678071"/>
            <a:ext cx="200234" cy="21358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>
                <a:solidFill>
                  <a:schemeClr val="bg1"/>
                </a:solidFill>
                <a:latin typeface="Fira Sans" panose="020B05030500000200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257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DBED8-6F09-0A9F-9968-ADC6AECD0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1CE72-79BE-E2D1-1705-B1DAFA56F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ira Sans SemiBold"/>
              </a:rPr>
              <a:t>5. Uniform </a:t>
            </a:r>
            <a:r>
              <a:rPr lang="en-US" err="1">
                <a:latin typeface="Fira Sans SemiBold"/>
              </a:rPr>
              <a:t>vastgelegd</a:t>
            </a:r>
            <a:r>
              <a:rPr lang="en-US">
                <a:latin typeface="Fira Sans SemiBold"/>
              </a:rPr>
              <a:t> in decision logs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F2418EE-E5D0-1F95-9D12-28D854CE7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5984"/>
            <a:ext cx="464082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2400"/>
              <a:t>Toegangsbeslissingen worden </a:t>
            </a:r>
            <a:r>
              <a:rPr lang="nl-NL" sz="2400">
                <a:latin typeface="Fira Sans Medium" panose="020B0503050000020004" pitchFamily="34" charset="0"/>
              </a:rPr>
              <a:t>gestructureerd gelogd</a:t>
            </a:r>
          </a:p>
          <a:p>
            <a:r>
              <a:rPr lang="nl-NL" sz="2400"/>
              <a:t>Gecombineerd met een </a:t>
            </a:r>
            <a:r>
              <a:rPr lang="nl-NL" sz="2400">
                <a:latin typeface="Fira Sans Medium" panose="020B0503050000020004" pitchFamily="34" charset="0"/>
              </a:rPr>
              <a:t>PAP en PIP met </a:t>
            </a:r>
            <a:r>
              <a:rPr lang="nl-NL" sz="2400" err="1">
                <a:latin typeface="Fira Sans Medium" panose="020B0503050000020004" pitchFamily="34" charset="0"/>
              </a:rPr>
              <a:t>historisering</a:t>
            </a:r>
            <a:r>
              <a:rPr lang="nl-NL" sz="2400">
                <a:latin typeface="Fira Sans Medium" panose="020B0503050000020004" pitchFamily="34" charset="0"/>
              </a:rPr>
              <a:t> </a:t>
            </a:r>
            <a:r>
              <a:rPr lang="nl-NL" sz="2400"/>
              <a:t>zijn eerdere beslissingen </a:t>
            </a:r>
            <a:r>
              <a:rPr lang="nl-NL" sz="2400">
                <a:latin typeface="Fira Sans Medium" panose="020B0503050000020004" pitchFamily="34" charset="0"/>
              </a:rPr>
              <a:t>volledig te reconstrueren en verantwoorden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DE6E770-AD32-4EE5-DD77-141CE01200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875" y="1974774"/>
            <a:ext cx="5114250" cy="3766451"/>
          </a:xfrm>
          <a:prstGeom prst="rect">
            <a:avLst/>
          </a:prstGeom>
        </p:spPr>
      </p:pic>
      <p:sp>
        <p:nvSpPr>
          <p:cNvPr id="4" name="Rechthoek 3">
            <a:extLst>
              <a:ext uri="{FF2B5EF4-FFF2-40B4-BE49-F238E27FC236}">
                <a16:creationId xmlns:a16="http://schemas.microsoft.com/office/drawing/2014/main" id="{A70790D0-086A-18FD-CA99-138D336B63C5}"/>
              </a:ext>
            </a:extLst>
          </p:cNvPr>
          <p:cNvSpPr/>
          <p:nvPr/>
        </p:nvSpPr>
        <p:spPr>
          <a:xfrm>
            <a:off x="9244116" y="4211580"/>
            <a:ext cx="200234" cy="21358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>
                <a:solidFill>
                  <a:schemeClr val="bg1"/>
                </a:solidFill>
                <a:latin typeface="Fira Sans" panose="020B05030500000200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829987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A0E90-4A26-D7AF-1F3E-4B8765E13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0CD61-448E-5F8A-EBC5-D3201E76A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ira Sans SemiBold"/>
              </a:rPr>
              <a:t>6.  PDP </a:t>
            </a:r>
            <a:r>
              <a:rPr lang="en-US" err="1">
                <a:latin typeface="Fira Sans SemiBold"/>
              </a:rPr>
              <a:t>retourneert</a:t>
            </a:r>
            <a:r>
              <a:rPr lang="en-US">
                <a:latin typeface="Fira Sans SemiBold"/>
              </a:rPr>
              <a:t> </a:t>
            </a:r>
            <a:r>
              <a:rPr lang="en-US" err="1">
                <a:latin typeface="Fira Sans SemiBold"/>
              </a:rPr>
              <a:t>beslissing</a:t>
            </a:r>
            <a:endParaRPr lang="en-US" err="1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6EA6090-AD70-6841-CB55-7E34844D4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5984"/>
            <a:ext cx="464082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>
                <a:latin typeface="Fira Sans"/>
              </a:rPr>
              <a:t>Het Policy Decision Point </a:t>
            </a:r>
            <a:r>
              <a:rPr lang="en-US" sz="2400" err="1">
                <a:latin typeface="Fira Sans"/>
              </a:rPr>
              <a:t>retourneert</a:t>
            </a:r>
            <a:r>
              <a:rPr lang="en-US" sz="2400">
                <a:latin typeface="Fira Sans"/>
              </a:rPr>
              <a:t> de </a:t>
            </a:r>
            <a:r>
              <a:rPr lang="en-US" sz="2400" err="1">
                <a:latin typeface="Fira Sans"/>
              </a:rPr>
              <a:t>genomen</a:t>
            </a:r>
            <a:r>
              <a:rPr lang="en-US" sz="2400">
                <a:latin typeface="Fira Sans"/>
              </a:rPr>
              <a:t> </a:t>
            </a:r>
            <a:r>
              <a:rPr lang="en-US" sz="2400" err="1">
                <a:latin typeface="Fira Sans"/>
              </a:rPr>
              <a:t>toegangsbeslissing</a:t>
            </a:r>
            <a:r>
              <a:rPr lang="en-US" sz="2400">
                <a:latin typeface="Fira Sans"/>
              </a:rPr>
              <a:t>, </a:t>
            </a:r>
            <a:r>
              <a:rPr lang="en-US" sz="2400" err="1">
                <a:latin typeface="Fira Sans"/>
              </a:rPr>
              <a:t>inclusief</a:t>
            </a:r>
            <a:r>
              <a:rPr lang="en-US" sz="2400">
                <a:latin typeface="Fira Sans"/>
              </a:rPr>
              <a:t> metadata over de </a:t>
            </a:r>
            <a:r>
              <a:rPr lang="en-US" sz="2400" err="1">
                <a:latin typeface="Fira Sans"/>
              </a:rPr>
              <a:t>beslissing</a:t>
            </a:r>
            <a:r>
              <a:rPr lang="en-US" sz="2400">
                <a:latin typeface="Fira Sans"/>
              </a:rPr>
              <a:t>, </a:t>
            </a:r>
            <a:r>
              <a:rPr lang="en-US" sz="2400" err="1">
                <a:latin typeface="Fira Sans"/>
              </a:rPr>
              <a:t>aan</a:t>
            </a:r>
            <a:r>
              <a:rPr lang="en-US" sz="2400">
                <a:latin typeface="Fira Sans"/>
              </a:rPr>
              <a:t> het Policy Enforcement Point in </a:t>
            </a:r>
            <a:r>
              <a:rPr lang="en-US" sz="2400" err="1">
                <a:latin typeface="Fira Sans"/>
              </a:rPr>
              <a:t>een</a:t>
            </a:r>
            <a:r>
              <a:rPr lang="en-US" sz="2400">
                <a:latin typeface="Fira Sans"/>
              </a:rPr>
              <a:t> </a:t>
            </a:r>
            <a:r>
              <a:rPr lang="en-US" sz="2400" err="1">
                <a:latin typeface="Fira Sans"/>
              </a:rPr>
              <a:t>vastgesteld</a:t>
            </a:r>
            <a:r>
              <a:rPr lang="en-US" sz="2400">
                <a:latin typeface="Fira Sans"/>
              </a:rPr>
              <a:t> format.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BB3B4A3-DAAF-5E8F-1E52-25D93EB5AA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875" y="1974774"/>
            <a:ext cx="5114250" cy="3766451"/>
          </a:xfrm>
          <a:prstGeom prst="rect">
            <a:avLst/>
          </a:prstGeom>
        </p:spPr>
      </p:pic>
      <p:sp>
        <p:nvSpPr>
          <p:cNvPr id="4" name="Rechthoek 3">
            <a:extLst>
              <a:ext uri="{FF2B5EF4-FFF2-40B4-BE49-F238E27FC236}">
                <a16:creationId xmlns:a16="http://schemas.microsoft.com/office/drawing/2014/main" id="{21B018A9-A732-AD50-14AC-C484F17CFF64}"/>
              </a:ext>
            </a:extLst>
          </p:cNvPr>
          <p:cNvSpPr/>
          <p:nvPr/>
        </p:nvSpPr>
        <p:spPr>
          <a:xfrm>
            <a:off x="7688969" y="3831137"/>
            <a:ext cx="200234" cy="21358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>
                <a:solidFill>
                  <a:schemeClr val="bg1"/>
                </a:solidFill>
                <a:latin typeface="Fira Sans" panose="020B05030500000200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577044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C9EDB-D949-83B6-43F4-EEDF56B76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FBA90-BAA5-E1BD-307C-849C878A2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ira Sans SemiBold"/>
              </a:rPr>
              <a:t>7.  PEP </a:t>
            </a:r>
            <a:r>
              <a:rPr lang="en-US" err="1">
                <a:latin typeface="Fira Sans SemiBold"/>
              </a:rPr>
              <a:t>dwingt</a:t>
            </a:r>
            <a:r>
              <a:rPr lang="en-US">
                <a:latin typeface="Fira Sans SemiBold"/>
              </a:rPr>
              <a:t> </a:t>
            </a:r>
            <a:r>
              <a:rPr lang="en-US" err="1">
                <a:latin typeface="Fira Sans SemiBold"/>
              </a:rPr>
              <a:t>toegangsbeslissing</a:t>
            </a:r>
            <a:r>
              <a:rPr lang="en-US">
                <a:latin typeface="Fira Sans SemiBold"/>
              </a:rPr>
              <a:t> </a:t>
            </a:r>
            <a:r>
              <a:rPr lang="en-US" err="1">
                <a:latin typeface="Fira Sans SemiBold"/>
              </a:rPr>
              <a:t>af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F3783FE-9D7F-F763-80E2-9366134E0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5984"/>
            <a:ext cx="464082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l-NL" b="0" i="0" u="none" strike="noStrike">
                <a:solidFill>
                  <a:srgbClr val="000000"/>
                </a:solidFill>
                <a:effectLst/>
              </a:rPr>
              <a:t>De applicatie voert de verwerking alleen uit als:</a:t>
            </a:r>
          </a:p>
          <a:p>
            <a:pPr>
              <a:lnSpc>
                <a:spcPct val="100000"/>
              </a:lnSpc>
            </a:pPr>
            <a:r>
              <a:rPr lang="nl-NL" b="0" i="0" u="none" strike="noStrike">
                <a:solidFill>
                  <a:srgbClr val="000000"/>
                </a:solidFill>
                <a:effectLst/>
              </a:rPr>
              <a:t>De beslissing</a:t>
            </a:r>
            <a:r>
              <a:rPr lang="nl-NL" b="1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nl-NL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toegang toestaat</a:t>
            </a:r>
          </a:p>
          <a:p>
            <a:pPr>
              <a:lnSpc>
                <a:spcPct val="100000"/>
              </a:lnSpc>
            </a:pPr>
            <a:r>
              <a:rPr lang="nl-NL" b="0" i="0" u="none" strike="noStrike">
                <a:solidFill>
                  <a:srgbClr val="000000"/>
                </a:solidFill>
                <a:effectLst/>
              </a:rPr>
              <a:t>De opgelegde voorwaarden </a:t>
            </a:r>
            <a:r>
              <a:rPr lang="nl-NL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(</a:t>
            </a:r>
            <a:r>
              <a:rPr lang="nl-NL" u="none" strike="noStrike" err="1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residual</a:t>
            </a:r>
            <a:r>
              <a:rPr lang="nl-NL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 policy, </a:t>
            </a:r>
            <a:r>
              <a:rPr lang="nl-NL" u="none" strike="noStrike" err="1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obligations</a:t>
            </a:r>
            <a:r>
              <a:rPr lang="nl-NL">
                <a:solidFill>
                  <a:srgbClr val="000000"/>
                </a:solidFill>
                <a:latin typeface="Fira Sans Medium" panose="020B0503050000020004" pitchFamily="34" charset="0"/>
              </a:rPr>
              <a:t> </a:t>
            </a:r>
            <a:r>
              <a:rPr lang="nl-NL">
                <a:solidFill>
                  <a:srgbClr val="000000"/>
                </a:solidFill>
              </a:rPr>
              <a:t>en</a:t>
            </a:r>
            <a:r>
              <a:rPr lang="nl-NL">
                <a:solidFill>
                  <a:srgbClr val="000000"/>
                </a:solidFill>
                <a:latin typeface="Fira Sans Medium" panose="020B0503050000020004" pitchFamily="34" charset="0"/>
              </a:rPr>
              <a:t> </a:t>
            </a:r>
            <a:r>
              <a:rPr lang="nl-NL" err="1">
                <a:solidFill>
                  <a:srgbClr val="000000"/>
                </a:solidFill>
                <a:latin typeface="Fira Sans Medium" panose="020B0503050000020004" pitchFamily="34" charset="0"/>
              </a:rPr>
              <a:t>advice</a:t>
            </a:r>
            <a:r>
              <a:rPr lang="nl-NL" u="none" strike="noStrike">
                <a:solidFill>
                  <a:srgbClr val="000000"/>
                </a:solidFill>
                <a:effectLst/>
                <a:latin typeface="Fira Sans Medium" panose="020B0503050000020004" pitchFamily="34" charset="0"/>
              </a:rPr>
              <a:t>) </a:t>
            </a:r>
            <a:r>
              <a:rPr lang="nl-NL" b="0" i="0" u="none" strike="noStrike">
                <a:solidFill>
                  <a:srgbClr val="000000"/>
                </a:solidFill>
                <a:effectLst/>
              </a:rPr>
              <a:t>nageleefd </a:t>
            </a:r>
            <a:r>
              <a:rPr lang="nl-NL">
                <a:solidFill>
                  <a:srgbClr val="000000"/>
                </a:solidFill>
              </a:rPr>
              <a:t>kunnen </a:t>
            </a:r>
            <a:r>
              <a:rPr lang="nl-NL" b="0" i="0" u="none" strike="noStrike">
                <a:solidFill>
                  <a:srgbClr val="000000"/>
                </a:solidFill>
                <a:effectLst/>
              </a:rPr>
              <a:t>worden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696B969-4BD4-26A1-4A08-CB74F457DA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875" y="1974774"/>
            <a:ext cx="5114250" cy="3766451"/>
          </a:xfrm>
          <a:prstGeom prst="rect">
            <a:avLst/>
          </a:prstGeom>
        </p:spPr>
      </p:pic>
      <p:sp>
        <p:nvSpPr>
          <p:cNvPr id="4" name="Rechthoek 3">
            <a:extLst>
              <a:ext uri="{FF2B5EF4-FFF2-40B4-BE49-F238E27FC236}">
                <a16:creationId xmlns:a16="http://schemas.microsoft.com/office/drawing/2014/main" id="{1DD5FA39-A0C6-AE9A-A6C5-C004B30E655E}"/>
              </a:ext>
            </a:extLst>
          </p:cNvPr>
          <p:cNvSpPr/>
          <p:nvPr/>
        </p:nvSpPr>
        <p:spPr>
          <a:xfrm>
            <a:off x="7001500" y="4238279"/>
            <a:ext cx="200234" cy="21358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>
                <a:solidFill>
                  <a:schemeClr val="bg1"/>
                </a:solidFill>
                <a:latin typeface="Fira Sans" panose="020B0503050000020004" pitchFamily="34" charset="0"/>
              </a:rPr>
              <a:t>7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71589AB-128C-6B3F-3021-88A59A1FB4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245" y="3366040"/>
            <a:ext cx="525613" cy="52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98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DF6B8-7CC2-2432-66E7-3955CA021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6D04C-C7AD-B9B6-F8D2-90DE7A590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latin typeface="Fira Sans SemiBold"/>
              </a:rPr>
              <a:t>8.  </a:t>
            </a:r>
            <a:r>
              <a:rPr lang="en-US" sz="4000" err="1">
                <a:latin typeface="Fira Sans SemiBold"/>
              </a:rPr>
              <a:t>Verwerker</a:t>
            </a:r>
            <a:r>
              <a:rPr lang="en-US" sz="4000">
                <a:latin typeface="Fira Sans SemiBold"/>
              </a:rPr>
              <a:t> </a:t>
            </a:r>
            <a:r>
              <a:rPr lang="en-US" sz="4000" err="1">
                <a:latin typeface="Fira Sans SemiBold"/>
              </a:rPr>
              <a:t>deelt</a:t>
            </a:r>
            <a:r>
              <a:rPr lang="en-US" sz="4000">
                <a:latin typeface="Fira Sans SemiBold"/>
              </a:rPr>
              <a:t> </a:t>
            </a:r>
            <a:r>
              <a:rPr lang="en-US" sz="4000" err="1">
                <a:latin typeface="Fira Sans SemiBold"/>
              </a:rPr>
              <a:t>resultaat</a:t>
            </a:r>
            <a:r>
              <a:rPr lang="en-US" sz="4000">
                <a:latin typeface="Fira Sans SemiBold"/>
              </a:rPr>
              <a:t> met </a:t>
            </a:r>
            <a:r>
              <a:rPr lang="en-US" sz="4000" err="1">
                <a:latin typeface="Fira Sans SemiBold"/>
              </a:rPr>
              <a:t>aanvrager</a:t>
            </a:r>
            <a:endParaRPr lang="en-US" sz="400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016F4BC-79F1-BFA9-0117-E17D3B02E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5984"/>
            <a:ext cx="4640825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 err="1"/>
              <a:t>Aanvrager</a:t>
            </a:r>
            <a:r>
              <a:rPr lang="en-US" sz="2400"/>
              <a:t> </a:t>
            </a:r>
            <a:r>
              <a:rPr lang="en-US" sz="2400" err="1"/>
              <a:t>ontvangt</a:t>
            </a:r>
            <a:r>
              <a:rPr lang="en-US" sz="2400"/>
              <a:t> </a:t>
            </a:r>
            <a:r>
              <a:rPr lang="en-US" sz="2400" err="1"/>
              <a:t>verwerkingsresultaat</a:t>
            </a:r>
            <a:endParaRPr lang="nl-NL" sz="2400"/>
          </a:p>
          <a:p>
            <a:pPr marL="0" indent="0">
              <a:buNone/>
            </a:pPr>
            <a:r>
              <a:rPr lang="nl-NL" sz="2400">
                <a:latin typeface="Fira Sans Medium" panose="020B0503050000020004" pitchFamily="34" charset="0"/>
              </a:rPr>
              <a:t>      Goedgekeurd</a:t>
            </a:r>
            <a:r>
              <a:rPr lang="nl-NL" sz="2400"/>
              <a:t> → </a:t>
            </a:r>
          </a:p>
          <a:p>
            <a:pPr lvl="1"/>
            <a:r>
              <a:rPr lang="nl-NL" sz="2000"/>
              <a:t>Resultaat wordt verstrekt</a:t>
            </a:r>
          </a:p>
          <a:p>
            <a:pPr marL="0" indent="0">
              <a:buNone/>
            </a:pPr>
            <a:r>
              <a:rPr lang="nl-NL" sz="2400"/>
              <a:t>      </a:t>
            </a:r>
            <a:r>
              <a:rPr lang="nl-NL" sz="2400">
                <a:latin typeface="Fira Sans Medium" panose="020B0503050000020004" pitchFamily="34" charset="0"/>
              </a:rPr>
              <a:t>Afgewezen</a:t>
            </a:r>
            <a:r>
              <a:rPr lang="nl-NL" sz="2400"/>
              <a:t> →</a:t>
            </a:r>
          </a:p>
          <a:p>
            <a:pPr lvl="1"/>
            <a:r>
              <a:rPr lang="nl-NL" sz="2000"/>
              <a:t>Reden voor afwijzing</a:t>
            </a:r>
          </a:p>
          <a:p>
            <a:pPr lvl="1"/>
            <a:r>
              <a:rPr lang="nl-NL" sz="2000"/>
              <a:t>Tips voor </a:t>
            </a:r>
            <a:r>
              <a:rPr lang="nl-NL" sz="2000" err="1"/>
              <a:t>herindiening</a:t>
            </a:r>
            <a:r>
              <a:rPr lang="nl-NL" sz="2000"/>
              <a:t> (</a:t>
            </a:r>
            <a:r>
              <a:rPr lang="nl-NL" sz="2000" err="1"/>
              <a:t>step-up</a:t>
            </a:r>
            <a:r>
              <a:rPr lang="nl-NL" sz="2000"/>
              <a:t>)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9373CCF-0960-DD81-3A6D-1E69980C59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875" y="1974774"/>
            <a:ext cx="5114250" cy="3766451"/>
          </a:xfrm>
          <a:prstGeom prst="rect">
            <a:avLst/>
          </a:prstGeom>
        </p:spPr>
      </p:pic>
      <p:sp>
        <p:nvSpPr>
          <p:cNvPr id="4" name="Rechthoek 3">
            <a:extLst>
              <a:ext uri="{FF2B5EF4-FFF2-40B4-BE49-F238E27FC236}">
                <a16:creationId xmlns:a16="http://schemas.microsoft.com/office/drawing/2014/main" id="{FC540B2E-2BB4-BF6F-4AAC-3AB56C9F7037}"/>
              </a:ext>
            </a:extLst>
          </p:cNvPr>
          <p:cNvSpPr/>
          <p:nvPr/>
        </p:nvSpPr>
        <p:spPr>
          <a:xfrm>
            <a:off x="6514265" y="3116971"/>
            <a:ext cx="200234" cy="21358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>
                <a:solidFill>
                  <a:schemeClr val="bg1"/>
                </a:solidFill>
                <a:latin typeface="Fira Sans" panose="020B0503050000020004" pitchFamily="34" charset="0"/>
              </a:rPr>
              <a:t>8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7E48B9B-FC2E-5E77-740A-C0E4C1A2BE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156" y="2854164"/>
            <a:ext cx="438011" cy="52561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DACF624-C5A8-6E78-A10C-AE75939CA2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4015733"/>
            <a:ext cx="438011" cy="43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581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DDE58-DF27-B3D0-D050-BB4394614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3386F-369B-AFDB-8BAC-47F3322F2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Zero trust &amp; </a:t>
            </a:r>
            <a:r>
              <a:rPr lang="nl-NL" err="1"/>
              <a:t>Defense</a:t>
            </a:r>
            <a:r>
              <a:rPr lang="nl-NL"/>
              <a:t> in </a:t>
            </a:r>
            <a:r>
              <a:rPr lang="nl-NL" err="1"/>
              <a:t>depth</a:t>
            </a:r>
            <a:endParaRPr lang="nl-NL" kern="1200" baseline="0">
              <a:latin typeface="Fira Sans SemiBold" panose="020B0503050000020004" pitchFamily="34" charset="0"/>
              <a:ea typeface="+mj-ea"/>
              <a:cs typeface="+mj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54CF678-E1A6-4717-F0A8-1792F36260E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197263" cy="435133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1600"/>
              </a:spcBef>
              <a:buNone/>
            </a:pPr>
            <a:r>
              <a:rPr lang="nl-NL" sz="2200">
                <a:latin typeface="Fira Sans" panose="020B0503050000020004" pitchFamily="34" charset="0"/>
              </a:rPr>
              <a:t>Toegangsbeleid kan op elke stap in de keten worden afgedwongen (</a:t>
            </a:r>
            <a:r>
              <a:rPr lang="nl-NL" sz="2200" err="1">
                <a:latin typeface="Fira Sans" panose="020B0503050000020004" pitchFamily="34" charset="0"/>
              </a:rPr>
              <a:t>enforced</a:t>
            </a:r>
            <a:r>
              <a:rPr lang="nl-NL" sz="2200">
                <a:latin typeface="Fira Sans" panose="020B0503050000020004" pitchFamily="34" charset="0"/>
              </a:rPr>
              <a:t>) voor zero-trust en </a:t>
            </a:r>
            <a:r>
              <a:rPr lang="nl-NL" sz="2200" err="1">
                <a:latin typeface="Fira Sans" panose="020B0503050000020004" pitchFamily="34" charset="0"/>
              </a:rPr>
              <a:t>defense</a:t>
            </a:r>
            <a:r>
              <a:rPr lang="nl-NL" sz="2200">
                <a:latin typeface="Fira Sans" panose="020B0503050000020004" pitchFamily="34" charset="0"/>
              </a:rPr>
              <a:t>-in-</a:t>
            </a:r>
            <a:r>
              <a:rPr lang="nl-NL" sz="2200" err="1">
                <a:latin typeface="Fira Sans" panose="020B0503050000020004" pitchFamily="34" charset="0"/>
              </a:rPr>
              <a:t>depth</a:t>
            </a:r>
            <a:r>
              <a:rPr lang="nl-NL" sz="2200">
                <a:latin typeface="Fira Sans" panose="020B0503050000020004" pitchFamily="34" charset="0"/>
              </a:rPr>
              <a:t>. </a:t>
            </a:r>
            <a:br>
              <a:rPr lang="nl-NL" sz="2200">
                <a:latin typeface="Fira Sans" panose="020B0503050000020004" pitchFamily="34" charset="0"/>
              </a:rPr>
            </a:br>
            <a:br>
              <a:rPr lang="nl-NL" sz="2200">
                <a:latin typeface="Fira Sans" panose="020B0503050000020004" pitchFamily="34" charset="0"/>
              </a:rPr>
            </a:br>
            <a:r>
              <a:rPr lang="nl-NL" sz="2200">
                <a:latin typeface="Fira Sans" panose="020B0503050000020004" pitchFamily="34" charset="0"/>
              </a:rPr>
              <a:t>Denk bijvoorbeeld aan:</a:t>
            </a:r>
          </a:p>
          <a:p>
            <a:pPr>
              <a:lnSpc>
                <a:spcPct val="120000"/>
              </a:lnSpc>
              <a:spcBef>
                <a:spcPts val="1600"/>
              </a:spcBef>
            </a:pPr>
            <a:r>
              <a:rPr lang="nl-NL" sz="2200">
                <a:latin typeface="Fira Sans" panose="020B0503050000020004" pitchFamily="34" charset="0"/>
              </a:rPr>
              <a:t>Identity Providers (scopes)</a:t>
            </a:r>
          </a:p>
          <a:p>
            <a:pPr>
              <a:lnSpc>
                <a:spcPct val="120000"/>
              </a:lnSpc>
              <a:spcBef>
                <a:spcPts val="1600"/>
              </a:spcBef>
            </a:pPr>
            <a:r>
              <a:rPr lang="nl-NL" sz="2200">
                <a:latin typeface="Fira Sans" panose="020B0503050000020004" pitchFamily="34" charset="0"/>
              </a:rPr>
              <a:t>API gateways (routes)</a:t>
            </a:r>
          </a:p>
          <a:p>
            <a:pPr>
              <a:lnSpc>
                <a:spcPct val="120000"/>
              </a:lnSpc>
              <a:spcBef>
                <a:spcPts val="1600"/>
              </a:spcBef>
            </a:pPr>
            <a:r>
              <a:rPr lang="nl-NL" sz="2200">
                <a:latin typeface="Fira Sans" panose="020B0503050000020004" pitchFamily="34" charset="0"/>
              </a:rPr>
              <a:t>Applicaties (fijnmazig)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D1192B84-F6FF-007C-B7B4-882F684B05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77134" y="1859291"/>
            <a:ext cx="6583840" cy="428400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586779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587D2-0B3F-BACC-6747-3B60C8970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5568B-1768-A01C-6350-A21A924EA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93940" cy="1325563"/>
          </a:xfrm>
        </p:spPr>
        <p:txBody>
          <a:bodyPr/>
          <a:lstStyle/>
          <a:p>
            <a:r>
              <a:rPr lang="en-US">
                <a:latin typeface="Fira Sans SemiBold"/>
              </a:rPr>
              <a:t>Manage Centrally, Enforce Locally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1E6B2CC-4741-105C-E916-FDDD4BB97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715984"/>
            <a:ext cx="3314699" cy="435133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nl-NL" sz="2400" b="0" i="0" u="none" strike="noStrike">
                <a:solidFill>
                  <a:srgbClr val="000000"/>
                </a:solidFill>
                <a:effectLst/>
              </a:rPr>
              <a:t>Bij authenticatie zijn </a:t>
            </a:r>
            <a:r>
              <a:rPr lang="nl-NL" sz="2400" b="0" i="0" u="none" strike="noStrike" err="1">
                <a:solidFill>
                  <a:srgbClr val="000000"/>
                </a:solidFill>
                <a:effectLst/>
              </a:rPr>
              <a:t>latenc</a:t>
            </a:r>
            <a:r>
              <a:rPr lang="nl-NL" sz="2400" err="1">
                <a:solidFill>
                  <a:srgbClr val="000000"/>
                </a:solidFill>
              </a:rPr>
              <a:t>ies</a:t>
            </a:r>
            <a:r>
              <a:rPr lang="nl-NL" sz="2400">
                <a:solidFill>
                  <a:srgbClr val="000000"/>
                </a:solidFill>
              </a:rPr>
              <a:t> van 100+ </a:t>
            </a:r>
            <a:r>
              <a:rPr lang="nl-NL" sz="2400" err="1">
                <a:solidFill>
                  <a:srgbClr val="000000"/>
                </a:solidFill>
              </a:rPr>
              <a:t>milli</a:t>
            </a:r>
            <a:r>
              <a:rPr lang="nl-NL" sz="2400">
                <a:solidFill>
                  <a:srgbClr val="000000"/>
                </a:solidFill>
              </a:rPr>
              <a:t>-secondes vaak acceptabel.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nl-NL" sz="2400">
                <a:solidFill>
                  <a:srgbClr val="000000"/>
                </a:solidFill>
              </a:rPr>
              <a:t>Voor autorisatie zijn meestal </a:t>
            </a:r>
            <a:r>
              <a:rPr lang="nl-NL" sz="2400" err="1">
                <a:solidFill>
                  <a:srgbClr val="000000"/>
                </a:solidFill>
              </a:rPr>
              <a:t>latencies</a:t>
            </a:r>
            <a:r>
              <a:rPr lang="nl-NL" sz="2400">
                <a:solidFill>
                  <a:srgbClr val="000000"/>
                </a:solidFill>
              </a:rPr>
              <a:t> van </a:t>
            </a:r>
            <a:r>
              <a:rPr lang="nl-NL" sz="2400" err="1">
                <a:solidFill>
                  <a:srgbClr val="000000"/>
                </a:solidFill>
              </a:rPr>
              <a:t>millisecondes</a:t>
            </a:r>
            <a:r>
              <a:rPr lang="nl-NL" sz="2400">
                <a:solidFill>
                  <a:srgbClr val="000000"/>
                </a:solidFill>
              </a:rPr>
              <a:t> gewenst.</a:t>
            </a:r>
            <a:br>
              <a:rPr lang="nl-NL" sz="2400">
                <a:solidFill>
                  <a:srgbClr val="000000"/>
                </a:solidFill>
              </a:rPr>
            </a:br>
            <a:br>
              <a:rPr lang="nl-NL" sz="2400">
                <a:solidFill>
                  <a:srgbClr val="000000"/>
                </a:solidFill>
              </a:rPr>
            </a:br>
            <a:r>
              <a:rPr lang="nl-NL" sz="2400">
                <a:solidFill>
                  <a:srgbClr val="000000"/>
                </a:solidFill>
              </a:rPr>
              <a:t>Een centrale PDP biedt dus de hoogste actualiteit; maar is vaak te langzaam.</a:t>
            </a:r>
          </a:p>
        </p:txBody>
      </p:sp>
      <p:pic>
        <p:nvPicPr>
          <p:cNvPr id="7" name="Afbeelding 6" descr="Afbeelding met schermopname&#10;&#10;Door AI gegenereerde inhoud is mogelijk onjuist.">
            <a:extLst>
              <a:ext uri="{FF2B5EF4-FFF2-40B4-BE49-F238E27FC236}">
                <a16:creationId xmlns:a16="http://schemas.microsoft.com/office/drawing/2014/main" id="{6B01F42B-3DFE-DA16-CD86-84C24CECC1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00" y="1800000"/>
            <a:ext cx="7772400" cy="479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1083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A1EF1-CB0A-7907-29C8-6D7D27260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5698C-975A-12E7-D464-55E4D8D36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93940" cy="1325563"/>
          </a:xfrm>
        </p:spPr>
        <p:txBody>
          <a:bodyPr/>
          <a:lstStyle/>
          <a:p>
            <a:r>
              <a:rPr lang="en-US">
                <a:latin typeface="Fira Sans SemiBold"/>
              </a:rPr>
              <a:t>Manage Centrally, Enforce Locally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A600F50-9B7E-BDF9-954A-04DDDA426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715984"/>
            <a:ext cx="352085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nl-NL" sz="2400">
                <a:solidFill>
                  <a:srgbClr val="000000"/>
                </a:solidFill>
              </a:rPr>
              <a:t>Daarom wordt vaak een replica van de PDP en PAP naast de applicatie geplaatst.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nl-NL" sz="2400">
                <a:solidFill>
                  <a:srgbClr val="000000"/>
                </a:solidFill>
              </a:rPr>
              <a:t>Deze wordt met de centrale oplossing gesynchroniseerd.</a:t>
            </a:r>
            <a:br>
              <a:rPr lang="nl-NL" sz="2400">
                <a:solidFill>
                  <a:srgbClr val="000000"/>
                </a:solidFill>
              </a:rPr>
            </a:br>
            <a:endParaRPr lang="nl-NL" sz="2400">
              <a:solidFill>
                <a:srgbClr val="000000"/>
              </a:solidFill>
            </a:endParaRP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37174DED-94E3-0426-89BB-65C360AFF7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0" y="1800000"/>
            <a:ext cx="7971610" cy="4794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6322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AF4E1-093C-D9F9-74C3-419AD28E5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6875E-968D-C19C-C3C9-A4F5BF69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93940" cy="1325563"/>
          </a:xfrm>
        </p:spPr>
        <p:txBody>
          <a:bodyPr/>
          <a:lstStyle/>
          <a:p>
            <a:r>
              <a:rPr lang="en-US">
                <a:latin typeface="Fira Sans SemiBold"/>
              </a:rPr>
              <a:t>Manage Centrally, Enforce Locally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FD9B2D7-C97F-1293-9954-D0A7D1985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715984"/>
            <a:ext cx="352085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nl-NL" sz="2400">
                <a:solidFill>
                  <a:srgbClr val="000000"/>
                </a:solidFill>
              </a:rPr>
              <a:t>Als ondersteunende gegevens ook snel beschikbaar kunnen deze ook naar een lokale PIP gerepliceerd worden.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nl-NL" sz="2400">
                <a:solidFill>
                  <a:srgbClr val="000000"/>
                </a:solidFill>
              </a:rPr>
              <a:t>Dit wordt ook wel ‘</a:t>
            </a:r>
            <a:r>
              <a:rPr lang="nl-NL" sz="2400" err="1">
                <a:solidFill>
                  <a:srgbClr val="000000"/>
                </a:solidFill>
              </a:rPr>
              <a:t>stateful</a:t>
            </a:r>
            <a:r>
              <a:rPr lang="nl-NL" sz="2400">
                <a:solidFill>
                  <a:srgbClr val="000000"/>
                </a:solidFill>
              </a:rPr>
              <a:t> EAM’ genoemd en speelt bij </a:t>
            </a:r>
            <a:r>
              <a:rPr lang="nl-NL" sz="2400" err="1">
                <a:solidFill>
                  <a:srgbClr val="000000"/>
                </a:solidFill>
              </a:rPr>
              <a:t>ReBAC</a:t>
            </a:r>
            <a:r>
              <a:rPr lang="nl-NL" sz="2400">
                <a:solidFill>
                  <a:srgbClr val="000000"/>
                </a:solidFill>
              </a:rPr>
              <a:t> oplossingen altijd een grote rol.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76CF1511-274C-A64F-F3D7-CB845AF6EB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0" y="1800000"/>
            <a:ext cx="7422741" cy="479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095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58FC8-5B98-4F7C-CF06-C3C0BC155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A1BF119-495D-3D9C-5FEC-AE56B534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>
                <a:latin typeface="Fira Sans SemiBold"/>
              </a:rPr>
              <a:t>Standaardisering</a:t>
            </a:r>
            <a:endParaRPr lang="nl-NL" noProof="0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C1C3D35-50EB-9C54-A8E6-66D450F42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6970735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96731-FAD2-EA68-FB83-3BC76E9DF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92F23-CDEA-F623-E988-4F71A63A5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latin typeface="Fira Sans SemiBold"/>
              </a:rPr>
              <a:t>Waarom</a:t>
            </a:r>
            <a:r>
              <a:rPr lang="en-US">
                <a:latin typeface="Fira Sans SemiBold"/>
              </a:rPr>
              <a:t> </a:t>
            </a:r>
            <a:r>
              <a:rPr lang="en-US" err="1">
                <a:latin typeface="Fira Sans SemiBold"/>
              </a:rPr>
              <a:t>geen</a:t>
            </a:r>
            <a:r>
              <a:rPr lang="en-US">
                <a:latin typeface="Fira Sans SemiBold"/>
              </a:rPr>
              <a:t> XACML?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07400B5-C2D7-8D75-9F89-7BB54822A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Fira Sans"/>
              </a:rPr>
              <a:t>XACML </a:t>
            </a:r>
            <a:r>
              <a:rPr lang="en-US" err="1">
                <a:latin typeface="Fira Sans"/>
              </a:rPr>
              <a:t>standaardiseert</a:t>
            </a:r>
            <a:r>
              <a:rPr lang="en-US">
                <a:latin typeface="Fira Sans"/>
              </a:rPr>
              <a:t> (</a:t>
            </a:r>
            <a:r>
              <a:rPr lang="en-US" err="1">
                <a:latin typeface="Fira Sans"/>
              </a:rPr>
              <a:t>delen</a:t>
            </a:r>
            <a:r>
              <a:rPr lang="en-US">
                <a:latin typeface="Fira Sans"/>
              </a:rPr>
              <a:t> van) de PDP, PAP, PEP </a:t>
            </a:r>
            <a:r>
              <a:rPr lang="en-US" err="1">
                <a:latin typeface="Fira Sans"/>
              </a:rPr>
              <a:t>én</a:t>
            </a:r>
            <a:r>
              <a:rPr lang="en-US">
                <a:latin typeface="Fira Sans"/>
              </a:rPr>
              <a:t> PIP.</a:t>
            </a:r>
          </a:p>
          <a:p>
            <a:r>
              <a:rPr lang="en-US">
                <a:latin typeface="Fira Sans"/>
              </a:rPr>
              <a:t>De </a:t>
            </a:r>
            <a:r>
              <a:rPr lang="en-US" err="1">
                <a:latin typeface="Fira Sans"/>
              </a:rPr>
              <a:t>bundeling</a:t>
            </a:r>
            <a:r>
              <a:rPr lang="en-US">
                <a:latin typeface="Fira Sans"/>
              </a:rPr>
              <a:t> van policy taal </a:t>
            </a:r>
            <a:r>
              <a:rPr lang="en-US" err="1">
                <a:latin typeface="Fira Sans"/>
              </a:rPr>
              <a:t>vergroot</a:t>
            </a:r>
            <a:r>
              <a:rPr lang="en-US">
                <a:latin typeface="Fira Sans"/>
              </a:rPr>
              <a:t> de </a:t>
            </a:r>
            <a:r>
              <a:rPr lang="en-US" err="1">
                <a:latin typeface="Fira Sans"/>
              </a:rPr>
              <a:t>complexiteit</a:t>
            </a:r>
            <a:r>
              <a:rPr lang="en-US">
                <a:latin typeface="Fira Sans"/>
              </a:rPr>
              <a:t> </a:t>
            </a:r>
            <a:r>
              <a:rPr lang="en-US" err="1">
                <a:latin typeface="Fira Sans"/>
              </a:rPr>
              <a:t>en</a:t>
            </a:r>
            <a:r>
              <a:rPr lang="en-US">
                <a:latin typeface="Fira Sans"/>
              </a:rPr>
              <a:t> </a:t>
            </a:r>
            <a:r>
              <a:rPr lang="en-US" err="1">
                <a:latin typeface="Fira Sans"/>
              </a:rPr>
              <a:t>beperkt</a:t>
            </a:r>
            <a:r>
              <a:rPr lang="en-US">
                <a:latin typeface="Fira Sans"/>
              </a:rPr>
              <a:t> de </a:t>
            </a:r>
            <a:r>
              <a:rPr lang="en-US" err="1">
                <a:latin typeface="Fira Sans"/>
              </a:rPr>
              <a:t>toepasbaarheid</a:t>
            </a:r>
            <a:r>
              <a:rPr lang="en-US">
                <a:latin typeface="Fira Sans"/>
              </a:rPr>
              <a:t> van de </a:t>
            </a:r>
            <a:r>
              <a:rPr lang="en-US" err="1">
                <a:latin typeface="Fira Sans"/>
              </a:rPr>
              <a:t>standaard</a:t>
            </a:r>
            <a:r>
              <a:rPr lang="en-US">
                <a:latin typeface="Fira Sans"/>
              </a:rPr>
              <a:t>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2F96913-EE16-D7DB-CE65-E1F106F7B4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875" y="1974774"/>
            <a:ext cx="5114250" cy="376645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5736B17-E4D8-BBDA-313F-5EDF0CB47FB9}"/>
                  </a:ext>
                </a:extLst>
              </p14:cNvPr>
              <p14:cNvContentPartPr/>
              <p14:nvPr/>
            </p14:nvContentPartPr>
            <p14:xfrm>
              <a:off x="7635549" y="2107543"/>
              <a:ext cx="3594960" cy="24721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5736B17-E4D8-BBDA-313F-5EDF0CB47FB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26549" y="2098544"/>
                <a:ext cx="3612600" cy="24897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32741D1-8A9F-C74D-5A2D-80341727A6D4}"/>
                  </a:ext>
                </a:extLst>
              </p14:cNvPr>
              <p14:cNvContentPartPr/>
              <p14:nvPr/>
            </p14:nvContentPartPr>
            <p14:xfrm>
              <a:off x="9013269" y="2596423"/>
              <a:ext cx="213840" cy="3430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32741D1-8A9F-C74D-5A2D-80341727A6D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04269" y="2587414"/>
                <a:ext cx="231480" cy="3607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9B5523A-7FBE-3E06-EE82-07EFC6A643A7}"/>
                  </a:ext>
                </a:extLst>
              </p14:cNvPr>
              <p14:cNvContentPartPr/>
              <p14:nvPr/>
            </p14:nvContentPartPr>
            <p14:xfrm>
              <a:off x="7671909" y="2083783"/>
              <a:ext cx="3528360" cy="25110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9B5523A-7FBE-3E06-EE82-07EFC6A643A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662909" y="2074783"/>
                <a:ext cx="3546000" cy="252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83345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568D7-9D48-E23F-2947-47EB33886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0EBE7-3A77-5C8E-6359-0BA67433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>
                <a:latin typeface="Fira Sans SemiBold"/>
              </a:rPr>
              <a:t>Wat wel standaardiseren?</a:t>
            </a:r>
            <a:endParaRPr lang="en-US" sz="4000" dirty="0">
              <a:latin typeface="Fira Sans SemiBold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3379B42-4B7C-286F-A089-F1850DE45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875" y="1974774"/>
            <a:ext cx="5114250" cy="3766451"/>
          </a:xfrm>
          <a:prstGeom prst="rect">
            <a:avLst/>
          </a:prstGeom>
        </p:spPr>
      </p:pic>
      <p:sp>
        <p:nvSpPr>
          <p:cNvPr id="5" name="Vrije vorm 10">
            <a:extLst>
              <a:ext uri="{FF2B5EF4-FFF2-40B4-BE49-F238E27FC236}">
                <a16:creationId xmlns:a16="http://schemas.microsoft.com/office/drawing/2014/main" id="{6EC3483A-3863-D279-77F7-5BFD9CD00CF8}"/>
              </a:ext>
            </a:extLst>
          </p:cNvPr>
          <p:cNvSpPr/>
          <p:nvPr/>
        </p:nvSpPr>
        <p:spPr>
          <a:xfrm rot="20228381">
            <a:off x="9351479" y="1995104"/>
            <a:ext cx="1553408" cy="1038363"/>
          </a:xfrm>
          <a:custGeom>
            <a:avLst/>
            <a:gdLst>
              <a:gd name="csX0" fmla="*/ 649351 w 1553408"/>
              <a:gd name="csY0" fmla="*/ 58876 h 1038363"/>
              <a:gd name="csX1" fmla="*/ 609392 w 1553408"/>
              <a:gd name="csY1" fmla="*/ 21409 h 1038363"/>
              <a:gd name="csX2" fmla="*/ 579424 w 1553408"/>
              <a:gd name="csY2" fmla="*/ 10704 h 1038363"/>
              <a:gd name="csX3" fmla="*/ 514492 w 1553408"/>
              <a:gd name="csY3" fmla="*/ 0 h 1038363"/>
              <a:gd name="csX4" fmla="*/ 384627 w 1553408"/>
              <a:gd name="csY4" fmla="*/ 10704 h 1038363"/>
              <a:gd name="csX5" fmla="*/ 209810 w 1553408"/>
              <a:gd name="csY5" fmla="*/ 90990 h 1038363"/>
              <a:gd name="csX6" fmla="*/ 184836 w 1553408"/>
              <a:gd name="csY6" fmla="*/ 107047 h 1038363"/>
              <a:gd name="csX7" fmla="*/ 149873 w 1553408"/>
              <a:gd name="csY7" fmla="*/ 149867 h 1038363"/>
              <a:gd name="csX8" fmla="*/ 129893 w 1553408"/>
              <a:gd name="csY8" fmla="*/ 171276 h 1038363"/>
              <a:gd name="csX9" fmla="*/ 99924 w 1553408"/>
              <a:gd name="csY9" fmla="*/ 224800 h 1038363"/>
              <a:gd name="csX10" fmla="*/ 79945 w 1553408"/>
              <a:gd name="csY10" fmla="*/ 251561 h 1038363"/>
              <a:gd name="csX11" fmla="*/ 54971 w 1553408"/>
              <a:gd name="csY11" fmla="*/ 321143 h 1038363"/>
              <a:gd name="csX12" fmla="*/ 39987 w 1553408"/>
              <a:gd name="csY12" fmla="*/ 358610 h 1038363"/>
              <a:gd name="csX13" fmla="*/ 29998 w 1553408"/>
              <a:gd name="csY13" fmla="*/ 401428 h 1038363"/>
              <a:gd name="csX14" fmla="*/ 10018 w 1553408"/>
              <a:gd name="csY14" fmla="*/ 476362 h 1038363"/>
              <a:gd name="csX15" fmla="*/ 29 w 1553408"/>
              <a:gd name="csY15" fmla="*/ 556648 h 1038363"/>
              <a:gd name="csX16" fmla="*/ 5024 w 1553408"/>
              <a:gd name="csY16" fmla="*/ 701162 h 1038363"/>
              <a:gd name="csX17" fmla="*/ 25002 w 1553408"/>
              <a:gd name="csY17" fmla="*/ 765391 h 1038363"/>
              <a:gd name="csX18" fmla="*/ 79945 w 1553408"/>
              <a:gd name="csY18" fmla="*/ 861734 h 1038363"/>
              <a:gd name="csX19" fmla="*/ 129893 w 1553408"/>
              <a:gd name="csY19" fmla="*/ 915258 h 1038363"/>
              <a:gd name="csX20" fmla="*/ 159862 w 1553408"/>
              <a:gd name="csY20" fmla="*/ 942020 h 1038363"/>
              <a:gd name="csX21" fmla="*/ 274742 w 1553408"/>
              <a:gd name="csY21" fmla="*/ 995543 h 1038363"/>
              <a:gd name="csX22" fmla="*/ 369643 w 1553408"/>
              <a:gd name="csY22" fmla="*/ 1022306 h 1038363"/>
              <a:gd name="csX23" fmla="*/ 469539 w 1553408"/>
              <a:gd name="csY23" fmla="*/ 1033010 h 1038363"/>
              <a:gd name="csX24" fmla="*/ 524482 w 1553408"/>
              <a:gd name="csY24" fmla="*/ 1038363 h 1038363"/>
              <a:gd name="csX25" fmla="*/ 739257 w 1553408"/>
              <a:gd name="csY25" fmla="*/ 1033010 h 1038363"/>
              <a:gd name="csX26" fmla="*/ 844148 w 1553408"/>
              <a:gd name="csY26" fmla="*/ 1011601 h 1038363"/>
              <a:gd name="csX27" fmla="*/ 1003981 w 1553408"/>
              <a:gd name="csY27" fmla="*/ 968781 h 1038363"/>
              <a:gd name="csX28" fmla="*/ 1108872 w 1553408"/>
              <a:gd name="csY28" fmla="*/ 920610 h 1038363"/>
              <a:gd name="csX29" fmla="*/ 1253720 w 1553408"/>
              <a:gd name="csY29" fmla="*/ 840324 h 1038363"/>
              <a:gd name="csX30" fmla="*/ 1298673 w 1553408"/>
              <a:gd name="csY30" fmla="*/ 802857 h 1038363"/>
              <a:gd name="csX31" fmla="*/ 1383584 w 1553408"/>
              <a:gd name="csY31" fmla="*/ 733276 h 1038363"/>
              <a:gd name="csX32" fmla="*/ 1453512 w 1553408"/>
              <a:gd name="csY32" fmla="*/ 658343 h 1038363"/>
              <a:gd name="csX33" fmla="*/ 1538423 w 1553408"/>
              <a:gd name="csY33" fmla="*/ 487066 h 1038363"/>
              <a:gd name="csX34" fmla="*/ 1553408 w 1553408"/>
              <a:gd name="csY34" fmla="*/ 396076 h 1038363"/>
              <a:gd name="csX35" fmla="*/ 1533428 w 1553408"/>
              <a:gd name="csY35" fmla="*/ 262266 h 1038363"/>
              <a:gd name="csX36" fmla="*/ 1488475 w 1553408"/>
              <a:gd name="csY36" fmla="*/ 181981 h 1038363"/>
              <a:gd name="csX37" fmla="*/ 1453512 w 1553408"/>
              <a:gd name="csY37" fmla="*/ 144514 h 1038363"/>
              <a:gd name="csX38" fmla="*/ 1373595 w 1553408"/>
              <a:gd name="csY38" fmla="*/ 90990 h 1038363"/>
              <a:gd name="csX39" fmla="*/ 1208767 w 1553408"/>
              <a:gd name="csY39" fmla="*/ 37466 h 1038363"/>
              <a:gd name="csX40" fmla="*/ 1148830 w 1553408"/>
              <a:gd name="csY40" fmla="*/ 32114 h 1038363"/>
              <a:gd name="csX41" fmla="*/ 1028955 w 1553408"/>
              <a:gd name="csY41" fmla="*/ 26761 h 1038363"/>
              <a:gd name="csX42" fmla="*/ 799195 w 1553408"/>
              <a:gd name="csY42" fmla="*/ 74933 h 1038363"/>
              <a:gd name="csX43" fmla="*/ 634367 w 1553408"/>
              <a:gd name="csY43" fmla="*/ 139162 h 1038363"/>
              <a:gd name="csX44" fmla="*/ 474533 w 1553408"/>
              <a:gd name="csY44" fmla="*/ 230153 h 1038363"/>
              <a:gd name="csX45" fmla="*/ 344669 w 1553408"/>
              <a:gd name="csY45" fmla="*/ 326495 h 1038363"/>
              <a:gd name="csX46" fmla="*/ 254763 w 1553408"/>
              <a:gd name="csY46" fmla="*/ 422838 h 10383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</a:cxnLst>
            <a:rect l="l" t="t" r="r" b="b"/>
            <a:pathLst>
              <a:path w="1553408" h="1038363" extrusionOk="0">
                <a:moveTo>
                  <a:pt x="649351" y="58876"/>
                </a:moveTo>
                <a:cubicBezTo>
                  <a:pt x="633486" y="44817"/>
                  <a:pt x="620362" y="33136"/>
                  <a:pt x="609392" y="21409"/>
                </a:cubicBezTo>
                <a:cubicBezTo>
                  <a:pt x="601195" y="15446"/>
                  <a:pt x="586654" y="14038"/>
                  <a:pt x="579424" y="10704"/>
                </a:cubicBezTo>
                <a:cubicBezTo>
                  <a:pt x="552464" y="4009"/>
                  <a:pt x="545784" y="5746"/>
                  <a:pt x="514492" y="0"/>
                </a:cubicBezTo>
                <a:cubicBezTo>
                  <a:pt x="467770" y="1689"/>
                  <a:pt x="428685" y="1832"/>
                  <a:pt x="384627" y="10704"/>
                </a:cubicBezTo>
                <a:cubicBezTo>
                  <a:pt x="273399" y="36428"/>
                  <a:pt x="280743" y="40344"/>
                  <a:pt x="209810" y="90990"/>
                </a:cubicBezTo>
                <a:cubicBezTo>
                  <a:pt x="199102" y="96227"/>
                  <a:pt x="190462" y="101459"/>
                  <a:pt x="184836" y="107047"/>
                </a:cubicBezTo>
                <a:cubicBezTo>
                  <a:pt x="171378" y="115943"/>
                  <a:pt x="159495" y="139133"/>
                  <a:pt x="149873" y="149867"/>
                </a:cubicBezTo>
                <a:cubicBezTo>
                  <a:pt x="144668" y="157956"/>
                  <a:pt x="135845" y="163179"/>
                  <a:pt x="129893" y="171276"/>
                </a:cubicBezTo>
                <a:cubicBezTo>
                  <a:pt x="117143" y="187970"/>
                  <a:pt x="115389" y="211281"/>
                  <a:pt x="99924" y="224800"/>
                </a:cubicBezTo>
                <a:cubicBezTo>
                  <a:pt x="94552" y="235636"/>
                  <a:pt x="85367" y="242212"/>
                  <a:pt x="79945" y="251561"/>
                </a:cubicBezTo>
                <a:cubicBezTo>
                  <a:pt x="67567" y="277651"/>
                  <a:pt x="66738" y="298594"/>
                  <a:pt x="54971" y="321143"/>
                </a:cubicBezTo>
                <a:cubicBezTo>
                  <a:pt x="53344" y="331265"/>
                  <a:pt x="44454" y="343570"/>
                  <a:pt x="39987" y="358610"/>
                </a:cubicBezTo>
                <a:cubicBezTo>
                  <a:pt x="34008" y="372836"/>
                  <a:pt x="30905" y="385367"/>
                  <a:pt x="29998" y="401428"/>
                </a:cubicBezTo>
                <a:cubicBezTo>
                  <a:pt x="23618" y="426490"/>
                  <a:pt x="10018" y="476361"/>
                  <a:pt x="10018" y="476362"/>
                </a:cubicBezTo>
                <a:cubicBezTo>
                  <a:pt x="8842" y="484868"/>
                  <a:pt x="-267" y="549912"/>
                  <a:pt x="29" y="556648"/>
                </a:cubicBezTo>
                <a:cubicBezTo>
                  <a:pt x="-2674" y="609686"/>
                  <a:pt x="6111" y="658407"/>
                  <a:pt x="5024" y="701162"/>
                </a:cubicBezTo>
                <a:cubicBezTo>
                  <a:pt x="7512" y="728057"/>
                  <a:pt x="17611" y="744004"/>
                  <a:pt x="25002" y="765391"/>
                </a:cubicBezTo>
                <a:cubicBezTo>
                  <a:pt x="35707" y="804316"/>
                  <a:pt x="50579" y="837341"/>
                  <a:pt x="79945" y="861734"/>
                </a:cubicBezTo>
                <a:cubicBezTo>
                  <a:pt x="98135" y="882625"/>
                  <a:pt x="110284" y="899283"/>
                  <a:pt x="129893" y="915258"/>
                </a:cubicBezTo>
                <a:cubicBezTo>
                  <a:pt x="139925" y="921670"/>
                  <a:pt x="146482" y="933936"/>
                  <a:pt x="159862" y="942020"/>
                </a:cubicBezTo>
                <a:cubicBezTo>
                  <a:pt x="203460" y="975270"/>
                  <a:pt x="232055" y="980345"/>
                  <a:pt x="274742" y="995543"/>
                </a:cubicBezTo>
                <a:cubicBezTo>
                  <a:pt x="308193" y="1014492"/>
                  <a:pt x="327248" y="1011602"/>
                  <a:pt x="369643" y="1022306"/>
                </a:cubicBezTo>
                <a:cubicBezTo>
                  <a:pt x="408232" y="1028742"/>
                  <a:pt x="435941" y="1023557"/>
                  <a:pt x="469539" y="1033010"/>
                </a:cubicBezTo>
                <a:cubicBezTo>
                  <a:pt x="485387" y="1032275"/>
                  <a:pt x="504716" y="1037513"/>
                  <a:pt x="524482" y="1038363"/>
                </a:cubicBezTo>
                <a:cubicBezTo>
                  <a:pt x="584844" y="1032732"/>
                  <a:pt x="660233" y="1046712"/>
                  <a:pt x="739257" y="1033010"/>
                </a:cubicBezTo>
                <a:cubicBezTo>
                  <a:pt x="771446" y="1037092"/>
                  <a:pt x="812809" y="1014278"/>
                  <a:pt x="844148" y="1011601"/>
                </a:cubicBezTo>
                <a:cubicBezTo>
                  <a:pt x="909832" y="1005561"/>
                  <a:pt x="948724" y="991412"/>
                  <a:pt x="1003981" y="968781"/>
                </a:cubicBezTo>
                <a:cubicBezTo>
                  <a:pt x="1050002" y="952352"/>
                  <a:pt x="1063215" y="941637"/>
                  <a:pt x="1108872" y="920610"/>
                </a:cubicBezTo>
                <a:cubicBezTo>
                  <a:pt x="1103656" y="918929"/>
                  <a:pt x="1231773" y="859765"/>
                  <a:pt x="1253720" y="840324"/>
                </a:cubicBezTo>
                <a:cubicBezTo>
                  <a:pt x="1274827" y="827634"/>
                  <a:pt x="1282756" y="818424"/>
                  <a:pt x="1298673" y="802857"/>
                </a:cubicBezTo>
                <a:cubicBezTo>
                  <a:pt x="1357001" y="768028"/>
                  <a:pt x="1335877" y="783917"/>
                  <a:pt x="1383584" y="733276"/>
                </a:cubicBezTo>
                <a:cubicBezTo>
                  <a:pt x="1402112" y="712319"/>
                  <a:pt x="1431997" y="682246"/>
                  <a:pt x="1453512" y="658343"/>
                </a:cubicBezTo>
                <a:cubicBezTo>
                  <a:pt x="1478354" y="603122"/>
                  <a:pt x="1528777" y="559575"/>
                  <a:pt x="1538423" y="487066"/>
                </a:cubicBezTo>
                <a:cubicBezTo>
                  <a:pt x="1547507" y="455258"/>
                  <a:pt x="1549885" y="433825"/>
                  <a:pt x="1553408" y="396076"/>
                </a:cubicBezTo>
                <a:cubicBezTo>
                  <a:pt x="1555866" y="366324"/>
                  <a:pt x="1547341" y="300378"/>
                  <a:pt x="1533428" y="262266"/>
                </a:cubicBezTo>
                <a:cubicBezTo>
                  <a:pt x="1525406" y="240122"/>
                  <a:pt x="1507269" y="204089"/>
                  <a:pt x="1488475" y="181981"/>
                </a:cubicBezTo>
                <a:cubicBezTo>
                  <a:pt x="1474472" y="169176"/>
                  <a:pt x="1465912" y="158139"/>
                  <a:pt x="1453512" y="144514"/>
                </a:cubicBezTo>
                <a:cubicBezTo>
                  <a:pt x="1428657" y="123820"/>
                  <a:pt x="1399356" y="109457"/>
                  <a:pt x="1373595" y="90990"/>
                </a:cubicBezTo>
                <a:cubicBezTo>
                  <a:pt x="1342020" y="74773"/>
                  <a:pt x="1225105" y="38129"/>
                  <a:pt x="1208767" y="37466"/>
                </a:cubicBezTo>
                <a:cubicBezTo>
                  <a:pt x="1188769" y="34264"/>
                  <a:pt x="1172506" y="34561"/>
                  <a:pt x="1148830" y="32114"/>
                </a:cubicBezTo>
                <a:cubicBezTo>
                  <a:pt x="1108121" y="28196"/>
                  <a:pt x="1079869" y="26459"/>
                  <a:pt x="1028955" y="26761"/>
                </a:cubicBezTo>
                <a:cubicBezTo>
                  <a:pt x="958185" y="32722"/>
                  <a:pt x="854739" y="41245"/>
                  <a:pt x="799195" y="74933"/>
                </a:cubicBezTo>
                <a:cubicBezTo>
                  <a:pt x="743515" y="87010"/>
                  <a:pt x="691626" y="121745"/>
                  <a:pt x="634367" y="139162"/>
                </a:cubicBezTo>
                <a:cubicBezTo>
                  <a:pt x="559590" y="184014"/>
                  <a:pt x="529248" y="190404"/>
                  <a:pt x="474533" y="230153"/>
                </a:cubicBezTo>
                <a:cubicBezTo>
                  <a:pt x="469644" y="237804"/>
                  <a:pt x="368969" y="308180"/>
                  <a:pt x="344669" y="326495"/>
                </a:cubicBezTo>
                <a:cubicBezTo>
                  <a:pt x="313526" y="357300"/>
                  <a:pt x="254763" y="422838"/>
                  <a:pt x="254763" y="422838"/>
                </a:cubicBezTo>
              </a:path>
            </a:pathLst>
          </a:custGeom>
          <a:noFill/>
          <a:ln w="22225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867718 w 2075794"/>
                      <a:gd name="connsiteY0" fmla="*/ 73419 h 1294844"/>
                      <a:gd name="connsiteX1" fmla="*/ 814322 w 2075794"/>
                      <a:gd name="connsiteY1" fmla="*/ 26698 h 1294844"/>
                      <a:gd name="connsiteX2" fmla="*/ 774276 w 2075794"/>
                      <a:gd name="connsiteY2" fmla="*/ 13349 h 1294844"/>
                      <a:gd name="connsiteX3" fmla="*/ 687508 w 2075794"/>
                      <a:gd name="connsiteY3" fmla="*/ 0 h 1294844"/>
                      <a:gd name="connsiteX4" fmla="*/ 513972 w 2075794"/>
                      <a:gd name="connsiteY4" fmla="*/ 13349 h 1294844"/>
                      <a:gd name="connsiteX5" fmla="*/ 280366 w 2075794"/>
                      <a:gd name="connsiteY5" fmla="*/ 113466 h 1294844"/>
                      <a:gd name="connsiteX6" fmla="*/ 246994 w 2075794"/>
                      <a:gd name="connsiteY6" fmla="*/ 133489 h 1294844"/>
                      <a:gd name="connsiteX7" fmla="*/ 200273 w 2075794"/>
                      <a:gd name="connsiteY7" fmla="*/ 186885 h 1294844"/>
                      <a:gd name="connsiteX8" fmla="*/ 173575 w 2075794"/>
                      <a:gd name="connsiteY8" fmla="*/ 213583 h 1294844"/>
                      <a:gd name="connsiteX9" fmla="*/ 133528 w 2075794"/>
                      <a:gd name="connsiteY9" fmla="*/ 280327 h 1294844"/>
                      <a:gd name="connsiteX10" fmla="*/ 106830 w 2075794"/>
                      <a:gd name="connsiteY10" fmla="*/ 313699 h 1294844"/>
                      <a:gd name="connsiteX11" fmla="*/ 73458 w 2075794"/>
                      <a:gd name="connsiteY11" fmla="*/ 400467 h 1294844"/>
                      <a:gd name="connsiteX12" fmla="*/ 53435 w 2075794"/>
                      <a:gd name="connsiteY12" fmla="*/ 447189 h 1294844"/>
                      <a:gd name="connsiteX13" fmla="*/ 40086 w 2075794"/>
                      <a:gd name="connsiteY13" fmla="*/ 500584 h 1294844"/>
                      <a:gd name="connsiteX14" fmla="*/ 13388 w 2075794"/>
                      <a:gd name="connsiteY14" fmla="*/ 594026 h 1294844"/>
                      <a:gd name="connsiteX15" fmla="*/ 39 w 2075794"/>
                      <a:gd name="connsiteY15" fmla="*/ 694143 h 1294844"/>
                      <a:gd name="connsiteX16" fmla="*/ 6714 w 2075794"/>
                      <a:gd name="connsiteY16" fmla="*/ 874353 h 1294844"/>
                      <a:gd name="connsiteX17" fmla="*/ 33411 w 2075794"/>
                      <a:gd name="connsiteY17" fmla="*/ 954447 h 1294844"/>
                      <a:gd name="connsiteX18" fmla="*/ 106830 w 2075794"/>
                      <a:gd name="connsiteY18" fmla="*/ 1074587 h 1294844"/>
                      <a:gd name="connsiteX19" fmla="*/ 173575 w 2075794"/>
                      <a:gd name="connsiteY19" fmla="*/ 1141332 h 1294844"/>
                      <a:gd name="connsiteX20" fmla="*/ 213622 w 2075794"/>
                      <a:gd name="connsiteY20" fmla="*/ 1174704 h 1294844"/>
                      <a:gd name="connsiteX21" fmla="*/ 367134 w 2075794"/>
                      <a:gd name="connsiteY21" fmla="*/ 1241448 h 1294844"/>
                      <a:gd name="connsiteX22" fmla="*/ 493949 w 2075794"/>
                      <a:gd name="connsiteY22" fmla="*/ 1274821 h 1294844"/>
                      <a:gd name="connsiteX23" fmla="*/ 627438 w 2075794"/>
                      <a:gd name="connsiteY23" fmla="*/ 1288170 h 1294844"/>
                      <a:gd name="connsiteX24" fmla="*/ 700857 w 2075794"/>
                      <a:gd name="connsiteY24" fmla="*/ 1294844 h 1294844"/>
                      <a:gd name="connsiteX25" fmla="*/ 987858 w 2075794"/>
                      <a:gd name="connsiteY25" fmla="*/ 1288170 h 1294844"/>
                      <a:gd name="connsiteX26" fmla="*/ 1128022 w 2075794"/>
                      <a:gd name="connsiteY26" fmla="*/ 1261472 h 1294844"/>
                      <a:gd name="connsiteX27" fmla="*/ 1341604 w 2075794"/>
                      <a:gd name="connsiteY27" fmla="*/ 1208076 h 1294844"/>
                      <a:gd name="connsiteX28" fmla="*/ 1481768 w 2075794"/>
                      <a:gd name="connsiteY28" fmla="*/ 1148006 h 1294844"/>
                      <a:gd name="connsiteX29" fmla="*/ 1675327 w 2075794"/>
                      <a:gd name="connsiteY29" fmla="*/ 1047889 h 1294844"/>
                      <a:gd name="connsiteX30" fmla="*/ 1735397 w 2075794"/>
                      <a:gd name="connsiteY30" fmla="*/ 1001168 h 1294844"/>
                      <a:gd name="connsiteX31" fmla="*/ 1848862 w 2075794"/>
                      <a:gd name="connsiteY31" fmla="*/ 914400 h 1294844"/>
                      <a:gd name="connsiteX32" fmla="*/ 1942305 w 2075794"/>
                      <a:gd name="connsiteY32" fmla="*/ 820958 h 1294844"/>
                      <a:gd name="connsiteX33" fmla="*/ 2055771 w 2075794"/>
                      <a:gd name="connsiteY33" fmla="*/ 607375 h 1294844"/>
                      <a:gd name="connsiteX34" fmla="*/ 2075794 w 2075794"/>
                      <a:gd name="connsiteY34" fmla="*/ 493910 h 1294844"/>
                      <a:gd name="connsiteX35" fmla="*/ 2049096 w 2075794"/>
                      <a:gd name="connsiteY35" fmla="*/ 327048 h 1294844"/>
                      <a:gd name="connsiteX36" fmla="*/ 1989026 w 2075794"/>
                      <a:gd name="connsiteY36" fmla="*/ 226932 h 1294844"/>
                      <a:gd name="connsiteX37" fmla="*/ 1942305 w 2075794"/>
                      <a:gd name="connsiteY37" fmla="*/ 180210 h 1294844"/>
                      <a:gd name="connsiteX38" fmla="*/ 1835514 w 2075794"/>
                      <a:gd name="connsiteY38" fmla="*/ 113466 h 1294844"/>
                      <a:gd name="connsiteX39" fmla="*/ 1615257 w 2075794"/>
                      <a:gd name="connsiteY39" fmla="*/ 46721 h 1294844"/>
                      <a:gd name="connsiteX40" fmla="*/ 1535163 w 2075794"/>
                      <a:gd name="connsiteY40" fmla="*/ 40047 h 1294844"/>
                      <a:gd name="connsiteX41" fmla="*/ 1374976 w 2075794"/>
                      <a:gd name="connsiteY41" fmla="*/ 33372 h 1294844"/>
                      <a:gd name="connsiteX42" fmla="*/ 1067952 w 2075794"/>
                      <a:gd name="connsiteY42" fmla="*/ 93443 h 1294844"/>
                      <a:gd name="connsiteX43" fmla="*/ 847695 w 2075794"/>
                      <a:gd name="connsiteY43" fmla="*/ 173536 h 1294844"/>
                      <a:gd name="connsiteX44" fmla="*/ 634112 w 2075794"/>
                      <a:gd name="connsiteY44" fmla="*/ 287002 h 1294844"/>
                      <a:gd name="connsiteX45" fmla="*/ 460576 w 2075794"/>
                      <a:gd name="connsiteY45" fmla="*/ 407142 h 1294844"/>
                      <a:gd name="connsiteX46" fmla="*/ 340436 w 2075794"/>
                      <a:gd name="connsiteY46" fmla="*/ 527282 h 12948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</a:cxnLst>
                    <a:rect l="l" t="t" r="r" b="b"/>
                    <a:pathLst>
                      <a:path w="2075794" h="1294844">
                        <a:moveTo>
                          <a:pt x="867718" y="73419"/>
                        </a:moveTo>
                        <a:cubicBezTo>
                          <a:pt x="849919" y="57845"/>
                          <a:pt x="834216" y="39487"/>
                          <a:pt x="814322" y="26698"/>
                        </a:cubicBezTo>
                        <a:cubicBezTo>
                          <a:pt x="802486" y="19089"/>
                          <a:pt x="787753" y="17392"/>
                          <a:pt x="774276" y="13349"/>
                        </a:cubicBezTo>
                        <a:cubicBezTo>
                          <a:pt x="740278" y="3150"/>
                          <a:pt x="729801" y="4700"/>
                          <a:pt x="687508" y="0"/>
                        </a:cubicBezTo>
                        <a:cubicBezTo>
                          <a:pt x="629663" y="4450"/>
                          <a:pt x="570732" y="1342"/>
                          <a:pt x="513972" y="13349"/>
                        </a:cubicBezTo>
                        <a:cubicBezTo>
                          <a:pt x="363364" y="45208"/>
                          <a:pt x="373414" y="53649"/>
                          <a:pt x="280366" y="113466"/>
                        </a:cubicBezTo>
                        <a:cubicBezTo>
                          <a:pt x="269454" y="120481"/>
                          <a:pt x="256557" y="124723"/>
                          <a:pt x="246994" y="133489"/>
                        </a:cubicBezTo>
                        <a:cubicBezTo>
                          <a:pt x="229560" y="149470"/>
                          <a:pt x="216254" y="169451"/>
                          <a:pt x="200273" y="186885"/>
                        </a:cubicBezTo>
                        <a:cubicBezTo>
                          <a:pt x="191769" y="196163"/>
                          <a:pt x="180890" y="203342"/>
                          <a:pt x="173575" y="213583"/>
                        </a:cubicBezTo>
                        <a:cubicBezTo>
                          <a:pt x="158494" y="234696"/>
                          <a:pt x="149736" y="260067"/>
                          <a:pt x="133528" y="280327"/>
                        </a:cubicBezTo>
                        <a:cubicBezTo>
                          <a:pt x="124629" y="291451"/>
                          <a:pt x="114008" y="301394"/>
                          <a:pt x="106830" y="313699"/>
                        </a:cubicBezTo>
                        <a:cubicBezTo>
                          <a:pt x="88964" y="344327"/>
                          <a:pt x="85772" y="368451"/>
                          <a:pt x="73458" y="400467"/>
                        </a:cubicBezTo>
                        <a:cubicBezTo>
                          <a:pt x="67376" y="416282"/>
                          <a:pt x="58793" y="431115"/>
                          <a:pt x="53435" y="447189"/>
                        </a:cubicBezTo>
                        <a:cubicBezTo>
                          <a:pt x="47633" y="464594"/>
                          <a:pt x="44913" y="482884"/>
                          <a:pt x="40086" y="500584"/>
                        </a:cubicBezTo>
                        <a:cubicBezTo>
                          <a:pt x="31563" y="531836"/>
                          <a:pt x="13388" y="594026"/>
                          <a:pt x="13388" y="594026"/>
                        </a:cubicBezTo>
                        <a:cubicBezTo>
                          <a:pt x="11744" y="605537"/>
                          <a:pt x="39" y="685528"/>
                          <a:pt x="39" y="694143"/>
                        </a:cubicBezTo>
                        <a:cubicBezTo>
                          <a:pt x="39" y="754254"/>
                          <a:pt x="-930" y="814730"/>
                          <a:pt x="6714" y="874353"/>
                        </a:cubicBezTo>
                        <a:cubicBezTo>
                          <a:pt x="10293" y="902267"/>
                          <a:pt x="20825" y="929276"/>
                          <a:pt x="33411" y="954447"/>
                        </a:cubicBezTo>
                        <a:cubicBezTo>
                          <a:pt x="53440" y="994505"/>
                          <a:pt x="75995" y="1043752"/>
                          <a:pt x="106830" y="1074587"/>
                        </a:cubicBezTo>
                        <a:cubicBezTo>
                          <a:pt x="129078" y="1096835"/>
                          <a:pt x="150621" y="1119813"/>
                          <a:pt x="173575" y="1141332"/>
                        </a:cubicBezTo>
                        <a:cubicBezTo>
                          <a:pt x="186252" y="1153216"/>
                          <a:pt x="199335" y="1164813"/>
                          <a:pt x="213622" y="1174704"/>
                        </a:cubicBezTo>
                        <a:cubicBezTo>
                          <a:pt x="261720" y="1208003"/>
                          <a:pt x="310591" y="1221092"/>
                          <a:pt x="367134" y="1241448"/>
                        </a:cubicBezTo>
                        <a:cubicBezTo>
                          <a:pt x="415209" y="1258755"/>
                          <a:pt x="442540" y="1267966"/>
                          <a:pt x="493949" y="1274821"/>
                        </a:cubicBezTo>
                        <a:cubicBezTo>
                          <a:pt x="538275" y="1280731"/>
                          <a:pt x="582928" y="1283863"/>
                          <a:pt x="627438" y="1288170"/>
                        </a:cubicBezTo>
                        <a:lnTo>
                          <a:pt x="700857" y="1294844"/>
                        </a:lnTo>
                        <a:cubicBezTo>
                          <a:pt x="796524" y="1292619"/>
                          <a:pt x="892456" y="1295623"/>
                          <a:pt x="987858" y="1288170"/>
                        </a:cubicBezTo>
                        <a:cubicBezTo>
                          <a:pt x="1035275" y="1284466"/>
                          <a:pt x="1081275" y="1270237"/>
                          <a:pt x="1128022" y="1261472"/>
                        </a:cubicBezTo>
                        <a:cubicBezTo>
                          <a:pt x="1207316" y="1246604"/>
                          <a:pt x="1259435" y="1240944"/>
                          <a:pt x="1341604" y="1208076"/>
                        </a:cubicBezTo>
                        <a:cubicBezTo>
                          <a:pt x="1403623" y="1183268"/>
                          <a:pt x="1419838" y="1177972"/>
                          <a:pt x="1481768" y="1148006"/>
                        </a:cubicBezTo>
                        <a:cubicBezTo>
                          <a:pt x="1485439" y="1146230"/>
                          <a:pt x="1640975" y="1070791"/>
                          <a:pt x="1675327" y="1047889"/>
                        </a:cubicBezTo>
                        <a:cubicBezTo>
                          <a:pt x="1696433" y="1033818"/>
                          <a:pt x="1714833" y="1016020"/>
                          <a:pt x="1735397" y="1001168"/>
                        </a:cubicBezTo>
                        <a:cubicBezTo>
                          <a:pt x="1809304" y="947790"/>
                          <a:pt x="1783096" y="977176"/>
                          <a:pt x="1848862" y="914400"/>
                        </a:cubicBezTo>
                        <a:cubicBezTo>
                          <a:pt x="1880725" y="883985"/>
                          <a:pt x="1918959" y="858312"/>
                          <a:pt x="1942305" y="820958"/>
                        </a:cubicBezTo>
                        <a:cubicBezTo>
                          <a:pt x="1986082" y="750914"/>
                          <a:pt x="2032244" y="687367"/>
                          <a:pt x="2055771" y="607375"/>
                        </a:cubicBezTo>
                        <a:cubicBezTo>
                          <a:pt x="2068886" y="562784"/>
                          <a:pt x="2070181" y="538810"/>
                          <a:pt x="2075794" y="493910"/>
                        </a:cubicBezTo>
                        <a:cubicBezTo>
                          <a:pt x="2071017" y="453310"/>
                          <a:pt x="2066519" y="373509"/>
                          <a:pt x="2049096" y="327048"/>
                        </a:cubicBezTo>
                        <a:cubicBezTo>
                          <a:pt x="2036778" y="294199"/>
                          <a:pt x="2011902" y="253621"/>
                          <a:pt x="1989026" y="226932"/>
                        </a:cubicBezTo>
                        <a:cubicBezTo>
                          <a:pt x="1974693" y="210209"/>
                          <a:pt x="1960017" y="193301"/>
                          <a:pt x="1942305" y="180210"/>
                        </a:cubicBezTo>
                        <a:cubicBezTo>
                          <a:pt x="1908548" y="155259"/>
                          <a:pt x="1872780" y="132789"/>
                          <a:pt x="1835514" y="113466"/>
                        </a:cubicBezTo>
                        <a:cubicBezTo>
                          <a:pt x="1793280" y="91567"/>
                          <a:pt x="1633572" y="50492"/>
                          <a:pt x="1615257" y="46721"/>
                        </a:cubicBezTo>
                        <a:cubicBezTo>
                          <a:pt x="1589017" y="41319"/>
                          <a:pt x="1561912" y="41533"/>
                          <a:pt x="1535163" y="40047"/>
                        </a:cubicBezTo>
                        <a:cubicBezTo>
                          <a:pt x="1481803" y="37083"/>
                          <a:pt x="1428372" y="35597"/>
                          <a:pt x="1374976" y="33372"/>
                        </a:cubicBezTo>
                        <a:cubicBezTo>
                          <a:pt x="1277730" y="49580"/>
                          <a:pt x="1152966" y="69334"/>
                          <a:pt x="1067952" y="93443"/>
                        </a:cubicBezTo>
                        <a:cubicBezTo>
                          <a:pt x="992793" y="114757"/>
                          <a:pt x="917570" y="138599"/>
                          <a:pt x="847695" y="173536"/>
                        </a:cubicBezTo>
                        <a:cubicBezTo>
                          <a:pt x="749572" y="222598"/>
                          <a:pt x="713682" y="235850"/>
                          <a:pt x="634112" y="287002"/>
                        </a:cubicBezTo>
                        <a:cubicBezTo>
                          <a:pt x="630033" y="289624"/>
                          <a:pt x="490269" y="379733"/>
                          <a:pt x="460576" y="407142"/>
                        </a:cubicBezTo>
                        <a:cubicBezTo>
                          <a:pt x="418961" y="445556"/>
                          <a:pt x="340436" y="527282"/>
                          <a:pt x="340436" y="527282"/>
                        </a:cubicBez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Vrije vorm 12">
            <a:extLst>
              <a:ext uri="{FF2B5EF4-FFF2-40B4-BE49-F238E27FC236}">
                <a16:creationId xmlns:a16="http://schemas.microsoft.com/office/drawing/2014/main" id="{DB0F5361-1761-1EC5-DA44-6C80FE58CBB0}"/>
              </a:ext>
            </a:extLst>
          </p:cNvPr>
          <p:cNvSpPr/>
          <p:nvPr/>
        </p:nvSpPr>
        <p:spPr>
          <a:xfrm>
            <a:off x="7088269" y="3330552"/>
            <a:ext cx="1161354" cy="934423"/>
          </a:xfrm>
          <a:custGeom>
            <a:avLst/>
            <a:gdLst>
              <a:gd name="csX0" fmla="*/ 540630 w 1161354"/>
              <a:gd name="csY0" fmla="*/ 6674 h 934423"/>
              <a:gd name="csX1" fmla="*/ 480560 w 1161354"/>
              <a:gd name="csY1" fmla="*/ 0 h 934423"/>
              <a:gd name="csX2" fmla="*/ 407141 w 1161354"/>
              <a:gd name="csY2" fmla="*/ 6674 h 934423"/>
              <a:gd name="csX3" fmla="*/ 387118 w 1161354"/>
              <a:gd name="csY3" fmla="*/ 13349 h 934423"/>
              <a:gd name="csX4" fmla="*/ 260303 w 1161354"/>
              <a:gd name="csY4" fmla="*/ 66744 h 934423"/>
              <a:gd name="csX5" fmla="*/ 233605 w 1161354"/>
              <a:gd name="csY5" fmla="*/ 86768 h 934423"/>
              <a:gd name="csX6" fmla="*/ 160186 w 1161354"/>
              <a:gd name="csY6" fmla="*/ 140163 h 934423"/>
              <a:gd name="csX7" fmla="*/ 113465 w 1161354"/>
              <a:gd name="csY7" fmla="*/ 186884 h 934423"/>
              <a:gd name="csX8" fmla="*/ 93442 w 1161354"/>
              <a:gd name="csY8" fmla="*/ 220257 h 934423"/>
              <a:gd name="csX9" fmla="*/ 53395 w 1161354"/>
              <a:gd name="csY9" fmla="*/ 280327 h 934423"/>
              <a:gd name="csX10" fmla="*/ 40046 w 1161354"/>
              <a:gd name="csY10" fmla="*/ 320374 h 934423"/>
              <a:gd name="csX11" fmla="*/ 26697 w 1161354"/>
              <a:gd name="csY11" fmla="*/ 353746 h 934423"/>
              <a:gd name="csX12" fmla="*/ 13349 w 1161354"/>
              <a:gd name="csY12" fmla="*/ 393793 h 934423"/>
              <a:gd name="csX13" fmla="*/ 0 w 1161354"/>
              <a:gd name="csY13" fmla="*/ 473886 h 934423"/>
              <a:gd name="csX14" fmla="*/ 13349 w 1161354"/>
              <a:gd name="csY14" fmla="*/ 667445 h 934423"/>
              <a:gd name="csX15" fmla="*/ 46721 w 1161354"/>
              <a:gd name="csY15" fmla="*/ 734190 h 934423"/>
              <a:gd name="csX16" fmla="*/ 66744 w 1161354"/>
              <a:gd name="csY16" fmla="*/ 760887 h 934423"/>
              <a:gd name="csX17" fmla="*/ 120140 w 1161354"/>
              <a:gd name="csY17" fmla="*/ 814283 h 934423"/>
              <a:gd name="csX18" fmla="*/ 193559 w 1161354"/>
              <a:gd name="csY18" fmla="*/ 854330 h 934423"/>
              <a:gd name="csX19" fmla="*/ 266978 w 1161354"/>
              <a:gd name="csY19" fmla="*/ 887702 h 934423"/>
              <a:gd name="csX20" fmla="*/ 360420 w 1161354"/>
              <a:gd name="csY20" fmla="*/ 914400 h 934423"/>
              <a:gd name="csX21" fmla="*/ 407141 w 1161354"/>
              <a:gd name="csY21" fmla="*/ 927749 h 934423"/>
              <a:gd name="csX22" fmla="*/ 500584 w 1161354"/>
              <a:gd name="csY22" fmla="*/ 934423 h 934423"/>
              <a:gd name="csX23" fmla="*/ 647422 w 1161354"/>
              <a:gd name="csY23" fmla="*/ 927749 h 934423"/>
              <a:gd name="csX24" fmla="*/ 734189 w 1161354"/>
              <a:gd name="csY24" fmla="*/ 914400 h 934423"/>
              <a:gd name="csX25" fmla="*/ 800934 w 1161354"/>
              <a:gd name="csY25" fmla="*/ 887702 h 934423"/>
              <a:gd name="csX26" fmla="*/ 827632 w 1161354"/>
              <a:gd name="csY26" fmla="*/ 874353 h 934423"/>
              <a:gd name="csX27" fmla="*/ 861004 w 1161354"/>
              <a:gd name="csY27" fmla="*/ 861004 h 934423"/>
              <a:gd name="csX28" fmla="*/ 887702 w 1161354"/>
              <a:gd name="csY28" fmla="*/ 840981 h 934423"/>
              <a:gd name="csX29" fmla="*/ 914400 w 1161354"/>
              <a:gd name="csY29" fmla="*/ 827632 h 934423"/>
              <a:gd name="csX30" fmla="*/ 974470 w 1161354"/>
              <a:gd name="csY30" fmla="*/ 780911 h 934423"/>
              <a:gd name="csX31" fmla="*/ 1061238 w 1161354"/>
              <a:gd name="csY31" fmla="*/ 707492 h 934423"/>
              <a:gd name="csX32" fmla="*/ 1101284 w 1161354"/>
              <a:gd name="csY32" fmla="*/ 640747 h 934423"/>
              <a:gd name="csX33" fmla="*/ 1121308 w 1161354"/>
              <a:gd name="csY33" fmla="*/ 580677 h 934423"/>
              <a:gd name="csX34" fmla="*/ 1148005 w 1161354"/>
              <a:gd name="csY34" fmla="*/ 460537 h 934423"/>
              <a:gd name="csX35" fmla="*/ 1161354 w 1161354"/>
              <a:gd name="csY35" fmla="*/ 387118 h 934423"/>
              <a:gd name="csX36" fmla="*/ 1154680 w 1161354"/>
              <a:gd name="csY36" fmla="*/ 320374 h 934423"/>
              <a:gd name="csX37" fmla="*/ 1101284 w 1161354"/>
              <a:gd name="csY37" fmla="*/ 220257 h 934423"/>
              <a:gd name="csX38" fmla="*/ 994493 w 1161354"/>
              <a:gd name="csY38" fmla="*/ 100117 h 934423"/>
              <a:gd name="csX39" fmla="*/ 914400 w 1161354"/>
              <a:gd name="csY39" fmla="*/ 60070 h 934423"/>
              <a:gd name="csX40" fmla="*/ 714166 w 1161354"/>
              <a:gd name="csY40" fmla="*/ 33372 h 934423"/>
              <a:gd name="csX41" fmla="*/ 513932 w 1161354"/>
              <a:gd name="csY41" fmla="*/ 46721 h 934423"/>
              <a:gd name="csX42" fmla="*/ 473886 w 1161354"/>
              <a:gd name="csY42" fmla="*/ 53395 h 934423"/>
              <a:gd name="csX43" fmla="*/ 407141 w 1161354"/>
              <a:gd name="csY43" fmla="*/ 80093 h 934423"/>
              <a:gd name="csX44" fmla="*/ 373769 w 1161354"/>
              <a:gd name="csY44" fmla="*/ 93442 h 934423"/>
              <a:gd name="csX45" fmla="*/ 307024 w 1161354"/>
              <a:gd name="csY45" fmla="*/ 146838 h 934423"/>
              <a:gd name="csX46" fmla="*/ 273652 w 1161354"/>
              <a:gd name="csY46" fmla="*/ 220257 h 934423"/>
              <a:gd name="csX47" fmla="*/ 280327 w 1161354"/>
              <a:gd name="csY47" fmla="*/ 340397 h 934423"/>
              <a:gd name="csX48" fmla="*/ 287001 w 1161354"/>
              <a:gd name="csY48" fmla="*/ 360420 h 9344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1161354" h="934423" extrusionOk="0">
                <a:moveTo>
                  <a:pt x="540630" y="6674"/>
                </a:moveTo>
                <a:cubicBezTo>
                  <a:pt x="520074" y="4120"/>
                  <a:pt x="500110" y="224"/>
                  <a:pt x="480560" y="0"/>
                </a:cubicBezTo>
                <a:cubicBezTo>
                  <a:pt x="461765" y="1217"/>
                  <a:pt x="429030" y="3277"/>
                  <a:pt x="407141" y="6674"/>
                </a:cubicBezTo>
                <a:cubicBezTo>
                  <a:pt x="399382" y="8445"/>
                  <a:pt x="393747" y="12169"/>
                  <a:pt x="387118" y="13349"/>
                </a:cubicBezTo>
                <a:cubicBezTo>
                  <a:pt x="315093" y="28078"/>
                  <a:pt x="386097" y="7589"/>
                  <a:pt x="260303" y="66744"/>
                </a:cubicBezTo>
                <a:cubicBezTo>
                  <a:pt x="251175" y="72010"/>
                  <a:pt x="244367" y="78137"/>
                  <a:pt x="233605" y="86768"/>
                </a:cubicBezTo>
                <a:cubicBezTo>
                  <a:pt x="153191" y="119117"/>
                  <a:pt x="224864" y="80302"/>
                  <a:pt x="160186" y="140163"/>
                </a:cubicBezTo>
                <a:cubicBezTo>
                  <a:pt x="143680" y="151657"/>
                  <a:pt x="121849" y="172094"/>
                  <a:pt x="113465" y="186884"/>
                </a:cubicBezTo>
                <a:cubicBezTo>
                  <a:pt x="107030" y="198142"/>
                  <a:pt x="104286" y="210340"/>
                  <a:pt x="93442" y="220257"/>
                </a:cubicBezTo>
                <a:cubicBezTo>
                  <a:pt x="73776" y="246331"/>
                  <a:pt x="68228" y="250662"/>
                  <a:pt x="53395" y="280327"/>
                </a:cubicBezTo>
                <a:cubicBezTo>
                  <a:pt x="48626" y="294707"/>
                  <a:pt x="45032" y="308982"/>
                  <a:pt x="40046" y="320374"/>
                </a:cubicBezTo>
                <a:cubicBezTo>
                  <a:pt x="37230" y="333603"/>
                  <a:pt x="32379" y="344431"/>
                  <a:pt x="26697" y="353746"/>
                </a:cubicBezTo>
                <a:cubicBezTo>
                  <a:pt x="23809" y="365288"/>
                  <a:pt x="16673" y="378777"/>
                  <a:pt x="13349" y="393793"/>
                </a:cubicBezTo>
                <a:cubicBezTo>
                  <a:pt x="7478" y="420214"/>
                  <a:pt x="0" y="473886"/>
                  <a:pt x="0" y="473886"/>
                </a:cubicBezTo>
                <a:cubicBezTo>
                  <a:pt x="-8362" y="488383"/>
                  <a:pt x="-6332" y="606902"/>
                  <a:pt x="13349" y="667445"/>
                </a:cubicBezTo>
                <a:cubicBezTo>
                  <a:pt x="21461" y="687725"/>
                  <a:pt x="26645" y="714929"/>
                  <a:pt x="46721" y="734190"/>
                </a:cubicBezTo>
                <a:cubicBezTo>
                  <a:pt x="52235" y="744618"/>
                  <a:pt x="60115" y="753347"/>
                  <a:pt x="66744" y="760887"/>
                </a:cubicBezTo>
                <a:cubicBezTo>
                  <a:pt x="83712" y="780418"/>
                  <a:pt x="99186" y="800959"/>
                  <a:pt x="120140" y="814283"/>
                </a:cubicBezTo>
                <a:cubicBezTo>
                  <a:pt x="189483" y="887034"/>
                  <a:pt x="95874" y="802840"/>
                  <a:pt x="193559" y="854330"/>
                </a:cubicBezTo>
                <a:cubicBezTo>
                  <a:pt x="246015" y="887930"/>
                  <a:pt x="206170" y="873276"/>
                  <a:pt x="266978" y="887702"/>
                </a:cubicBezTo>
                <a:cubicBezTo>
                  <a:pt x="299350" y="889325"/>
                  <a:pt x="324990" y="905259"/>
                  <a:pt x="360420" y="914400"/>
                </a:cubicBezTo>
                <a:cubicBezTo>
                  <a:pt x="377563" y="920201"/>
                  <a:pt x="390396" y="928372"/>
                  <a:pt x="407141" y="927749"/>
                </a:cubicBezTo>
                <a:cubicBezTo>
                  <a:pt x="429082" y="924236"/>
                  <a:pt x="468046" y="932948"/>
                  <a:pt x="500584" y="934423"/>
                </a:cubicBezTo>
                <a:cubicBezTo>
                  <a:pt x="551902" y="940187"/>
                  <a:pt x="599591" y="930811"/>
                  <a:pt x="647422" y="927749"/>
                </a:cubicBezTo>
                <a:cubicBezTo>
                  <a:pt x="664625" y="926177"/>
                  <a:pt x="718952" y="918133"/>
                  <a:pt x="734189" y="914400"/>
                </a:cubicBezTo>
                <a:cubicBezTo>
                  <a:pt x="752130" y="904026"/>
                  <a:pt x="774261" y="901846"/>
                  <a:pt x="800934" y="887702"/>
                </a:cubicBezTo>
                <a:cubicBezTo>
                  <a:pt x="808987" y="886119"/>
                  <a:pt x="820183" y="876432"/>
                  <a:pt x="827632" y="874353"/>
                </a:cubicBezTo>
                <a:cubicBezTo>
                  <a:pt x="839417" y="870263"/>
                  <a:pt x="851220" y="866410"/>
                  <a:pt x="861004" y="861004"/>
                </a:cubicBezTo>
                <a:cubicBezTo>
                  <a:pt x="870360" y="858871"/>
                  <a:pt x="878963" y="843850"/>
                  <a:pt x="887702" y="840981"/>
                </a:cubicBezTo>
                <a:cubicBezTo>
                  <a:pt x="895152" y="835676"/>
                  <a:pt x="908474" y="833940"/>
                  <a:pt x="914400" y="827632"/>
                </a:cubicBezTo>
                <a:cubicBezTo>
                  <a:pt x="939955" y="811949"/>
                  <a:pt x="951716" y="800900"/>
                  <a:pt x="974470" y="780911"/>
                </a:cubicBezTo>
                <a:cubicBezTo>
                  <a:pt x="1009050" y="762292"/>
                  <a:pt x="1042449" y="746163"/>
                  <a:pt x="1061238" y="707492"/>
                </a:cubicBezTo>
                <a:cubicBezTo>
                  <a:pt x="1088256" y="656168"/>
                  <a:pt x="1075379" y="671793"/>
                  <a:pt x="1101284" y="640747"/>
                </a:cubicBezTo>
                <a:cubicBezTo>
                  <a:pt x="1094925" y="554547"/>
                  <a:pt x="1098809" y="701177"/>
                  <a:pt x="1121308" y="580677"/>
                </a:cubicBezTo>
                <a:cubicBezTo>
                  <a:pt x="1130894" y="552088"/>
                  <a:pt x="1142542" y="499169"/>
                  <a:pt x="1148005" y="460537"/>
                </a:cubicBezTo>
                <a:cubicBezTo>
                  <a:pt x="1162021" y="416042"/>
                  <a:pt x="1155862" y="441376"/>
                  <a:pt x="1161354" y="387118"/>
                </a:cubicBezTo>
                <a:cubicBezTo>
                  <a:pt x="1159345" y="365629"/>
                  <a:pt x="1162592" y="343784"/>
                  <a:pt x="1154680" y="320374"/>
                </a:cubicBezTo>
                <a:cubicBezTo>
                  <a:pt x="1147552" y="291896"/>
                  <a:pt x="1108833" y="239942"/>
                  <a:pt x="1101284" y="220257"/>
                </a:cubicBezTo>
                <a:cubicBezTo>
                  <a:pt x="1075155" y="170345"/>
                  <a:pt x="1043659" y="135448"/>
                  <a:pt x="994493" y="100117"/>
                </a:cubicBezTo>
                <a:cubicBezTo>
                  <a:pt x="967891" y="91115"/>
                  <a:pt x="943482" y="70243"/>
                  <a:pt x="914400" y="60070"/>
                </a:cubicBezTo>
                <a:cubicBezTo>
                  <a:pt x="854410" y="44786"/>
                  <a:pt x="772367" y="41511"/>
                  <a:pt x="714166" y="33372"/>
                </a:cubicBezTo>
                <a:cubicBezTo>
                  <a:pt x="638328" y="39161"/>
                  <a:pt x="603168" y="34474"/>
                  <a:pt x="513932" y="46721"/>
                </a:cubicBezTo>
                <a:cubicBezTo>
                  <a:pt x="500747" y="47822"/>
                  <a:pt x="487044" y="48426"/>
                  <a:pt x="473886" y="53395"/>
                </a:cubicBezTo>
                <a:cubicBezTo>
                  <a:pt x="451263" y="59612"/>
                  <a:pt x="428596" y="75132"/>
                  <a:pt x="407141" y="80093"/>
                </a:cubicBezTo>
                <a:cubicBezTo>
                  <a:pt x="393747" y="82110"/>
                  <a:pt x="385376" y="87771"/>
                  <a:pt x="373769" y="93442"/>
                </a:cubicBezTo>
                <a:cubicBezTo>
                  <a:pt x="351037" y="122659"/>
                  <a:pt x="322372" y="130994"/>
                  <a:pt x="307024" y="146838"/>
                </a:cubicBezTo>
                <a:cubicBezTo>
                  <a:pt x="300069" y="167883"/>
                  <a:pt x="277412" y="191091"/>
                  <a:pt x="273652" y="220257"/>
                </a:cubicBezTo>
                <a:cubicBezTo>
                  <a:pt x="266179" y="256303"/>
                  <a:pt x="278465" y="304243"/>
                  <a:pt x="280327" y="340397"/>
                </a:cubicBezTo>
                <a:cubicBezTo>
                  <a:pt x="280994" y="347401"/>
                  <a:pt x="287001" y="360419"/>
                  <a:pt x="287001" y="360420"/>
                </a:cubicBezTo>
              </a:path>
            </a:pathLst>
          </a:custGeom>
          <a:noFill/>
          <a:ln w="28575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540630 w 1161354"/>
                      <a:gd name="connsiteY0" fmla="*/ 6674 h 934423"/>
                      <a:gd name="connsiteX1" fmla="*/ 480560 w 1161354"/>
                      <a:gd name="connsiteY1" fmla="*/ 0 h 934423"/>
                      <a:gd name="connsiteX2" fmla="*/ 407141 w 1161354"/>
                      <a:gd name="connsiteY2" fmla="*/ 6674 h 934423"/>
                      <a:gd name="connsiteX3" fmla="*/ 387118 w 1161354"/>
                      <a:gd name="connsiteY3" fmla="*/ 13349 h 934423"/>
                      <a:gd name="connsiteX4" fmla="*/ 260303 w 1161354"/>
                      <a:gd name="connsiteY4" fmla="*/ 66744 h 934423"/>
                      <a:gd name="connsiteX5" fmla="*/ 233605 w 1161354"/>
                      <a:gd name="connsiteY5" fmla="*/ 86768 h 934423"/>
                      <a:gd name="connsiteX6" fmla="*/ 160186 w 1161354"/>
                      <a:gd name="connsiteY6" fmla="*/ 140163 h 934423"/>
                      <a:gd name="connsiteX7" fmla="*/ 113465 w 1161354"/>
                      <a:gd name="connsiteY7" fmla="*/ 186884 h 934423"/>
                      <a:gd name="connsiteX8" fmla="*/ 93442 w 1161354"/>
                      <a:gd name="connsiteY8" fmla="*/ 220257 h 934423"/>
                      <a:gd name="connsiteX9" fmla="*/ 53395 w 1161354"/>
                      <a:gd name="connsiteY9" fmla="*/ 280327 h 934423"/>
                      <a:gd name="connsiteX10" fmla="*/ 40046 w 1161354"/>
                      <a:gd name="connsiteY10" fmla="*/ 320374 h 934423"/>
                      <a:gd name="connsiteX11" fmla="*/ 26697 w 1161354"/>
                      <a:gd name="connsiteY11" fmla="*/ 353746 h 934423"/>
                      <a:gd name="connsiteX12" fmla="*/ 13349 w 1161354"/>
                      <a:gd name="connsiteY12" fmla="*/ 393793 h 934423"/>
                      <a:gd name="connsiteX13" fmla="*/ 0 w 1161354"/>
                      <a:gd name="connsiteY13" fmla="*/ 473886 h 934423"/>
                      <a:gd name="connsiteX14" fmla="*/ 13349 w 1161354"/>
                      <a:gd name="connsiteY14" fmla="*/ 667445 h 934423"/>
                      <a:gd name="connsiteX15" fmla="*/ 46721 w 1161354"/>
                      <a:gd name="connsiteY15" fmla="*/ 734190 h 934423"/>
                      <a:gd name="connsiteX16" fmla="*/ 66744 w 1161354"/>
                      <a:gd name="connsiteY16" fmla="*/ 760887 h 934423"/>
                      <a:gd name="connsiteX17" fmla="*/ 120140 w 1161354"/>
                      <a:gd name="connsiteY17" fmla="*/ 814283 h 934423"/>
                      <a:gd name="connsiteX18" fmla="*/ 193559 w 1161354"/>
                      <a:gd name="connsiteY18" fmla="*/ 854330 h 934423"/>
                      <a:gd name="connsiteX19" fmla="*/ 266978 w 1161354"/>
                      <a:gd name="connsiteY19" fmla="*/ 887702 h 934423"/>
                      <a:gd name="connsiteX20" fmla="*/ 360420 w 1161354"/>
                      <a:gd name="connsiteY20" fmla="*/ 914400 h 934423"/>
                      <a:gd name="connsiteX21" fmla="*/ 407141 w 1161354"/>
                      <a:gd name="connsiteY21" fmla="*/ 927749 h 934423"/>
                      <a:gd name="connsiteX22" fmla="*/ 500584 w 1161354"/>
                      <a:gd name="connsiteY22" fmla="*/ 934423 h 934423"/>
                      <a:gd name="connsiteX23" fmla="*/ 647422 w 1161354"/>
                      <a:gd name="connsiteY23" fmla="*/ 927749 h 934423"/>
                      <a:gd name="connsiteX24" fmla="*/ 734189 w 1161354"/>
                      <a:gd name="connsiteY24" fmla="*/ 914400 h 934423"/>
                      <a:gd name="connsiteX25" fmla="*/ 800934 w 1161354"/>
                      <a:gd name="connsiteY25" fmla="*/ 887702 h 934423"/>
                      <a:gd name="connsiteX26" fmla="*/ 827632 w 1161354"/>
                      <a:gd name="connsiteY26" fmla="*/ 874353 h 934423"/>
                      <a:gd name="connsiteX27" fmla="*/ 861004 w 1161354"/>
                      <a:gd name="connsiteY27" fmla="*/ 861004 h 934423"/>
                      <a:gd name="connsiteX28" fmla="*/ 887702 w 1161354"/>
                      <a:gd name="connsiteY28" fmla="*/ 840981 h 934423"/>
                      <a:gd name="connsiteX29" fmla="*/ 914400 w 1161354"/>
                      <a:gd name="connsiteY29" fmla="*/ 827632 h 934423"/>
                      <a:gd name="connsiteX30" fmla="*/ 974470 w 1161354"/>
                      <a:gd name="connsiteY30" fmla="*/ 780911 h 934423"/>
                      <a:gd name="connsiteX31" fmla="*/ 1061238 w 1161354"/>
                      <a:gd name="connsiteY31" fmla="*/ 707492 h 934423"/>
                      <a:gd name="connsiteX32" fmla="*/ 1101284 w 1161354"/>
                      <a:gd name="connsiteY32" fmla="*/ 640747 h 934423"/>
                      <a:gd name="connsiteX33" fmla="*/ 1121308 w 1161354"/>
                      <a:gd name="connsiteY33" fmla="*/ 580677 h 934423"/>
                      <a:gd name="connsiteX34" fmla="*/ 1148005 w 1161354"/>
                      <a:gd name="connsiteY34" fmla="*/ 460537 h 934423"/>
                      <a:gd name="connsiteX35" fmla="*/ 1161354 w 1161354"/>
                      <a:gd name="connsiteY35" fmla="*/ 387118 h 934423"/>
                      <a:gd name="connsiteX36" fmla="*/ 1154680 w 1161354"/>
                      <a:gd name="connsiteY36" fmla="*/ 320374 h 934423"/>
                      <a:gd name="connsiteX37" fmla="*/ 1101284 w 1161354"/>
                      <a:gd name="connsiteY37" fmla="*/ 220257 h 934423"/>
                      <a:gd name="connsiteX38" fmla="*/ 994493 w 1161354"/>
                      <a:gd name="connsiteY38" fmla="*/ 100117 h 934423"/>
                      <a:gd name="connsiteX39" fmla="*/ 914400 w 1161354"/>
                      <a:gd name="connsiteY39" fmla="*/ 60070 h 934423"/>
                      <a:gd name="connsiteX40" fmla="*/ 714166 w 1161354"/>
                      <a:gd name="connsiteY40" fmla="*/ 33372 h 934423"/>
                      <a:gd name="connsiteX41" fmla="*/ 513932 w 1161354"/>
                      <a:gd name="connsiteY41" fmla="*/ 46721 h 934423"/>
                      <a:gd name="connsiteX42" fmla="*/ 473886 w 1161354"/>
                      <a:gd name="connsiteY42" fmla="*/ 53395 h 934423"/>
                      <a:gd name="connsiteX43" fmla="*/ 407141 w 1161354"/>
                      <a:gd name="connsiteY43" fmla="*/ 80093 h 934423"/>
                      <a:gd name="connsiteX44" fmla="*/ 373769 w 1161354"/>
                      <a:gd name="connsiteY44" fmla="*/ 93442 h 934423"/>
                      <a:gd name="connsiteX45" fmla="*/ 307024 w 1161354"/>
                      <a:gd name="connsiteY45" fmla="*/ 146838 h 934423"/>
                      <a:gd name="connsiteX46" fmla="*/ 273652 w 1161354"/>
                      <a:gd name="connsiteY46" fmla="*/ 220257 h 934423"/>
                      <a:gd name="connsiteX47" fmla="*/ 280327 w 1161354"/>
                      <a:gd name="connsiteY47" fmla="*/ 340397 h 934423"/>
                      <a:gd name="connsiteX48" fmla="*/ 287001 w 1161354"/>
                      <a:gd name="connsiteY48" fmla="*/ 360420 h 9344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</a:cxnLst>
                    <a:rect l="l" t="t" r="r" b="b"/>
                    <a:pathLst>
                      <a:path w="1161354" h="934423">
                        <a:moveTo>
                          <a:pt x="540630" y="6674"/>
                        </a:moveTo>
                        <a:cubicBezTo>
                          <a:pt x="520607" y="4449"/>
                          <a:pt x="500707" y="0"/>
                          <a:pt x="480560" y="0"/>
                        </a:cubicBezTo>
                        <a:cubicBezTo>
                          <a:pt x="455986" y="0"/>
                          <a:pt x="431468" y="3199"/>
                          <a:pt x="407141" y="6674"/>
                        </a:cubicBezTo>
                        <a:cubicBezTo>
                          <a:pt x="400176" y="7669"/>
                          <a:pt x="393883" y="11416"/>
                          <a:pt x="387118" y="13349"/>
                        </a:cubicBezTo>
                        <a:cubicBezTo>
                          <a:pt x="322116" y="31921"/>
                          <a:pt x="379073" y="4233"/>
                          <a:pt x="260303" y="66744"/>
                        </a:cubicBezTo>
                        <a:cubicBezTo>
                          <a:pt x="250459" y="71925"/>
                          <a:pt x="243038" y="80872"/>
                          <a:pt x="233605" y="86768"/>
                        </a:cubicBezTo>
                        <a:cubicBezTo>
                          <a:pt x="176209" y="122642"/>
                          <a:pt x="239930" y="66117"/>
                          <a:pt x="160186" y="140163"/>
                        </a:cubicBezTo>
                        <a:cubicBezTo>
                          <a:pt x="144046" y="155149"/>
                          <a:pt x="124796" y="167998"/>
                          <a:pt x="113465" y="186884"/>
                        </a:cubicBezTo>
                        <a:cubicBezTo>
                          <a:pt x="106791" y="198008"/>
                          <a:pt x="100638" y="209463"/>
                          <a:pt x="93442" y="220257"/>
                        </a:cubicBezTo>
                        <a:cubicBezTo>
                          <a:pt x="75838" y="246664"/>
                          <a:pt x="67245" y="249858"/>
                          <a:pt x="53395" y="280327"/>
                        </a:cubicBezTo>
                        <a:cubicBezTo>
                          <a:pt x="47572" y="293137"/>
                          <a:pt x="44855" y="307150"/>
                          <a:pt x="40046" y="320374"/>
                        </a:cubicBezTo>
                        <a:cubicBezTo>
                          <a:pt x="35952" y="331634"/>
                          <a:pt x="30791" y="342486"/>
                          <a:pt x="26697" y="353746"/>
                        </a:cubicBezTo>
                        <a:cubicBezTo>
                          <a:pt x="21888" y="366970"/>
                          <a:pt x="16401" y="380057"/>
                          <a:pt x="13349" y="393793"/>
                        </a:cubicBezTo>
                        <a:cubicBezTo>
                          <a:pt x="7478" y="420214"/>
                          <a:pt x="0" y="473886"/>
                          <a:pt x="0" y="473886"/>
                        </a:cubicBezTo>
                        <a:cubicBezTo>
                          <a:pt x="631" y="489021"/>
                          <a:pt x="-2425" y="614866"/>
                          <a:pt x="13349" y="667445"/>
                        </a:cubicBezTo>
                        <a:cubicBezTo>
                          <a:pt x="21060" y="693150"/>
                          <a:pt x="31853" y="711888"/>
                          <a:pt x="46721" y="734190"/>
                        </a:cubicBezTo>
                        <a:cubicBezTo>
                          <a:pt x="52891" y="743446"/>
                          <a:pt x="59227" y="752687"/>
                          <a:pt x="66744" y="760887"/>
                        </a:cubicBezTo>
                        <a:cubicBezTo>
                          <a:pt x="83753" y="779442"/>
                          <a:pt x="98556" y="801333"/>
                          <a:pt x="120140" y="814283"/>
                        </a:cubicBezTo>
                        <a:cubicBezTo>
                          <a:pt x="203721" y="864431"/>
                          <a:pt x="98868" y="802680"/>
                          <a:pt x="193559" y="854330"/>
                        </a:cubicBezTo>
                        <a:cubicBezTo>
                          <a:pt x="242538" y="881046"/>
                          <a:pt x="210783" y="870843"/>
                          <a:pt x="266978" y="887702"/>
                        </a:cubicBezTo>
                        <a:cubicBezTo>
                          <a:pt x="298006" y="897010"/>
                          <a:pt x="329273" y="905501"/>
                          <a:pt x="360420" y="914400"/>
                        </a:cubicBezTo>
                        <a:cubicBezTo>
                          <a:pt x="375994" y="918850"/>
                          <a:pt x="390985" y="926595"/>
                          <a:pt x="407141" y="927749"/>
                        </a:cubicBezTo>
                        <a:lnTo>
                          <a:pt x="500584" y="934423"/>
                        </a:lnTo>
                        <a:cubicBezTo>
                          <a:pt x="549530" y="932198"/>
                          <a:pt x="598542" y="931120"/>
                          <a:pt x="647422" y="927749"/>
                        </a:cubicBezTo>
                        <a:cubicBezTo>
                          <a:pt x="662061" y="926739"/>
                          <a:pt x="717747" y="917140"/>
                          <a:pt x="734189" y="914400"/>
                        </a:cubicBezTo>
                        <a:cubicBezTo>
                          <a:pt x="756437" y="905501"/>
                          <a:pt x="778909" y="897141"/>
                          <a:pt x="800934" y="887702"/>
                        </a:cubicBezTo>
                        <a:cubicBezTo>
                          <a:pt x="810079" y="883783"/>
                          <a:pt x="818540" y="878394"/>
                          <a:pt x="827632" y="874353"/>
                        </a:cubicBezTo>
                        <a:cubicBezTo>
                          <a:pt x="838580" y="869487"/>
                          <a:pt x="850531" y="866822"/>
                          <a:pt x="861004" y="861004"/>
                        </a:cubicBezTo>
                        <a:cubicBezTo>
                          <a:pt x="870728" y="855602"/>
                          <a:pt x="878269" y="846877"/>
                          <a:pt x="887702" y="840981"/>
                        </a:cubicBezTo>
                        <a:cubicBezTo>
                          <a:pt x="896139" y="835708"/>
                          <a:pt x="906219" y="833295"/>
                          <a:pt x="914400" y="827632"/>
                        </a:cubicBezTo>
                        <a:cubicBezTo>
                          <a:pt x="935256" y="813193"/>
                          <a:pt x="952718" y="793962"/>
                          <a:pt x="974470" y="780911"/>
                        </a:cubicBezTo>
                        <a:cubicBezTo>
                          <a:pt x="1008393" y="760556"/>
                          <a:pt x="1039478" y="745574"/>
                          <a:pt x="1061238" y="707492"/>
                        </a:cubicBezTo>
                        <a:cubicBezTo>
                          <a:pt x="1091915" y="653806"/>
                          <a:pt x="1077986" y="675695"/>
                          <a:pt x="1101284" y="640747"/>
                        </a:cubicBezTo>
                        <a:cubicBezTo>
                          <a:pt x="1123698" y="551097"/>
                          <a:pt x="1087791" y="689605"/>
                          <a:pt x="1121308" y="580677"/>
                        </a:cubicBezTo>
                        <a:cubicBezTo>
                          <a:pt x="1132084" y="545657"/>
                          <a:pt x="1141047" y="495326"/>
                          <a:pt x="1148005" y="460537"/>
                        </a:cubicBezTo>
                        <a:cubicBezTo>
                          <a:pt x="1157339" y="413864"/>
                          <a:pt x="1152809" y="438392"/>
                          <a:pt x="1161354" y="387118"/>
                        </a:cubicBezTo>
                        <a:cubicBezTo>
                          <a:pt x="1159129" y="364870"/>
                          <a:pt x="1159065" y="342299"/>
                          <a:pt x="1154680" y="320374"/>
                        </a:cubicBezTo>
                        <a:cubicBezTo>
                          <a:pt x="1148934" y="291641"/>
                          <a:pt x="1110166" y="235060"/>
                          <a:pt x="1101284" y="220257"/>
                        </a:cubicBezTo>
                        <a:cubicBezTo>
                          <a:pt x="1073256" y="173543"/>
                          <a:pt x="1049325" y="127533"/>
                          <a:pt x="994493" y="100117"/>
                        </a:cubicBezTo>
                        <a:cubicBezTo>
                          <a:pt x="967795" y="86768"/>
                          <a:pt x="941910" y="71653"/>
                          <a:pt x="914400" y="60070"/>
                        </a:cubicBezTo>
                        <a:cubicBezTo>
                          <a:pt x="857225" y="35996"/>
                          <a:pt x="760348" y="37388"/>
                          <a:pt x="714166" y="33372"/>
                        </a:cubicBezTo>
                        <a:lnTo>
                          <a:pt x="513932" y="46721"/>
                        </a:lnTo>
                        <a:cubicBezTo>
                          <a:pt x="500446" y="47845"/>
                          <a:pt x="486803" y="49359"/>
                          <a:pt x="473886" y="53395"/>
                        </a:cubicBezTo>
                        <a:cubicBezTo>
                          <a:pt x="451015" y="60542"/>
                          <a:pt x="429389" y="71194"/>
                          <a:pt x="407141" y="80093"/>
                        </a:cubicBezTo>
                        <a:cubicBezTo>
                          <a:pt x="396017" y="84543"/>
                          <a:pt x="383125" y="85958"/>
                          <a:pt x="373769" y="93442"/>
                        </a:cubicBezTo>
                        <a:lnTo>
                          <a:pt x="307024" y="146838"/>
                        </a:lnTo>
                        <a:cubicBezTo>
                          <a:pt x="295900" y="171311"/>
                          <a:pt x="277325" y="193627"/>
                          <a:pt x="273652" y="220257"/>
                        </a:cubicBezTo>
                        <a:cubicBezTo>
                          <a:pt x="268172" y="259989"/>
                          <a:pt x="276524" y="300469"/>
                          <a:pt x="280327" y="340397"/>
                        </a:cubicBezTo>
                        <a:cubicBezTo>
                          <a:pt x="280994" y="347401"/>
                          <a:pt x="287001" y="360420"/>
                          <a:pt x="287001" y="360420"/>
                        </a:cubicBez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Vrije vorm 13">
            <a:extLst>
              <a:ext uri="{FF2B5EF4-FFF2-40B4-BE49-F238E27FC236}">
                <a16:creationId xmlns:a16="http://schemas.microsoft.com/office/drawing/2014/main" id="{353B23C3-AAE1-2DB9-C169-A2E1BD3ADCE3}"/>
              </a:ext>
            </a:extLst>
          </p:cNvPr>
          <p:cNvSpPr/>
          <p:nvPr/>
        </p:nvSpPr>
        <p:spPr>
          <a:xfrm rot="20581627">
            <a:off x="7072156" y="3330551"/>
            <a:ext cx="1161354" cy="934423"/>
          </a:xfrm>
          <a:custGeom>
            <a:avLst/>
            <a:gdLst>
              <a:gd name="csX0" fmla="*/ 540630 w 1161354"/>
              <a:gd name="csY0" fmla="*/ 6674 h 934423"/>
              <a:gd name="csX1" fmla="*/ 480560 w 1161354"/>
              <a:gd name="csY1" fmla="*/ 0 h 934423"/>
              <a:gd name="csX2" fmla="*/ 407141 w 1161354"/>
              <a:gd name="csY2" fmla="*/ 6674 h 934423"/>
              <a:gd name="csX3" fmla="*/ 387118 w 1161354"/>
              <a:gd name="csY3" fmla="*/ 13349 h 934423"/>
              <a:gd name="csX4" fmla="*/ 260303 w 1161354"/>
              <a:gd name="csY4" fmla="*/ 66744 h 934423"/>
              <a:gd name="csX5" fmla="*/ 233605 w 1161354"/>
              <a:gd name="csY5" fmla="*/ 86768 h 934423"/>
              <a:gd name="csX6" fmla="*/ 160186 w 1161354"/>
              <a:gd name="csY6" fmla="*/ 140163 h 934423"/>
              <a:gd name="csX7" fmla="*/ 113465 w 1161354"/>
              <a:gd name="csY7" fmla="*/ 186884 h 934423"/>
              <a:gd name="csX8" fmla="*/ 93442 w 1161354"/>
              <a:gd name="csY8" fmla="*/ 220257 h 934423"/>
              <a:gd name="csX9" fmla="*/ 53395 w 1161354"/>
              <a:gd name="csY9" fmla="*/ 280327 h 934423"/>
              <a:gd name="csX10" fmla="*/ 40046 w 1161354"/>
              <a:gd name="csY10" fmla="*/ 320374 h 934423"/>
              <a:gd name="csX11" fmla="*/ 26697 w 1161354"/>
              <a:gd name="csY11" fmla="*/ 353746 h 934423"/>
              <a:gd name="csX12" fmla="*/ 13349 w 1161354"/>
              <a:gd name="csY12" fmla="*/ 393793 h 934423"/>
              <a:gd name="csX13" fmla="*/ 0 w 1161354"/>
              <a:gd name="csY13" fmla="*/ 473886 h 934423"/>
              <a:gd name="csX14" fmla="*/ 13349 w 1161354"/>
              <a:gd name="csY14" fmla="*/ 667445 h 934423"/>
              <a:gd name="csX15" fmla="*/ 46721 w 1161354"/>
              <a:gd name="csY15" fmla="*/ 734190 h 934423"/>
              <a:gd name="csX16" fmla="*/ 66744 w 1161354"/>
              <a:gd name="csY16" fmla="*/ 760887 h 934423"/>
              <a:gd name="csX17" fmla="*/ 120140 w 1161354"/>
              <a:gd name="csY17" fmla="*/ 814283 h 934423"/>
              <a:gd name="csX18" fmla="*/ 193559 w 1161354"/>
              <a:gd name="csY18" fmla="*/ 854330 h 934423"/>
              <a:gd name="csX19" fmla="*/ 266978 w 1161354"/>
              <a:gd name="csY19" fmla="*/ 887702 h 934423"/>
              <a:gd name="csX20" fmla="*/ 360420 w 1161354"/>
              <a:gd name="csY20" fmla="*/ 914400 h 934423"/>
              <a:gd name="csX21" fmla="*/ 407141 w 1161354"/>
              <a:gd name="csY21" fmla="*/ 927749 h 934423"/>
              <a:gd name="csX22" fmla="*/ 500584 w 1161354"/>
              <a:gd name="csY22" fmla="*/ 934423 h 934423"/>
              <a:gd name="csX23" fmla="*/ 647422 w 1161354"/>
              <a:gd name="csY23" fmla="*/ 927749 h 934423"/>
              <a:gd name="csX24" fmla="*/ 734189 w 1161354"/>
              <a:gd name="csY24" fmla="*/ 914400 h 934423"/>
              <a:gd name="csX25" fmla="*/ 800934 w 1161354"/>
              <a:gd name="csY25" fmla="*/ 887702 h 934423"/>
              <a:gd name="csX26" fmla="*/ 827632 w 1161354"/>
              <a:gd name="csY26" fmla="*/ 874353 h 934423"/>
              <a:gd name="csX27" fmla="*/ 861004 w 1161354"/>
              <a:gd name="csY27" fmla="*/ 861004 h 934423"/>
              <a:gd name="csX28" fmla="*/ 887702 w 1161354"/>
              <a:gd name="csY28" fmla="*/ 840981 h 934423"/>
              <a:gd name="csX29" fmla="*/ 914400 w 1161354"/>
              <a:gd name="csY29" fmla="*/ 827632 h 934423"/>
              <a:gd name="csX30" fmla="*/ 974470 w 1161354"/>
              <a:gd name="csY30" fmla="*/ 780911 h 934423"/>
              <a:gd name="csX31" fmla="*/ 1061238 w 1161354"/>
              <a:gd name="csY31" fmla="*/ 707492 h 934423"/>
              <a:gd name="csX32" fmla="*/ 1101284 w 1161354"/>
              <a:gd name="csY32" fmla="*/ 640747 h 934423"/>
              <a:gd name="csX33" fmla="*/ 1121308 w 1161354"/>
              <a:gd name="csY33" fmla="*/ 580677 h 934423"/>
              <a:gd name="csX34" fmla="*/ 1148005 w 1161354"/>
              <a:gd name="csY34" fmla="*/ 460537 h 934423"/>
              <a:gd name="csX35" fmla="*/ 1161354 w 1161354"/>
              <a:gd name="csY35" fmla="*/ 387118 h 934423"/>
              <a:gd name="csX36" fmla="*/ 1154680 w 1161354"/>
              <a:gd name="csY36" fmla="*/ 320374 h 934423"/>
              <a:gd name="csX37" fmla="*/ 1101284 w 1161354"/>
              <a:gd name="csY37" fmla="*/ 220257 h 934423"/>
              <a:gd name="csX38" fmla="*/ 994493 w 1161354"/>
              <a:gd name="csY38" fmla="*/ 100117 h 934423"/>
              <a:gd name="csX39" fmla="*/ 914400 w 1161354"/>
              <a:gd name="csY39" fmla="*/ 60070 h 934423"/>
              <a:gd name="csX40" fmla="*/ 714166 w 1161354"/>
              <a:gd name="csY40" fmla="*/ 33372 h 934423"/>
              <a:gd name="csX41" fmla="*/ 513932 w 1161354"/>
              <a:gd name="csY41" fmla="*/ 46721 h 934423"/>
              <a:gd name="csX42" fmla="*/ 473886 w 1161354"/>
              <a:gd name="csY42" fmla="*/ 53395 h 934423"/>
              <a:gd name="csX43" fmla="*/ 407141 w 1161354"/>
              <a:gd name="csY43" fmla="*/ 80093 h 934423"/>
              <a:gd name="csX44" fmla="*/ 373769 w 1161354"/>
              <a:gd name="csY44" fmla="*/ 93442 h 934423"/>
              <a:gd name="csX45" fmla="*/ 307024 w 1161354"/>
              <a:gd name="csY45" fmla="*/ 146838 h 934423"/>
              <a:gd name="csX46" fmla="*/ 273652 w 1161354"/>
              <a:gd name="csY46" fmla="*/ 220257 h 934423"/>
              <a:gd name="csX47" fmla="*/ 280327 w 1161354"/>
              <a:gd name="csY47" fmla="*/ 340397 h 934423"/>
              <a:gd name="csX48" fmla="*/ 287001 w 1161354"/>
              <a:gd name="csY48" fmla="*/ 360420 h 9344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1161354" h="934423" extrusionOk="0">
                <a:moveTo>
                  <a:pt x="540630" y="6674"/>
                </a:moveTo>
                <a:cubicBezTo>
                  <a:pt x="520074" y="4120"/>
                  <a:pt x="500110" y="224"/>
                  <a:pt x="480560" y="0"/>
                </a:cubicBezTo>
                <a:cubicBezTo>
                  <a:pt x="461765" y="1217"/>
                  <a:pt x="429030" y="3277"/>
                  <a:pt x="407141" y="6674"/>
                </a:cubicBezTo>
                <a:cubicBezTo>
                  <a:pt x="399382" y="8445"/>
                  <a:pt x="393747" y="12169"/>
                  <a:pt x="387118" y="13349"/>
                </a:cubicBezTo>
                <a:cubicBezTo>
                  <a:pt x="315093" y="28078"/>
                  <a:pt x="386097" y="7589"/>
                  <a:pt x="260303" y="66744"/>
                </a:cubicBezTo>
                <a:cubicBezTo>
                  <a:pt x="251175" y="72010"/>
                  <a:pt x="244367" y="78137"/>
                  <a:pt x="233605" y="86768"/>
                </a:cubicBezTo>
                <a:cubicBezTo>
                  <a:pt x="153191" y="119117"/>
                  <a:pt x="224864" y="80302"/>
                  <a:pt x="160186" y="140163"/>
                </a:cubicBezTo>
                <a:cubicBezTo>
                  <a:pt x="143680" y="151657"/>
                  <a:pt x="121849" y="172094"/>
                  <a:pt x="113465" y="186884"/>
                </a:cubicBezTo>
                <a:cubicBezTo>
                  <a:pt x="107030" y="198142"/>
                  <a:pt x="104286" y="210340"/>
                  <a:pt x="93442" y="220257"/>
                </a:cubicBezTo>
                <a:cubicBezTo>
                  <a:pt x="73776" y="246331"/>
                  <a:pt x="68228" y="250662"/>
                  <a:pt x="53395" y="280327"/>
                </a:cubicBezTo>
                <a:cubicBezTo>
                  <a:pt x="48626" y="294707"/>
                  <a:pt x="45032" y="308982"/>
                  <a:pt x="40046" y="320374"/>
                </a:cubicBezTo>
                <a:cubicBezTo>
                  <a:pt x="37230" y="333603"/>
                  <a:pt x="32379" y="344431"/>
                  <a:pt x="26697" y="353746"/>
                </a:cubicBezTo>
                <a:cubicBezTo>
                  <a:pt x="23809" y="365288"/>
                  <a:pt x="16673" y="378777"/>
                  <a:pt x="13349" y="393793"/>
                </a:cubicBezTo>
                <a:cubicBezTo>
                  <a:pt x="7478" y="420214"/>
                  <a:pt x="0" y="473886"/>
                  <a:pt x="0" y="473886"/>
                </a:cubicBezTo>
                <a:cubicBezTo>
                  <a:pt x="-8362" y="488383"/>
                  <a:pt x="-6332" y="606902"/>
                  <a:pt x="13349" y="667445"/>
                </a:cubicBezTo>
                <a:cubicBezTo>
                  <a:pt x="21461" y="687725"/>
                  <a:pt x="26645" y="714929"/>
                  <a:pt x="46721" y="734190"/>
                </a:cubicBezTo>
                <a:cubicBezTo>
                  <a:pt x="52235" y="744618"/>
                  <a:pt x="60115" y="753347"/>
                  <a:pt x="66744" y="760887"/>
                </a:cubicBezTo>
                <a:cubicBezTo>
                  <a:pt x="83712" y="780418"/>
                  <a:pt x="99186" y="800959"/>
                  <a:pt x="120140" y="814283"/>
                </a:cubicBezTo>
                <a:cubicBezTo>
                  <a:pt x="189483" y="887034"/>
                  <a:pt x="95874" y="802840"/>
                  <a:pt x="193559" y="854330"/>
                </a:cubicBezTo>
                <a:cubicBezTo>
                  <a:pt x="246015" y="887930"/>
                  <a:pt x="206170" y="873276"/>
                  <a:pt x="266978" y="887702"/>
                </a:cubicBezTo>
                <a:cubicBezTo>
                  <a:pt x="299350" y="889325"/>
                  <a:pt x="324990" y="905259"/>
                  <a:pt x="360420" y="914400"/>
                </a:cubicBezTo>
                <a:cubicBezTo>
                  <a:pt x="377563" y="920201"/>
                  <a:pt x="390396" y="928372"/>
                  <a:pt x="407141" y="927749"/>
                </a:cubicBezTo>
                <a:cubicBezTo>
                  <a:pt x="429082" y="924236"/>
                  <a:pt x="468046" y="932948"/>
                  <a:pt x="500584" y="934423"/>
                </a:cubicBezTo>
                <a:cubicBezTo>
                  <a:pt x="551902" y="940187"/>
                  <a:pt x="599591" y="930811"/>
                  <a:pt x="647422" y="927749"/>
                </a:cubicBezTo>
                <a:cubicBezTo>
                  <a:pt x="664625" y="926177"/>
                  <a:pt x="718952" y="918133"/>
                  <a:pt x="734189" y="914400"/>
                </a:cubicBezTo>
                <a:cubicBezTo>
                  <a:pt x="752130" y="904026"/>
                  <a:pt x="774261" y="901846"/>
                  <a:pt x="800934" y="887702"/>
                </a:cubicBezTo>
                <a:cubicBezTo>
                  <a:pt x="808987" y="886119"/>
                  <a:pt x="820183" y="876432"/>
                  <a:pt x="827632" y="874353"/>
                </a:cubicBezTo>
                <a:cubicBezTo>
                  <a:pt x="839417" y="870263"/>
                  <a:pt x="851220" y="866410"/>
                  <a:pt x="861004" y="861004"/>
                </a:cubicBezTo>
                <a:cubicBezTo>
                  <a:pt x="870360" y="858871"/>
                  <a:pt x="878963" y="843850"/>
                  <a:pt x="887702" y="840981"/>
                </a:cubicBezTo>
                <a:cubicBezTo>
                  <a:pt x="895152" y="835676"/>
                  <a:pt x="908474" y="833940"/>
                  <a:pt x="914400" y="827632"/>
                </a:cubicBezTo>
                <a:cubicBezTo>
                  <a:pt x="939955" y="811949"/>
                  <a:pt x="951716" y="800900"/>
                  <a:pt x="974470" y="780911"/>
                </a:cubicBezTo>
                <a:cubicBezTo>
                  <a:pt x="1009050" y="762292"/>
                  <a:pt x="1042449" y="746163"/>
                  <a:pt x="1061238" y="707492"/>
                </a:cubicBezTo>
                <a:cubicBezTo>
                  <a:pt x="1088256" y="656168"/>
                  <a:pt x="1075379" y="671793"/>
                  <a:pt x="1101284" y="640747"/>
                </a:cubicBezTo>
                <a:cubicBezTo>
                  <a:pt x="1094925" y="554547"/>
                  <a:pt x="1098809" y="701177"/>
                  <a:pt x="1121308" y="580677"/>
                </a:cubicBezTo>
                <a:cubicBezTo>
                  <a:pt x="1130894" y="552088"/>
                  <a:pt x="1142542" y="499169"/>
                  <a:pt x="1148005" y="460537"/>
                </a:cubicBezTo>
                <a:cubicBezTo>
                  <a:pt x="1162021" y="416042"/>
                  <a:pt x="1155862" y="441376"/>
                  <a:pt x="1161354" y="387118"/>
                </a:cubicBezTo>
                <a:cubicBezTo>
                  <a:pt x="1159345" y="365629"/>
                  <a:pt x="1162592" y="343784"/>
                  <a:pt x="1154680" y="320374"/>
                </a:cubicBezTo>
                <a:cubicBezTo>
                  <a:pt x="1147552" y="291896"/>
                  <a:pt x="1108833" y="239942"/>
                  <a:pt x="1101284" y="220257"/>
                </a:cubicBezTo>
                <a:cubicBezTo>
                  <a:pt x="1075155" y="170345"/>
                  <a:pt x="1043659" y="135448"/>
                  <a:pt x="994493" y="100117"/>
                </a:cubicBezTo>
                <a:cubicBezTo>
                  <a:pt x="967891" y="91115"/>
                  <a:pt x="943482" y="70243"/>
                  <a:pt x="914400" y="60070"/>
                </a:cubicBezTo>
                <a:cubicBezTo>
                  <a:pt x="854410" y="44786"/>
                  <a:pt x="772367" y="41511"/>
                  <a:pt x="714166" y="33372"/>
                </a:cubicBezTo>
                <a:cubicBezTo>
                  <a:pt x="638328" y="39161"/>
                  <a:pt x="603168" y="34474"/>
                  <a:pt x="513932" y="46721"/>
                </a:cubicBezTo>
                <a:cubicBezTo>
                  <a:pt x="500747" y="47822"/>
                  <a:pt x="487044" y="48426"/>
                  <a:pt x="473886" y="53395"/>
                </a:cubicBezTo>
                <a:cubicBezTo>
                  <a:pt x="451263" y="59612"/>
                  <a:pt x="428596" y="75132"/>
                  <a:pt x="407141" y="80093"/>
                </a:cubicBezTo>
                <a:cubicBezTo>
                  <a:pt x="393747" y="82110"/>
                  <a:pt x="385376" y="87771"/>
                  <a:pt x="373769" y="93442"/>
                </a:cubicBezTo>
                <a:cubicBezTo>
                  <a:pt x="351037" y="122659"/>
                  <a:pt x="322372" y="130994"/>
                  <a:pt x="307024" y="146838"/>
                </a:cubicBezTo>
                <a:cubicBezTo>
                  <a:pt x="300069" y="167883"/>
                  <a:pt x="277412" y="191091"/>
                  <a:pt x="273652" y="220257"/>
                </a:cubicBezTo>
                <a:cubicBezTo>
                  <a:pt x="266179" y="256303"/>
                  <a:pt x="278465" y="304243"/>
                  <a:pt x="280327" y="340397"/>
                </a:cubicBezTo>
                <a:cubicBezTo>
                  <a:pt x="280994" y="347401"/>
                  <a:pt x="287001" y="360419"/>
                  <a:pt x="287001" y="360420"/>
                </a:cubicBezTo>
              </a:path>
            </a:pathLst>
          </a:custGeom>
          <a:noFill/>
          <a:ln w="127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540630 w 1161354"/>
                      <a:gd name="connsiteY0" fmla="*/ 6674 h 934423"/>
                      <a:gd name="connsiteX1" fmla="*/ 480560 w 1161354"/>
                      <a:gd name="connsiteY1" fmla="*/ 0 h 934423"/>
                      <a:gd name="connsiteX2" fmla="*/ 407141 w 1161354"/>
                      <a:gd name="connsiteY2" fmla="*/ 6674 h 934423"/>
                      <a:gd name="connsiteX3" fmla="*/ 387118 w 1161354"/>
                      <a:gd name="connsiteY3" fmla="*/ 13349 h 934423"/>
                      <a:gd name="connsiteX4" fmla="*/ 260303 w 1161354"/>
                      <a:gd name="connsiteY4" fmla="*/ 66744 h 934423"/>
                      <a:gd name="connsiteX5" fmla="*/ 233605 w 1161354"/>
                      <a:gd name="connsiteY5" fmla="*/ 86768 h 934423"/>
                      <a:gd name="connsiteX6" fmla="*/ 160186 w 1161354"/>
                      <a:gd name="connsiteY6" fmla="*/ 140163 h 934423"/>
                      <a:gd name="connsiteX7" fmla="*/ 113465 w 1161354"/>
                      <a:gd name="connsiteY7" fmla="*/ 186884 h 934423"/>
                      <a:gd name="connsiteX8" fmla="*/ 93442 w 1161354"/>
                      <a:gd name="connsiteY8" fmla="*/ 220257 h 934423"/>
                      <a:gd name="connsiteX9" fmla="*/ 53395 w 1161354"/>
                      <a:gd name="connsiteY9" fmla="*/ 280327 h 934423"/>
                      <a:gd name="connsiteX10" fmla="*/ 40046 w 1161354"/>
                      <a:gd name="connsiteY10" fmla="*/ 320374 h 934423"/>
                      <a:gd name="connsiteX11" fmla="*/ 26697 w 1161354"/>
                      <a:gd name="connsiteY11" fmla="*/ 353746 h 934423"/>
                      <a:gd name="connsiteX12" fmla="*/ 13349 w 1161354"/>
                      <a:gd name="connsiteY12" fmla="*/ 393793 h 934423"/>
                      <a:gd name="connsiteX13" fmla="*/ 0 w 1161354"/>
                      <a:gd name="connsiteY13" fmla="*/ 473886 h 934423"/>
                      <a:gd name="connsiteX14" fmla="*/ 13349 w 1161354"/>
                      <a:gd name="connsiteY14" fmla="*/ 667445 h 934423"/>
                      <a:gd name="connsiteX15" fmla="*/ 46721 w 1161354"/>
                      <a:gd name="connsiteY15" fmla="*/ 734190 h 934423"/>
                      <a:gd name="connsiteX16" fmla="*/ 66744 w 1161354"/>
                      <a:gd name="connsiteY16" fmla="*/ 760887 h 934423"/>
                      <a:gd name="connsiteX17" fmla="*/ 120140 w 1161354"/>
                      <a:gd name="connsiteY17" fmla="*/ 814283 h 934423"/>
                      <a:gd name="connsiteX18" fmla="*/ 193559 w 1161354"/>
                      <a:gd name="connsiteY18" fmla="*/ 854330 h 934423"/>
                      <a:gd name="connsiteX19" fmla="*/ 266978 w 1161354"/>
                      <a:gd name="connsiteY19" fmla="*/ 887702 h 934423"/>
                      <a:gd name="connsiteX20" fmla="*/ 360420 w 1161354"/>
                      <a:gd name="connsiteY20" fmla="*/ 914400 h 934423"/>
                      <a:gd name="connsiteX21" fmla="*/ 407141 w 1161354"/>
                      <a:gd name="connsiteY21" fmla="*/ 927749 h 934423"/>
                      <a:gd name="connsiteX22" fmla="*/ 500584 w 1161354"/>
                      <a:gd name="connsiteY22" fmla="*/ 934423 h 934423"/>
                      <a:gd name="connsiteX23" fmla="*/ 647422 w 1161354"/>
                      <a:gd name="connsiteY23" fmla="*/ 927749 h 934423"/>
                      <a:gd name="connsiteX24" fmla="*/ 734189 w 1161354"/>
                      <a:gd name="connsiteY24" fmla="*/ 914400 h 934423"/>
                      <a:gd name="connsiteX25" fmla="*/ 800934 w 1161354"/>
                      <a:gd name="connsiteY25" fmla="*/ 887702 h 934423"/>
                      <a:gd name="connsiteX26" fmla="*/ 827632 w 1161354"/>
                      <a:gd name="connsiteY26" fmla="*/ 874353 h 934423"/>
                      <a:gd name="connsiteX27" fmla="*/ 861004 w 1161354"/>
                      <a:gd name="connsiteY27" fmla="*/ 861004 h 934423"/>
                      <a:gd name="connsiteX28" fmla="*/ 887702 w 1161354"/>
                      <a:gd name="connsiteY28" fmla="*/ 840981 h 934423"/>
                      <a:gd name="connsiteX29" fmla="*/ 914400 w 1161354"/>
                      <a:gd name="connsiteY29" fmla="*/ 827632 h 934423"/>
                      <a:gd name="connsiteX30" fmla="*/ 974470 w 1161354"/>
                      <a:gd name="connsiteY30" fmla="*/ 780911 h 934423"/>
                      <a:gd name="connsiteX31" fmla="*/ 1061238 w 1161354"/>
                      <a:gd name="connsiteY31" fmla="*/ 707492 h 934423"/>
                      <a:gd name="connsiteX32" fmla="*/ 1101284 w 1161354"/>
                      <a:gd name="connsiteY32" fmla="*/ 640747 h 934423"/>
                      <a:gd name="connsiteX33" fmla="*/ 1121308 w 1161354"/>
                      <a:gd name="connsiteY33" fmla="*/ 580677 h 934423"/>
                      <a:gd name="connsiteX34" fmla="*/ 1148005 w 1161354"/>
                      <a:gd name="connsiteY34" fmla="*/ 460537 h 934423"/>
                      <a:gd name="connsiteX35" fmla="*/ 1161354 w 1161354"/>
                      <a:gd name="connsiteY35" fmla="*/ 387118 h 934423"/>
                      <a:gd name="connsiteX36" fmla="*/ 1154680 w 1161354"/>
                      <a:gd name="connsiteY36" fmla="*/ 320374 h 934423"/>
                      <a:gd name="connsiteX37" fmla="*/ 1101284 w 1161354"/>
                      <a:gd name="connsiteY37" fmla="*/ 220257 h 934423"/>
                      <a:gd name="connsiteX38" fmla="*/ 994493 w 1161354"/>
                      <a:gd name="connsiteY38" fmla="*/ 100117 h 934423"/>
                      <a:gd name="connsiteX39" fmla="*/ 914400 w 1161354"/>
                      <a:gd name="connsiteY39" fmla="*/ 60070 h 934423"/>
                      <a:gd name="connsiteX40" fmla="*/ 714166 w 1161354"/>
                      <a:gd name="connsiteY40" fmla="*/ 33372 h 934423"/>
                      <a:gd name="connsiteX41" fmla="*/ 513932 w 1161354"/>
                      <a:gd name="connsiteY41" fmla="*/ 46721 h 934423"/>
                      <a:gd name="connsiteX42" fmla="*/ 473886 w 1161354"/>
                      <a:gd name="connsiteY42" fmla="*/ 53395 h 934423"/>
                      <a:gd name="connsiteX43" fmla="*/ 407141 w 1161354"/>
                      <a:gd name="connsiteY43" fmla="*/ 80093 h 934423"/>
                      <a:gd name="connsiteX44" fmla="*/ 373769 w 1161354"/>
                      <a:gd name="connsiteY44" fmla="*/ 93442 h 934423"/>
                      <a:gd name="connsiteX45" fmla="*/ 307024 w 1161354"/>
                      <a:gd name="connsiteY45" fmla="*/ 146838 h 934423"/>
                      <a:gd name="connsiteX46" fmla="*/ 273652 w 1161354"/>
                      <a:gd name="connsiteY46" fmla="*/ 220257 h 934423"/>
                      <a:gd name="connsiteX47" fmla="*/ 280327 w 1161354"/>
                      <a:gd name="connsiteY47" fmla="*/ 340397 h 934423"/>
                      <a:gd name="connsiteX48" fmla="*/ 287001 w 1161354"/>
                      <a:gd name="connsiteY48" fmla="*/ 360420 h 9344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</a:cxnLst>
                    <a:rect l="l" t="t" r="r" b="b"/>
                    <a:pathLst>
                      <a:path w="1161354" h="934423">
                        <a:moveTo>
                          <a:pt x="540630" y="6674"/>
                        </a:moveTo>
                        <a:cubicBezTo>
                          <a:pt x="520607" y="4449"/>
                          <a:pt x="500707" y="0"/>
                          <a:pt x="480560" y="0"/>
                        </a:cubicBezTo>
                        <a:cubicBezTo>
                          <a:pt x="455986" y="0"/>
                          <a:pt x="431468" y="3199"/>
                          <a:pt x="407141" y="6674"/>
                        </a:cubicBezTo>
                        <a:cubicBezTo>
                          <a:pt x="400176" y="7669"/>
                          <a:pt x="393883" y="11416"/>
                          <a:pt x="387118" y="13349"/>
                        </a:cubicBezTo>
                        <a:cubicBezTo>
                          <a:pt x="322116" y="31921"/>
                          <a:pt x="379073" y="4233"/>
                          <a:pt x="260303" y="66744"/>
                        </a:cubicBezTo>
                        <a:cubicBezTo>
                          <a:pt x="250459" y="71925"/>
                          <a:pt x="243038" y="80872"/>
                          <a:pt x="233605" y="86768"/>
                        </a:cubicBezTo>
                        <a:cubicBezTo>
                          <a:pt x="176209" y="122642"/>
                          <a:pt x="239930" y="66117"/>
                          <a:pt x="160186" y="140163"/>
                        </a:cubicBezTo>
                        <a:cubicBezTo>
                          <a:pt x="144046" y="155149"/>
                          <a:pt x="124796" y="167998"/>
                          <a:pt x="113465" y="186884"/>
                        </a:cubicBezTo>
                        <a:cubicBezTo>
                          <a:pt x="106791" y="198008"/>
                          <a:pt x="100638" y="209463"/>
                          <a:pt x="93442" y="220257"/>
                        </a:cubicBezTo>
                        <a:cubicBezTo>
                          <a:pt x="75838" y="246664"/>
                          <a:pt x="67245" y="249858"/>
                          <a:pt x="53395" y="280327"/>
                        </a:cubicBezTo>
                        <a:cubicBezTo>
                          <a:pt x="47572" y="293137"/>
                          <a:pt x="44855" y="307150"/>
                          <a:pt x="40046" y="320374"/>
                        </a:cubicBezTo>
                        <a:cubicBezTo>
                          <a:pt x="35952" y="331634"/>
                          <a:pt x="30791" y="342486"/>
                          <a:pt x="26697" y="353746"/>
                        </a:cubicBezTo>
                        <a:cubicBezTo>
                          <a:pt x="21888" y="366970"/>
                          <a:pt x="16401" y="380057"/>
                          <a:pt x="13349" y="393793"/>
                        </a:cubicBezTo>
                        <a:cubicBezTo>
                          <a:pt x="7478" y="420214"/>
                          <a:pt x="0" y="473886"/>
                          <a:pt x="0" y="473886"/>
                        </a:cubicBezTo>
                        <a:cubicBezTo>
                          <a:pt x="631" y="489021"/>
                          <a:pt x="-2425" y="614866"/>
                          <a:pt x="13349" y="667445"/>
                        </a:cubicBezTo>
                        <a:cubicBezTo>
                          <a:pt x="21060" y="693150"/>
                          <a:pt x="31853" y="711888"/>
                          <a:pt x="46721" y="734190"/>
                        </a:cubicBezTo>
                        <a:cubicBezTo>
                          <a:pt x="52891" y="743446"/>
                          <a:pt x="59227" y="752687"/>
                          <a:pt x="66744" y="760887"/>
                        </a:cubicBezTo>
                        <a:cubicBezTo>
                          <a:pt x="83753" y="779442"/>
                          <a:pt x="98556" y="801333"/>
                          <a:pt x="120140" y="814283"/>
                        </a:cubicBezTo>
                        <a:cubicBezTo>
                          <a:pt x="203721" y="864431"/>
                          <a:pt x="98868" y="802680"/>
                          <a:pt x="193559" y="854330"/>
                        </a:cubicBezTo>
                        <a:cubicBezTo>
                          <a:pt x="242538" y="881046"/>
                          <a:pt x="210783" y="870843"/>
                          <a:pt x="266978" y="887702"/>
                        </a:cubicBezTo>
                        <a:cubicBezTo>
                          <a:pt x="298006" y="897010"/>
                          <a:pt x="329273" y="905501"/>
                          <a:pt x="360420" y="914400"/>
                        </a:cubicBezTo>
                        <a:cubicBezTo>
                          <a:pt x="375994" y="918850"/>
                          <a:pt x="390985" y="926595"/>
                          <a:pt x="407141" y="927749"/>
                        </a:cubicBezTo>
                        <a:lnTo>
                          <a:pt x="500584" y="934423"/>
                        </a:lnTo>
                        <a:cubicBezTo>
                          <a:pt x="549530" y="932198"/>
                          <a:pt x="598542" y="931120"/>
                          <a:pt x="647422" y="927749"/>
                        </a:cubicBezTo>
                        <a:cubicBezTo>
                          <a:pt x="662061" y="926739"/>
                          <a:pt x="717747" y="917140"/>
                          <a:pt x="734189" y="914400"/>
                        </a:cubicBezTo>
                        <a:cubicBezTo>
                          <a:pt x="756437" y="905501"/>
                          <a:pt x="778909" y="897141"/>
                          <a:pt x="800934" y="887702"/>
                        </a:cubicBezTo>
                        <a:cubicBezTo>
                          <a:pt x="810079" y="883783"/>
                          <a:pt x="818540" y="878394"/>
                          <a:pt x="827632" y="874353"/>
                        </a:cubicBezTo>
                        <a:cubicBezTo>
                          <a:pt x="838580" y="869487"/>
                          <a:pt x="850531" y="866822"/>
                          <a:pt x="861004" y="861004"/>
                        </a:cubicBezTo>
                        <a:cubicBezTo>
                          <a:pt x="870728" y="855602"/>
                          <a:pt x="878269" y="846877"/>
                          <a:pt x="887702" y="840981"/>
                        </a:cubicBezTo>
                        <a:cubicBezTo>
                          <a:pt x="896139" y="835708"/>
                          <a:pt x="906219" y="833295"/>
                          <a:pt x="914400" y="827632"/>
                        </a:cubicBezTo>
                        <a:cubicBezTo>
                          <a:pt x="935256" y="813193"/>
                          <a:pt x="952718" y="793962"/>
                          <a:pt x="974470" y="780911"/>
                        </a:cubicBezTo>
                        <a:cubicBezTo>
                          <a:pt x="1008393" y="760556"/>
                          <a:pt x="1039478" y="745574"/>
                          <a:pt x="1061238" y="707492"/>
                        </a:cubicBezTo>
                        <a:cubicBezTo>
                          <a:pt x="1091915" y="653806"/>
                          <a:pt x="1077986" y="675695"/>
                          <a:pt x="1101284" y="640747"/>
                        </a:cubicBezTo>
                        <a:cubicBezTo>
                          <a:pt x="1123698" y="551097"/>
                          <a:pt x="1087791" y="689605"/>
                          <a:pt x="1121308" y="580677"/>
                        </a:cubicBezTo>
                        <a:cubicBezTo>
                          <a:pt x="1132084" y="545657"/>
                          <a:pt x="1141047" y="495326"/>
                          <a:pt x="1148005" y="460537"/>
                        </a:cubicBezTo>
                        <a:cubicBezTo>
                          <a:pt x="1157339" y="413864"/>
                          <a:pt x="1152809" y="438392"/>
                          <a:pt x="1161354" y="387118"/>
                        </a:cubicBezTo>
                        <a:cubicBezTo>
                          <a:pt x="1159129" y="364870"/>
                          <a:pt x="1159065" y="342299"/>
                          <a:pt x="1154680" y="320374"/>
                        </a:cubicBezTo>
                        <a:cubicBezTo>
                          <a:pt x="1148934" y="291641"/>
                          <a:pt x="1110166" y="235060"/>
                          <a:pt x="1101284" y="220257"/>
                        </a:cubicBezTo>
                        <a:cubicBezTo>
                          <a:pt x="1073256" y="173543"/>
                          <a:pt x="1049325" y="127533"/>
                          <a:pt x="994493" y="100117"/>
                        </a:cubicBezTo>
                        <a:cubicBezTo>
                          <a:pt x="967795" y="86768"/>
                          <a:pt x="941910" y="71653"/>
                          <a:pt x="914400" y="60070"/>
                        </a:cubicBezTo>
                        <a:cubicBezTo>
                          <a:pt x="857225" y="35996"/>
                          <a:pt x="760348" y="37388"/>
                          <a:pt x="714166" y="33372"/>
                        </a:cubicBezTo>
                        <a:lnTo>
                          <a:pt x="513932" y="46721"/>
                        </a:lnTo>
                        <a:cubicBezTo>
                          <a:pt x="500446" y="47845"/>
                          <a:pt x="486803" y="49359"/>
                          <a:pt x="473886" y="53395"/>
                        </a:cubicBezTo>
                        <a:cubicBezTo>
                          <a:pt x="451015" y="60542"/>
                          <a:pt x="429389" y="71194"/>
                          <a:pt x="407141" y="80093"/>
                        </a:cubicBezTo>
                        <a:cubicBezTo>
                          <a:pt x="396017" y="84543"/>
                          <a:pt x="383125" y="85958"/>
                          <a:pt x="373769" y="93442"/>
                        </a:cubicBezTo>
                        <a:lnTo>
                          <a:pt x="307024" y="146838"/>
                        </a:lnTo>
                        <a:cubicBezTo>
                          <a:pt x="295900" y="171311"/>
                          <a:pt x="277325" y="193627"/>
                          <a:pt x="273652" y="220257"/>
                        </a:cubicBezTo>
                        <a:cubicBezTo>
                          <a:pt x="268172" y="259989"/>
                          <a:pt x="276524" y="300469"/>
                          <a:pt x="280327" y="340397"/>
                        </a:cubicBezTo>
                        <a:cubicBezTo>
                          <a:pt x="280994" y="347401"/>
                          <a:pt x="287001" y="360420"/>
                          <a:pt x="287001" y="360420"/>
                        </a:cubicBez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EC23F85-3F62-6C38-DB6C-418C08C9FFD6}"/>
              </a:ext>
            </a:extLst>
          </p:cNvPr>
          <p:cNvSpPr txBox="1">
            <a:spLocks/>
          </p:cNvSpPr>
          <p:nvPr/>
        </p:nvSpPr>
        <p:spPr>
          <a:xfrm>
            <a:off x="838200" y="2263698"/>
            <a:ext cx="4390491" cy="230324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nl-NL" sz="2400" dirty="0">
                <a:latin typeface="Fira Sans"/>
              </a:rPr>
              <a:t>Toegangsverzoek vraag/antwoord</a:t>
            </a:r>
          </a:p>
          <a:p>
            <a:pPr marL="457200" indent="-457200">
              <a:buFont typeface="+mj-lt"/>
              <a:buAutoNum type="arabicPeriod"/>
            </a:pPr>
            <a:r>
              <a:rPr lang="nl-NL" sz="2400" dirty="0">
                <a:latin typeface="Fira Sans"/>
              </a:rPr>
              <a:t>Logboek toegangsbeslissingen</a:t>
            </a:r>
          </a:p>
          <a:p>
            <a:pPr marL="457200" indent="-457200">
              <a:buFont typeface="+mj-lt"/>
              <a:buAutoNum type="arabicPeriod"/>
            </a:pPr>
            <a:r>
              <a:rPr lang="nl-NL" sz="2400" dirty="0">
                <a:latin typeface="Fira Sans"/>
              </a:rPr>
              <a:t>Register toegangsbeleid</a:t>
            </a:r>
          </a:p>
        </p:txBody>
      </p:sp>
      <p:sp>
        <p:nvSpPr>
          <p:cNvPr id="11" name="Vrije vorm 10">
            <a:extLst>
              <a:ext uri="{FF2B5EF4-FFF2-40B4-BE49-F238E27FC236}">
                <a16:creationId xmlns:a16="http://schemas.microsoft.com/office/drawing/2014/main" id="{FF0B7324-CEC0-E5D0-4CC0-ACD874DDBEB9}"/>
              </a:ext>
            </a:extLst>
          </p:cNvPr>
          <p:cNvSpPr/>
          <p:nvPr/>
        </p:nvSpPr>
        <p:spPr>
          <a:xfrm rot="20228381">
            <a:off x="9256496" y="4285397"/>
            <a:ext cx="1553408" cy="1038363"/>
          </a:xfrm>
          <a:custGeom>
            <a:avLst/>
            <a:gdLst>
              <a:gd name="csX0" fmla="*/ 649351 w 1553408"/>
              <a:gd name="csY0" fmla="*/ 58876 h 1038363"/>
              <a:gd name="csX1" fmla="*/ 609392 w 1553408"/>
              <a:gd name="csY1" fmla="*/ 21409 h 1038363"/>
              <a:gd name="csX2" fmla="*/ 579424 w 1553408"/>
              <a:gd name="csY2" fmla="*/ 10704 h 1038363"/>
              <a:gd name="csX3" fmla="*/ 514492 w 1553408"/>
              <a:gd name="csY3" fmla="*/ 0 h 1038363"/>
              <a:gd name="csX4" fmla="*/ 384627 w 1553408"/>
              <a:gd name="csY4" fmla="*/ 10704 h 1038363"/>
              <a:gd name="csX5" fmla="*/ 209810 w 1553408"/>
              <a:gd name="csY5" fmla="*/ 90990 h 1038363"/>
              <a:gd name="csX6" fmla="*/ 184836 w 1553408"/>
              <a:gd name="csY6" fmla="*/ 107047 h 1038363"/>
              <a:gd name="csX7" fmla="*/ 149873 w 1553408"/>
              <a:gd name="csY7" fmla="*/ 149867 h 1038363"/>
              <a:gd name="csX8" fmla="*/ 129893 w 1553408"/>
              <a:gd name="csY8" fmla="*/ 171276 h 1038363"/>
              <a:gd name="csX9" fmla="*/ 99924 w 1553408"/>
              <a:gd name="csY9" fmla="*/ 224800 h 1038363"/>
              <a:gd name="csX10" fmla="*/ 79945 w 1553408"/>
              <a:gd name="csY10" fmla="*/ 251561 h 1038363"/>
              <a:gd name="csX11" fmla="*/ 54971 w 1553408"/>
              <a:gd name="csY11" fmla="*/ 321143 h 1038363"/>
              <a:gd name="csX12" fmla="*/ 39987 w 1553408"/>
              <a:gd name="csY12" fmla="*/ 358610 h 1038363"/>
              <a:gd name="csX13" fmla="*/ 29998 w 1553408"/>
              <a:gd name="csY13" fmla="*/ 401428 h 1038363"/>
              <a:gd name="csX14" fmla="*/ 10018 w 1553408"/>
              <a:gd name="csY14" fmla="*/ 476362 h 1038363"/>
              <a:gd name="csX15" fmla="*/ 29 w 1553408"/>
              <a:gd name="csY15" fmla="*/ 556648 h 1038363"/>
              <a:gd name="csX16" fmla="*/ 5024 w 1553408"/>
              <a:gd name="csY16" fmla="*/ 701162 h 1038363"/>
              <a:gd name="csX17" fmla="*/ 25002 w 1553408"/>
              <a:gd name="csY17" fmla="*/ 765391 h 1038363"/>
              <a:gd name="csX18" fmla="*/ 79945 w 1553408"/>
              <a:gd name="csY18" fmla="*/ 861734 h 1038363"/>
              <a:gd name="csX19" fmla="*/ 129893 w 1553408"/>
              <a:gd name="csY19" fmla="*/ 915258 h 1038363"/>
              <a:gd name="csX20" fmla="*/ 159862 w 1553408"/>
              <a:gd name="csY20" fmla="*/ 942020 h 1038363"/>
              <a:gd name="csX21" fmla="*/ 274742 w 1553408"/>
              <a:gd name="csY21" fmla="*/ 995543 h 1038363"/>
              <a:gd name="csX22" fmla="*/ 369643 w 1553408"/>
              <a:gd name="csY22" fmla="*/ 1022306 h 1038363"/>
              <a:gd name="csX23" fmla="*/ 469539 w 1553408"/>
              <a:gd name="csY23" fmla="*/ 1033010 h 1038363"/>
              <a:gd name="csX24" fmla="*/ 524482 w 1553408"/>
              <a:gd name="csY24" fmla="*/ 1038363 h 1038363"/>
              <a:gd name="csX25" fmla="*/ 739257 w 1553408"/>
              <a:gd name="csY25" fmla="*/ 1033010 h 1038363"/>
              <a:gd name="csX26" fmla="*/ 844148 w 1553408"/>
              <a:gd name="csY26" fmla="*/ 1011601 h 1038363"/>
              <a:gd name="csX27" fmla="*/ 1003981 w 1553408"/>
              <a:gd name="csY27" fmla="*/ 968781 h 1038363"/>
              <a:gd name="csX28" fmla="*/ 1108872 w 1553408"/>
              <a:gd name="csY28" fmla="*/ 920610 h 1038363"/>
              <a:gd name="csX29" fmla="*/ 1253720 w 1553408"/>
              <a:gd name="csY29" fmla="*/ 840324 h 1038363"/>
              <a:gd name="csX30" fmla="*/ 1298673 w 1553408"/>
              <a:gd name="csY30" fmla="*/ 802857 h 1038363"/>
              <a:gd name="csX31" fmla="*/ 1383584 w 1553408"/>
              <a:gd name="csY31" fmla="*/ 733276 h 1038363"/>
              <a:gd name="csX32" fmla="*/ 1453512 w 1553408"/>
              <a:gd name="csY32" fmla="*/ 658343 h 1038363"/>
              <a:gd name="csX33" fmla="*/ 1538423 w 1553408"/>
              <a:gd name="csY33" fmla="*/ 487066 h 1038363"/>
              <a:gd name="csX34" fmla="*/ 1553408 w 1553408"/>
              <a:gd name="csY34" fmla="*/ 396076 h 1038363"/>
              <a:gd name="csX35" fmla="*/ 1533428 w 1553408"/>
              <a:gd name="csY35" fmla="*/ 262266 h 1038363"/>
              <a:gd name="csX36" fmla="*/ 1488475 w 1553408"/>
              <a:gd name="csY36" fmla="*/ 181981 h 1038363"/>
              <a:gd name="csX37" fmla="*/ 1453512 w 1553408"/>
              <a:gd name="csY37" fmla="*/ 144514 h 1038363"/>
              <a:gd name="csX38" fmla="*/ 1373595 w 1553408"/>
              <a:gd name="csY38" fmla="*/ 90990 h 1038363"/>
              <a:gd name="csX39" fmla="*/ 1208767 w 1553408"/>
              <a:gd name="csY39" fmla="*/ 37466 h 1038363"/>
              <a:gd name="csX40" fmla="*/ 1148830 w 1553408"/>
              <a:gd name="csY40" fmla="*/ 32114 h 1038363"/>
              <a:gd name="csX41" fmla="*/ 1028955 w 1553408"/>
              <a:gd name="csY41" fmla="*/ 26761 h 1038363"/>
              <a:gd name="csX42" fmla="*/ 799195 w 1553408"/>
              <a:gd name="csY42" fmla="*/ 74933 h 1038363"/>
              <a:gd name="csX43" fmla="*/ 634367 w 1553408"/>
              <a:gd name="csY43" fmla="*/ 139162 h 1038363"/>
              <a:gd name="csX44" fmla="*/ 474533 w 1553408"/>
              <a:gd name="csY44" fmla="*/ 230153 h 1038363"/>
              <a:gd name="csX45" fmla="*/ 344669 w 1553408"/>
              <a:gd name="csY45" fmla="*/ 326495 h 1038363"/>
              <a:gd name="csX46" fmla="*/ 254763 w 1553408"/>
              <a:gd name="csY46" fmla="*/ 422838 h 10383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</a:cxnLst>
            <a:rect l="l" t="t" r="r" b="b"/>
            <a:pathLst>
              <a:path w="1553408" h="1038363" extrusionOk="0">
                <a:moveTo>
                  <a:pt x="649351" y="58876"/>
                </a:moveTo>
                <a:cubicBezTo>
                  <a:pt x="633486" y="44817"/>
                  <a:pt x="620362" y="33136"/>
                  <a:pt x="609392" y="21409"/>
                </a:cubicBezTo>
                <a:cubicBezTo>
                  <a:pt x="601195" y="15446"/>
                  <a:pt x="586654" y="14038"/>
                  <a:pt x="579424" y="10704"/>
                </a:cubicBezTo>
                <a:cubicBezTo>
                  <a:pt x="552464" y="4009"/>
                  <a:pt x="545784" y="5746"/>
                  <a:pt x="514492" y="0"/>
                </a:cubicBezTo>
                <a:cubicBezTo>
                  <a:pt x="467770" y="1689"/>
                  <a:pt x="428685" y="1832"/>
                  <a:pt x="384627" y="10704"/>
                </a:cubicBezTo>
                <a:cubicBezTo>
                  <a:pt x="273399" y="36428"/>
                  <a:pt x="280743" y="40344"/>
                  <a:pt x="209810" y="90990"/>
                </a:cubicBezTo>
                <a:cubicBezTo>
                  <a:pt x="199102" y="96227"/>
                  <a:pt x="190462" y="101459"/>
                  <a:pt x="184836" y="107047"/>
                </a:cubicBezTo>
                <a:cubicBezTo>
                  <a:pt x="171378" y="115943"/>
                  <a:pt x="159495" y="139133"/>
                  <a:pt x="149873" y="149867"/>
                </a:cubicBezTo>
                <a:cubicBezTo>
                  <a:pt x="144668" y="157956"/>
                  <a:pt x="135845" y="163179"/>
                  <a:pt x="129893" y="171276"/>
                </a:cubicBezTo>
                <a:cubicBezTo>
                  <a:pt x="117143" y="187970"/>
                  <a:pt x="115389" y="211281"/>
                  <a:pt x="99924" y="224800"/>
                </a:cubicBezTo>
                <a:cubicBezTo>
                  <a:pt x="94552" y="235636"/>
                  <a:pt x="85367" y="242212"/>
                  <a:pt x="79945" y="251561"/>
                </a:cubicBezTo>
                <a:cubicBezTo>
                  <a:pt x="67567" y="277651"/>
                  <a:pt x="66738" y="298594"/>
                  <a:pt x="54971" y="321143"/>
                </a:cubicBezTo>
                <a:cubicBezTo>
                  <a:pt x="53344" y="331265"/>
                  <a:pt x="44454" y="343570"/>
                  <a:pt x="39987" y="358610"/>
                </a:cubicBezTo>
                <a:cubicBezTo>
                  <a:pt x="34008" y="372836"/>
                  <a:pt x="30905" y="385367"/>
                  <a:pt x="29998" y="401428"/>
                </a:cubicBezTo>
                <a:cubicBezTo>
                  <a:pt x="23618" y="426490"/>
                  <a:pt x="10018" y="476361"/>
                  <a:pt x="10018" y="476362"/>
                </a:cubicBezTo>
                <a:cubicBezTo>
                  <a:pt x="8842" y="484868"/>
                  <a:pt x="-267" y="549912"/>
                  <a:pt x="29" y="556648"/>
                </a:cubicBezTo>
                <a:cubicBezTo>
                  <a:pt x="-2674" y="609686"/>
                  <a:pt x="6111" y="658407"/>
                  <a:pt x="5024" y="701162"/>
                </a:cubicBezTo>
                <a:cubicBezTo>
                  <a:pt x="7512" y="728057"/>
                  <a:pt x="17611" y="744004"/>
                  <a:pt x="25002" y="765391"/>
                </a:cubicBezTo>
                <a:cubicBezTo>
                  <a:pt x="35707" y="804316"/>
                  <a:pt x="50579" y="837341"/>
                  <a:pt x="79945" y="861734"/>
                </a:cubicBezTo>
                <a:cubicBezTo>
                  <a:pt x="98135" y="882625"/>
                  <a:pt x="110284" y="899283"/>
                  <a:pt x="129893" y="915258"/>
                </a:cubicBezTo>
                <a:cubicBezTo>
                  <a:pt x="139925" y="921670"/>
                  <a:pt x="146482" y="933936"/>
                  <a:pt x="159862" y="942020"/>
                </a:cubicBezTo>
                <a:cubicBezTo>
                  <a:pt x="203460" y="975270"/>
                  <a:pt x="232055" y="980345"/>
                  <a:pt x="274742" y="995543"/>
                </a:cubicBezTo>
                <a:cubicBezTo>
                  <a:pt x="308193" y="1014492"/>
                  <a:pt x="327248" y="1011602"/>
                  <a:pt x="369643" y="1022306"/>
                </a:cubicBezTo>
                <a:cubicBezTo>
                  <a:pt x="408232" y="1028742"/>
                  <a:pt x="435941" y="1023557"/>
                  <a:pt x="469539" y="1033010"/>
                </a:cubicBezTo>
                <a:cubicBezTo>
                  <a:pt x="485387" y="1032275"/>
                  <a:pt x="504716" y="1037513"/>
                  <a:pt x="524482" y="1038363"/>
                </a:cubicBezTo>
                <a:cubicBezTo>
                  <a:pt x="584844" y="1032732"/>
                  <a:pt x="660233" y="1046712"/>
                  <a:pt x="739257" y="1033010"/>
                </a:cubicBezTo>
                <a:cubicBezTo>
                  <a:pt x="771446" y="1037092"/>
                  <a:pt x="812809" y="1014278"/>
                  <a:pt x="844148" y="1011601"/>
                </a:cubicBezTo>
                <a:cubicBezTo>
                  <a:pt x="909832" y="1005561"/>
                  <a:pt x="948724" y="991412"/>
                  <a:pt x="1003981" y="968781"/>
                </a:cubicBezTo>
                <a:cubicBezTo>
                  <a:pt x="1050002" y="952352"/>
                  <a:pt x="1063215" y="941637"/>
                  <a:pt x="1108872" y="920610"/>
                </a:cubicBezTo>
                <a:cubicBezTo>
                  <a:pt x="1103656" y="918929"/>
                  <a:pt x="1231773" y="859765"/>
                  <a:pt x="1253720" y="840324"/>
                </a:cubicBezTo>
                <a:cubicBezTo>
                  <a:pt x="1274827" y="827634"/>
                  <a:pt x="1282756" y="818424"/>
                  <a:pt x="1298673" y="802857"/>
                </a:cubicBezTo>
                <a:cubicBezTo>
                  <a:pt x="1357001" y="768028"/>
                  <a:pt x="1335877" y="783917"/>
                  <a:pt x="1383584" y="733276"/>
                </a:cubicBezTo>
                <a:cubicBezTo>
                  <a:pt x="1402112" y="712319"/>
                  <a:pt x="1431997" y="682246"/>
                  <a:pt x="1453512" y="658343"/>
                </a:cubicBezTo>
                <a:cubicBezTo>
                  <a:pt x="1478354" y="603122"/>
                  <a:pt x="1528777" y="559575"/>
                  <a:pt x="1538423" y="487066"/>
                </a:cubicBezTo>
                <a:cubicBezTo>
                  <a:pt x="1547507" y="455258"/>
                  <a:pt x="1549885" y="433825"/>
                  <a:pt x="1553408" y="396076"/>
                </a:cubicBezTo>
                <a:cubicBezTo>
                  <a:pt x="1555866" y="366324"/>
                  <a:pt x="1547341" y="300378"/>
                  <a:pt x="1533428" y="262266"/>
                </a:cubicBezTo>
                <a:cubicBezTo>
                  <a:pt x="1525406" y="240122"/>
                  <a:pt x="1507269" y="204089"/>
                  <a:pt x="1488475" y="181981"/>
                </a:cubicBezTo>
                <a:cubicBezTo>
                  <a:pt x="1474472" y="169176"/>
                  <a:pt x="1465912" y="158139"/>
                  <a:pt x="1453512" y="144514"/>
                </a:cubicBezTo>
                <a:cubicBezTo>
                  <a:pt x="1428657" y="123820"/>
                  <a:pt x="1399356" y="109457"/>
                  <a:pt x="1373595" y="90990"/>
                </a:cubicBezTo>
                <a:cubicBezTo>
                  <a:pt x="1342020" y="74773"/>
                  <a:pt x="1225105" y="38129"/>
                  <a:pt x="1208767" y="37466"/>
                </a:cubicBezTo>
                <a:cubicBezTo>
                  <a:pt x="1188769" y="34264"/>
                  <a:pt x="1172506" y="34561"/>
                  <a:pt x="1148830" y="32114"/>
                </a:cubicBezTo>
                <a:cubicBezTo>
                  <a:pt x="1108121" y="28196"/>
                  <a:pt x="1079869" y="26459"/>
                  <a:pt x="1028955" y="26761"/>
                </a:cubicBezTo>
                <a:cubicBezTo>
                  <a:pt x="958185" y="32722"/>
                  <a:pt x="854739" y="41245"/>
                  <a:pt x="799195" y="74933"/>
                </a:cubicBezTo>
                <a:cubicBezTo>
                  <a:pt x="743515" y="87010"/>
                  <a:pt x="691626" y="121745"/>
                  <a:pt x="634367" y="139162"/>
                </a:cubicBezTo>
                <a:cubicBezTo>
                  <a:pt x="559590" y="184014"/>
                  <a:pt x="529248" y="190404"/>
                  <a:pt x="474533" y="230153"/>
                </a:cubicBezTo>
                <a:cubicBezTo>
                  <a:pt x="469644" y="237804"/>
                  <a:pt x="368969" y="308180"/>
                  <a:pt x="344669" y="326495"/>
                </a:cubicBezTo>
                <a:cubicBezTo>
                  <a:pt x="313526" y="357300"/>
                  <a:pt x="254763" y="422838"/>
                  <a:pt x="254763" y="422838"/>
                </a:cubicBezTo>
              </a:path>
            </a:pathLst>
          </a:custGeom>
          <a:noFill/>
          <a:ln w="22225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867718 w 2075794"/>
                      <a:gd name="connsiteY0" fmla="*/ 73419 h 1294844"/>
                      <a:gd name="connsiteX1" fmla="*/ 814322 w 2075794"/>
                      <a:gd name="connsiteY1" fmla="*/ 26698 h 1294844"/>
                      <a:gd name="connsiteX2" fmla="*/ 774276 w 2075794"/>
                      <a:gd name="connsiteY2" fmla="*/ 13349 h 1294844"/>
                      <a:gd name="connsiteX3" fmla="*/ 687508 w 2075794"/>
                      <a:gd name="connsiteY3" fmla="*/ 0 h 1294844"/>
                      <a:gd name="connsiteX4" fmla="*/ 513972 w 2075794"/>
                      <a:gd name="connsiteY4" fmla="*/ 13349 h 1294844"/>
                      <a:gd name="connsiteX5" fmla="*/ 280366 w 2075794"/>
                      <a:gd name="connsiteY5" fmla="*/ 113466 h 1294844"/>
                      <a:gd name="connsiteX6" fmla="*/ 246994 w 2075794"/>
                      <a:gd name="connsiteY6" fmla="*/ 133489 h 1294844"/>
                      <a:gd name="connsiteX7" fmla="*/ 200273 w 2075794"/>
                      <a:gd name="connsiteY7" fmla="*/ 186885 h 1294844"/>
                      <a:gd name="connsiteX8" fmla="*/ 173575 w 2075794"/>
                      <a:gd name="connsiteY8" fmla="*/ 213583 h 1294844"/>
                      <a:gd name="connsiteX9" fmla="*/ 133528 w 2075794"/>
                      <a:gd name="connsiteY9" fmla="*/ 280327 h 1294844"/>
                      <a:gd name="connsiteX10" fmla="*/ 106830 w 2075794"/>
                      <a:gd name="connsiteY10" fmla="*/ 313699 h 1294844"/>
                      <a:gd name="connsiteX11" fmla="*/ 73458 w 2075794"/>
                      <a:gd name="connsiteY11" fmla="*/ 400467 h 1294844"/>
                      <a:gd name="connsiteX12" fmla="*/ 53435 w 2075794"/>
                      <a:gd name="connsiteY12" fmla="*/ 447189 h 1294844"/>
                      <a:gd name="connsiteX13" fmla="*/ 40086 w 2075794"/>
                      <a:gd name="connsiteY13" fmla="*/ 500584 h 1294844"/>
                      <a:gd name="connsiteX14" fmla="*/ 13388 w 2075794"/>
                      <a:gd name="connsiteY14" fmla="*/ 594026 h 1294844"/>
                      <a:gd name="connsiteX15" fmla="*/ 39 w 2075794"/>
                      <a:gd name="connsiteY15" fmla="*/ 694143 h 1294844"/>
                      <a:gd name="connsiteX16" fmla="*/ 6714 w 2075794"/>
                      <a:gd name="connsiteY16" fmla="*/ 874353 h 1294844"/>
                      <a:gd name="connsiteX17" fmla="*/ 33411 w 2075794"/>
                      <a:gd name="connsiteY17" fmla="*/ 954447 h 1294844"/>
                      <a:gd name="connsiteX18" fmla="*/ 106830 w 2075794"/>
                      <a:gd name="connsiteY18" fmla="*/ 1074587 h 1294844"/>
                      <a:gd name="connsiteX19" fmla="*/ 173575 w 2075794"/>
                      <a:gd name="connsiteY19" fmla="*/ 1141332 h 1294844"/>
                      <a:gd name="connsiteX20" fmla="*/ 213622 w 2075794"/>
                      <a:gd name="connsiteY20" fmla="*/ 1174704 h 1294844"/>
                      <a:gd name="connsiteX21" fmla="*/ 367134 w 2075794"/>
                      <a:gd name="connsiteY21" fmla="*/ 1241448 h 1294844"/>
                      <a:gd name="connsiteX22" fmla="*/ 493949 w 2075794"/>
                      <a:gd name="connsiteY22" fmla="*/ 1274821 h 1294844"/>
                      <a:gd name="connsiteX23" fmla="*/ 627438 w 2075794"/>
                      <a:gd name="connsiteY23" fmla="*/ 1288170 h 1294844"/>
                      <a:gd name="connsiteX24" fmla="*/ 700857 w 2075794"/>
                      <a:gd name="connsiteY24" fmla="*/ 1294844 h 1294844"/>
                      <a:gd name="connsiteX25" fmla="*/ 987858 w 2075794"/>
                      <a:gd name="connsiteY25" fmla="*/ 1288170 h 1294844"/>
                      <a:gd name="connsiteX26" fmla="*/ 1128022 w 2075794"/>
                      <a:gd name="connsiteY26" fmla="*/ 1261472 h 1294844"/>
                      <a:gd name="connsiteX27" fmla="*/ 1341604 w 2075794"/>
                      <a:gd name="connsiteY27" fmla="*/ 1208076 h 1294844"/>
                      <a:gd name="connsiteX28" fmla="*/ 1481768 w 2075794"/>
                      <a:gd name="connsiteY28" fmla="*/ 1148006 h 1294844"/>
                      <a:gd name="connsiteX29" fmla="*/ 1675327 w 2075794"/>
                      <a:gd name="connsiteY29" fmla="*/ 1047889 h 1294844"/>
                      <a:gd name="connsiteX30" fmla="*/ 1735397 w 2075794"/>
                      <a:gd name="connsiteY30" fmla="*/ 1001168 h 1294844"/>
                      <a:gd name="connsiteX31" fmla="*/ 1848862 w 2075794"/>
                      <a:gd name="connsiteY31" fmla="*/ 914400 h 1294844"/>
                      <a:gd name="connsiteX32" fmla="*/ 1942305 w 2075794"/>
                      <a:gd name="connsiteY32" fmla="*/ 820958 h 1294844"/>
                      <a:gd name="connsiteX33" fmla="*/ 2055771 w 2075794"/>
                      <a:gd name="connsiteY33" fmla="*/ 607375 h 1294844"/>
                      <a:gd name="connsiteX34" fmla="*/ 2075794 w 2075794"/>
                      <a:gd name="connsiteY34" fmla="*/ 493910 h 1294844"/>
                      <a:gd name="connsiteX35" fmla="*/ 2049096 w 2075794"/>
                      <a:gd name="connsiteY35" fmla="*/ 327048 h 1294844"/>
                      <a:gd name="connsiteX36" fmla="*/ 1989026 w 2075794"/>
                      <a:gd name="connsiteY36" fmla="*/ 226932 h 1294844"/>
                      <a:gd name="connsiteX37" fmla="*/ 1942305 w 2075794"/>
                      <a:gd name="connsiteY37" fmla="*/ 180210 h 1294844"/>
                      <a:gd name="connsiteX38" fmla="*/ 1835514 w 2075794"/>
                      <a:gd name="connsiteY38" fmla="*/ 113466 h 1294844"/>
                      <a:gd name="connsiteX39" fmla="*/ 1615257 w 2075794"/>
                      <a:gd name="connsiteY39" fmla="*/ 46721 h 1294844"/>
                      <a:gd name="connsiteX40" fmla="*/ 1535163 w 2075794"/>
                      <a:gd name="connsiteY40" fmla="*/ 40047 h 1294844"/>
                      <a:gd name="connsiteX41" fmla="*/ 1374976 w 2075794"/>
                      <a:gd name="connsiteY41" fmla="*/ 33372 h 1294844"/>
                      <a:gd name="connsiteX42" fmla="*/ 1067952 w 2075794"/>
                      <a:gd name="connsiteY42" fmla="*/ 93443 h 1294844"/>
                      <a:gd name="connsiteX43" fmla="*/ 847695 w 2075794"/>
                      <a:gd name="connsiteY43" fmla="*/ 173536 h 1294844"/>
                      <a:gd name="connsiteX44" fmla="*/ 634112 w 2075794"/>
                      <a:gd name="connsiteY44" fmla="*/ 287002 h 1294844"/>
                      <a:gd name="connsiteX45" fmla="*/ 460576 w 2075794"/>
                      <a:gd name="connsiteY45" fmla="*/ 407142 h 1294844"/>
                      <a:gd name="connsiteX46" fmla="*/ 340436 w 2075794"/>
                      <a:gd name="connsiteY46" fmla="*/ 527282 h 12948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</a:cxnLst>
                    <a:rect l="l" t="t" r="r" b="b"/>
                    <a:pathLst>
                      <a:path w="2075794" h="1294844">
                        <a:moveTo>
                          <a:pt x="867718" y="73419"/>
                        </a:moveTo>
                        <a:cubicBezTo>
                          <a:pt x="849919" y="57845"/>
                          <a:pt x="834216" y="39487"/>
                          <a:pt x="814322" y="26698"/>
                        </a:cubicBezTo>
                        <a:cubicBezTo>
                          <a:pt x="802486" y="19089"/>
                          <a:pt x="787753" y="17392"/>
                          <a:pt x="774276" y="13349"/>
                        </a:cubicBezTo>
                        <a:cubicBezTo>
                          <a:pt x="740278" y="3150"/>
                          <a:pt x="729801" y="4700"/>
                          <a:pt x="687508" y="0"/>
                        </a:cubicBezTo>
                        <a:cubicBezTo>
                          <a:pt x="629663" y="4450"/>
                          <a:pt x="570732" y="1342"/>
                          <a:pt x="513972" y="13349"/>
                        </a:cubicBezTo>
                        <a:cubicBezTo>
                          <a:pt x="363364" y="45208"/>
                          <a:pt x="373414" y="53649"/>
                          <a:pt x="280366" y="113466"/>
                        </a:cubicBezTo>
                        <a:cubicBezTo>
                          <a:pt x="269454" y="120481"/>
                          <a:pt x="256557" y="124723"/>
                          <a:pt x="246994" y="133489"/>
                        </a:cubicBezTo>
                        <a:cubicBezTo>
                          <a:pt x="229560" y="149470"/>
                          <a:pt x="216254" y="169451"/>
                          <a:pt x="200273" y="186885"/>
                        </a:cubicBezTo>
                        <a:cubicBezTo>
                          <a:pt x="191769" y="196163"/>
                          <a:pt x="180890" y="203342"/>
                          <a:pt x="173575" y="213583"/>
                        </a:cubicBezTo>
                        <a:cubicBezTo>
                          <a:pt x="158494" y="234696"/>
                          <a:pt x="149736" y="260067"/>
                          <a:pt x="133528" y="280327"/>
                        </a:cubicBezTo>
                        <a:cubicBezTo>
                          <a:pt x="124629" y="291451"/>
                          <a:pt x="114008" y="301394"/>
                          <a:pt x="106830" y="313699"/>
                        </a:cubicBezTo>
                        <a:cubicBezTo>
                          <a:pt x="88964" y="344327"/>
                          <a:pt x="85772" y="368451"/>
                          <a:pt x="73458" y="400467"/>
                        </a:cubicBezTo>
                        <a:cubicBezTo>
                          <a:pt x="67376" y="416282"/>
                          <a:pt x="58793" y="431115"/>
                          <a:pt x="53435" y="447189"/>
                        </a:cubicBezTo>
                        <a:cubicBezTo>
                          <a:pt x="47633" y="464594"/>
                          <a:pt x="44913" y="482884"/>
                          <a:pt x="40086" y="500584"/>
                        </a:cubicBezTo>
                        <a:cubicBezTo>
                          <a:pt x="31563" y="531836"/>
                          <a:pt x="13388" y="594026"/>
                          <a:pt x="13388" y="594026"/>
                        </a:cubicBezTo>
                        <a:cubicBezTo>
                          <a:pt x="11744" y="605537"/>
                          <a:pt x="39" y="685528"/>
                          <a:pt x="39" y="694143"/>
                        </a:cubicBezTo>
                        <a:cubicBezTo>
                          <a:pt x="39" y="754254"/>
                          <a:pt x="-930" y="814730"/>
                          <a:pt x="6714" y="874353"/>
                        </a:cubicBezTo>
                        <a:cubicBezTo>
                          <a:pt x="10293" y="902267"/>
                          <a:pt x="20825" y="929276"/>
                          <a:pt x="33411" y="954447"/>
                        </a:cubicBezTo>
                        <a:cubicBezTo>
                          <a:pt x="53440" y="994505"/>
                          <a:pt x="75995" y="1043752"/>
                          <a:pt x="106830" y="1074587"/>
                        </a:cubicBezTo>
                        <a:cubicBezTo>
                          <a:pt x="129078" y="1096835"/>
                          <a:pt x="150621" y="1119813"/>
                          <a:pt x="173575" y="1141332"/>
                        </a:cubicBezTo>
                        <a:cubicBezTo>
                          <a:pt x="186252" y="1153216"/>
                          <a:pt x="199335" y="1164813"/>
                          <a:pt x="213622" y="1174704"/>
                        </a:cubicBezTo>
                        <a:cubicBezTo>
                          <a:pt x="261720" y="1208003"/>
                          <a:pt x="310591" y="1221092"/>
                          <a:pt x="367134" y="1241448"/>
                        </a:cubicBezTo>
                        <a:cubicBezTo>
                          <a:pt x="415209" y="1258755"/>
                          <a:pt x="442540" y="1267966"/>
                          <a:pt x="493949" y="1274821"/>
                        </a:cubicBezTo>
                        <a:cubicBezTo>
                          <a:pt x="538275" y="1280731"/>
                          <a:pt x="582928" y="1283863"/>
                          <a:pt x="627438" y="1288170"/>
                        </a:cubicBezTo>
                        <a:lnTo>
                          <a:pt x="700857" y="1294844"/>
                        </a:lnTo>
                        <a:cubicBezTo>
                          <a:pt x="796524" y="1292619"/>
                          <a:pt x="892456" y="1295623"/>
                          <a:pt x="987858" y="1288170"/>
                        </a:cubicBezTo>
                        <a:cubicBezTo>
                          <a:pt x="1035275" y="1284466"/>
                          <a:pt x="1081275" y="1270237"/>
                          <a:pt x="1128022" y="1261472"/>
                        </a:cubicBezTo>
                        <a:cubicBezTo>
                          <a:pt x="1207316" y="1246604"/>
                          <a:pt x="1259435" y="1240944"/>
                          <a:pt x="1341604" y="1208076"/>
                        </a:cubicBezTo>
                        <a:cubicBezTo>
                          <a:pt x="1403623" y="1183268"/>
                          <a:pt x="1419838" y="1177972"/>
                          <a:pt x="1481768" y="1148006"/>
                        </a:cubicBezTo>
                        <a:cubicBezTo>
                          <a:pt x="1485439" y="1146230"/>
                          <a:pt x="1640975" y="1070791"/>
                          <a:pt x="1675327" y="1047889"/>
                        </a:cubicBezTo>
                        <a:cubicBezTo>
                          <a:pt x="1696433" y="1033818"/>
                          <a:pt x="1714833" y="1016020"/>
                          <a:pt x="1735397" y="1001168"/>
                        </a:cubicBezTo>
                        <a:cubicBezTo>
                          <a:pt x="1809304" y="947790"/>
                          <a:pt x="1783096" y="977176"/>
                          <a:pt x="1848862" y="914400"/>
                        </a:cubicBezTo>
                        <a:cubicBezTo>
                          <a:pt x="1880725" y="883985"/>
                          <a:pt x="1918959" y="858312"/>
                          <a:pt x="1942305" y="820958"/>
                        </a:cubicBezTo>
                        <a:cubicBezTo>
                          <a:pt x="1986082" y="750914"/>
                          <a:pt x="2032244" y="687367"/>
                          <a:pt x="2055771" y="607375"/>
                        </a:cubicBezTo>
                        <a:cubicBezTo>
                          <a:pt x="2068886" y="562784"/>
                          <a:pt x="2070181" y="538810"/>
                          <a:pt x="2075794" y="493910"/>
                        </a:cubicBezTo>
                        <a:cubicBezTo>
                          <a:pt x="2071017" y="453310"/>
                          <a:pt x="2066519" y="373509"/>
                          <a:pt x="2049096" y="327048"/>
                        </a:cubicBezTo>
                        <a:cubicBezTo>
                          <a:pt x="2036778" y="294199"/>
                          <a:pt x="2011902" y="253621"/>
                          <a:pt x="1989026" y="226932"/>
                        </a:cubicBezTo>
                        <a:cubicBezTo>
                          <a:pt x="1974693" y="210209"/>
                          <a:pt x="1960017" y="193301"/>
                          <a:pt x="1942305" y="180210"/>
                        </a:cubicBezTo>
                        <a:cubicBezTo>
                          <a:pt x="1908548" y="155259"/>
                          <a:pt x="1872780" y="132789"/>
                          <a:pt x="1835514" y="113466"/>
                        </a:cubicBezTo>
                        <a:cubicBezTo>
                          <a:pt x="1793280" y="91567"/>
                          <a:pt x="1633572" y="50492"/>
                          <a:pt x="1615257" y="46721"/>
                        </a:cubicBezTo>
                        <a:cubicBezTo>
                          <a:pt x="1589017" y="41319"/>
                          <a:pt x="1561912" y="41533"/>
                          <a:pt x="1535163" y="40047"/>
                        </a:cubicBezTo>
                        <a:cubicBezTo>
                          <a:pt x="1481803" y="37083"/>
                          <a:pt x="1428372" y="35597"/>
                          <a:pt x="1374976" y="33372"/>
                        </a:cubicBezTo>
                        <a:cubicBezTo>
                          <a:pt x="1277730" y="49580"/>
                          <a:pt x="1152966" y="69334"/>
                          <a:pt x="1067952" y="93443"/>
                        </a:cubicBezTo>
                        <a:cubicBezTo>
                          <a:pt x="992793" y="114757"/>
                          <a:pt x="917570" y="138599"/>
                          <a:pt x="847695" y="173536"/>
                        </a:cubicBezTo>
                        <a:cubicBezTo>
                          <a:pt x="749572" y="222598"/>
                          <a:pt x="713682" y="235850"/>
                          <a:pt x="634112" y="287002"/>
                        </a:cubicBezTo>
                        <a:cubicBezTo>
                          <a:pt x="630033" y="289624"/>
                          <a:pt x="490269" y="379733"/>
                          <a:pt x="460576" y="407142"/>
                        </a:cubicBezTo>
                        <a:cubicBezTo>
                          <a:pt x="418961" y="445556"/>
                          <a:pt x="340436" y="527282"/>
                          <a:pt x="340436" y="527282"/>
                        </a:cubicBez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432044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B3357-87EE-6834-E2C6-2B2443717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C4335-D93B-251C-4140-ED3C4042E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>
                <a:latin typeface="Fira Sans SemiBold"/>
              </a:rPr>
              <a:t>1. Vraag/antwoord: </a:t>
            </a:r>
            <a:r>
              <a:rPr lang="nl-NL" noProof="0" dirty="0" err="1">
                <a:latin typeface="Fira Sans SemiBold"/>
              </a:rPr>
              <a:t>AuthZEN</a:t>
            </a:r>
            <a:r>
              <a:rPr lang="nl-NL" noProof="0" dirty="0">
                <a:latin typeface="Fira Sans SemiBold"/>
              </a:rPr>
              <a:t> NL </a:t>
            </a:r>
            <a:r>
              <a:rPr lang="nl-NL" noProof="0" dirty="0" err="1">
                <a:latin typeface="Fira Sans SemiBold"/>
              </a:rPr>
              <a:t>Gov</a:t>
            </a:r>
            <a:endParaRPr lang="nl-NL" noProof="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14B8820-052D-129A-9EFB-A97A0A7E5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2000" noProof="0" dirty="0">
                <a:latin typeface="Fira Sans"/>
              </a:rPr>
              <a:t>Opgezet vanuit de </a:t>
            </a:r>
            <a:r>
              <a:rPr lang="nl-NL" sz="2000" noProof="0" dirty="0" err="1">
                <a:latin typeface="Fira Sans"/>
              </a:rPr>
              <a:t>OpenID</a:t>
            </a:r>
            <a:r>
              <a:rPr lang="nl-NL" sz="2000" noProof="0" dirty="0">
                <a:latin typeface="Fira Sans"/>
              </a:rPr>
              <a:t> Foundation</a:t>
            </a:r>
          </a:p>
          <a:p>
            <a:r>
              <a:rPr lang="nl-NL" sz="2000" noProof="0" dirty="0">
                <a:latin typeface="Fira Sans"/>
              </a:rPr>
              <a:t>Ondersteund door de grote leveranciers</a:t>
            </a:r>
          </a:p>
          <a:p>
            <a:r>
              <a:rPr lang="nl-NL" sz="2000" dirty="0">
                <a:latin typeface="Fira Sans"/>
              </a:rPr>
              <a:t>NL </a:t>
            </a:r>
            <a:r>
              <a:rPr lang="nl-NL" sz="2000" dirty="0" err="1">
                <a:latin typeface="Fira Sans"/>
              </a:rPr>
              <a:t>Gov</a:t>
            </a:r>
            <a:r>
              <a:rPr lang="nl-NL" sz="2000" dirty="0">
                <a:latin typeface="Fira Sans"/>
              </a:rPr>
              <a:t> profiel voor aansluiting met NL informatiemodellen en wetgeving</a:t>
            </a:r>
            <a:endParaRPr lang="nl-NL" sz="2000" noProof="0" dirty="0">
              <a:latin typeface="Fira Sans"/>
            </a:endParaRPr>
          </a:p>
          <a:p>
            <a:r>
              <a:rPr lang="nl-NL" sz="2000" noProof="0" dirty="0">
                <a:latin typeface="Fira Sans"/>
              </a:rPr>
              <a:t>Versie 1.0 is </a:t>
            </a:r>
            <a:r>
              <a:rPr lang="nl-NL" sz="2000" noProof="0" dirty="0" err="1">
                <a:latin typeface="Fira Sans"/>
              </a:rPr>
              <a:t>final</a:t>
            </a:r>
            <a:r>
              <a:rPr lang="nl-NL" sz="2000" noProof="0" dirty="0">
                <a:latin typeface="Fira Sans"/>
              </a:rPr>
              <a:t> en stabiel</a:t>
            </a:r>
          </a:p>
          <a:p>
            <a:r>
              <a:rPr lang="nl-NL" sz="2000" noProof="0" dirty="0">
                <a:latin typeface="Fira Sans"/>
              </a:rPr>
              <a:t>Levendige werkgroep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ABAE6C9-5C60-806F-5C3E-FE0D849EC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BFFF9"/>
              </a:clrFrom>
              <a:clrTo>
                <a:srgbClr val="FBFF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75416" y="34900"/>
            <a:ext cx="5577078" cy="2886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ep 15">
            <a:extLst>
              <a:ext uri="{FF2B5EF4-FFF2-40B4-BE49-F238E27FC236}">
                <a16:creationId xmlns:a16="http://schemas.microsoft.com/office/drawing/2014/main" id="{F353F914-3D3C-404F-C963-A347DAD7FB26}"/>
              </a:ext>
            </a:extLst>
          </p:cNvPr>
          <p:cNvGrpSpPr/>
          <p:nvPr/>
        </p:nvGrpSpPr>
        <p:grpSpPr>
          <a:xfrm>
            <a:off x="6085126" y="1552374"/>
            <a:ext cx="6106874" cy="5305626"/>
            <a:chOff x="6085126" y="1384644"/>
            <a:chExt cx="6106874" cy="5305626"/>
          </a:xfrm>
        </p:grpSpPr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1DEA1242-227B-9B2D-FDD6-5426B6BE29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348"/>
            <a:stretch>
              <a:fillRect/>
            </a:stretch>
          </p:blipFill>
          <p:spPr>
            <a:xfrm rot="10800000">
              <a:off x="6085126" y="1384644"/>
              <a:ext cx="6106874" cy="1323649"/>
            </a:xfrm>
            <a:prstGeom prst="rect">
              <a:avLst/>
            </a:prstGeom>
          </p:spPr>
        </p:pic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785045D7-F61C-8660-A4EA-96EA810B50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81034" y="1596747"/>
              <a:ext cx="2796402" cy="8327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BE4ADE7-E030-C80A-F047-F58EE88B82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4209" b="7960"/>
            <a:stretch>
              <a:fillRect/>
            </a:stretch>
          </p:blipFill>
          <p:spPr>
            <a:xfrm>
              <a:off x="6128097" y="2905038"/>
              <a:ext cx="6063903" cy="3785232"/>
            </a:xfrm>
            <a:prstGeom prst="rect">
              <a:avLst/>
            </a:prstGeom>
          </p:spPr>
        </p:pic>
        <p:pic>
          <p:nvPicPr>
            <p:cNvPr id="5" name="Afbeelding 4">
              <a:extLst>
                <a:ext uri="{FF2B5EF4-FFF2-40B4-BE49-F238E27FC236}">
                  <a16:creationId xmlns:a16="http://schemas.microsoft.com/office/drawing/2014/main" id="{92305649-3849-4029-ED15-481D10D0952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26777" y="5710410"/>
              <a:ext cx="5010210" cy="710908"/>
            </a:xfrm>
            <a:prstGeom prst="rect">
              <a:avLst/>
            </a:prstGeom>
          </p:spPr>
        </p:pic>
        <p:pic>
          <p:nvPicPr>
            <p:cNvPr id="6" name="Afbeelding 5">
              <a:extLst>
                <a:ext uri="{FF2B5EF4-FFF2-40B4-BE49-F238E27FC236}">
                  <a16:creationId xmlns:a16="http://schemas.microsoft.com/office/drawing/2014/main" id="{FCDEB104-6AB3-1BE7-A20A-7B596016E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09319" y="4093992"/>
              <a:ext cx="5010515" cy="1333827"/>
            </a:xfrm>
            <a:prstGeom prst="rect">
              <a:avLst/>
            </a:prstGeom>
          </p:spPr>
        </p:pic>
        <p:sp>
          <p:nvSpPr>
            <p:cNvPr id="7" name="Tekstvak 6">
              <a:extLst>
                <a:ext uri="{FF2B5EF4-FFF2-40B4-BE49-F238E27FC236}">
                  <a16:creationId xmlns:a16="http://schemas.microsoft.com/office/drawing/2014/main" id="{1C164453-C585-DDD9-414C-CF48068D76E8}"/>
                </a:ext>
              </a:extLst>
            </p:cNvPr>
            <p:cNvSpPr txBox="1"/>
            <p:nvPr/>
          </p:nvSpPr>
          <p:spPr>
            <a:xfrm>
              <a:off x="6372675" y="5503955"/>
              <a:ext cx="12747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Fira Sans" panose="020B0503050000020004" pitchFamily="34" charset="0"/>
                </a:rPr>
                <a:t>API Gateways</a:t>
              </a:r>
            </a:p>
          </p:txBody>
        </p:sp>
        <p:sp>
          <p:nvSpPr>
            <p:cNvPr id="8" name="Tekstvak 7">
              <a:extLst>
                <a:ext uri="{FF2B5EF4-FFF2-40B4-BE49-F238E27FC236}">
                  <a16:creationId xmlns:a16="http://schemas.microsoft.com/office/drawing/2014/main" id="{2AC4BD89-5B99-815C-43AC-A8807C05A3E8}"/>
                </a:ext>
              </a:extLst>
            </p:cNvPr>
            <p:cNvSpPr txBox="1"/>
            <p:nvPr/>
          </p:nvSpPr>
          <p:spPr>
            <a:xfrm>
              <a:off x="6372675" y="3701162"/>
              <a:ext cx="20665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Fira Sans" panose="020B0503050000020004" pitchFamily="34" charset="0"/>
                </a:rPr>
                <a:t>Policy </a:t>
              </a:r>
              <a:r>
                <a:rPr lang="nl-NL" sz="1400" dirty="0" err="1">
                  <a:latin typeface="Fira Sans" panose="020B0503050000020004" pitchFamily="34" charset="0"/>
                </a:rPr>
                <a:t>Decisions</a:t>
              </a:r>
              <a:r>
                <a:rPr lang="nl-NL" sz="1400" dirty="0">
                  <a:latin typeface="Fira Sans" panose="020B0503050000020004" pitchFamily="34" charset="0"/>
                </a:rPr>
                <a:t> Points</a:t>
              </a:r>
            </a:p>
          </p:txBody>
        </p:sp>
        <p:sp>
          <p:nvSpPr>
            <p:cNvPr id="9" name="Tekstvak 8">
              <a:extLst>
                <a:ext uri="{FF2B5EF4-FFF2-40B4-BE49-F238E27FC236}">
                  <a16:creationId xmlns:a16="http://schemas.microsoft.com/office/drawing/2014/main" id="{1158C64E-8408-BB60-32DD-B743D18E215A}"/>
                </a:ext>
              </a:extLst>
            </p:cNvPr>
            <p:cNvSpPr txBox="1"/>
            <p:nvPr/>
          </p:nvSpPr>
          <p:spPr>
            <a:xfrm>
              <a:off x="6379899" y="3208664"/>
              <a:ext cx="52693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600" dirty="0" err="1">
                  <a:latin typeface="Fira Sans Medium" panose="020B0503050000020004" pitchFamily="34" charset="0"/>
                </a:rPr>
                <a:t>Interoperable</a:t>
              </a:r>
              <a:r>
                <a:rPr lang="nl-NL" sz="1600" dirty="0">
                  <a:latin typeface="Fira Sans Medium" panose="020B0503050000020004" pitchFamily="34" charset="0"/>
                </a:rPr>
                <a:t> </a:t>
              </a:r>
              <a:r>
                <a:rPr lang="nl-NL" sz="1600" dirty="0" err="1">
                  <a:latin typeface="Fira Sans Medium" panose="020B0503050000020004" pitchFamily="34" charset="0"/>
                </a:rPr>
                <a:t>implementations</a:t>
              </a:r>
              <a:r>
                <a:rPr lang="nl-NL" sz="1600" dirty="0">
                  <a:latin typeface="Fira Sans Medium" panose="020B0503050000020004" pitchFamily="34" charset="0"/>
                </a:rPr>
                <a:t> (maart 2025)</a:t>
              </a:r>
            </a:p>
          </p:txBody>
        </p:sp>
      </p:grp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8FB74BAC-137C-8BCC-834F-90F001662E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58428" y="5125373"/>
            <a:ext cx="3797300" cy="116840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EAF1E128-8DF1-EA5F-1659-13311C95BC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53193" y="4644562"/>
            <a:ext cx="2408189" cy="74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4098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ABEB3-6359-109C-B7BB-909124A44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19E5BA27-4F48-DB96-AD2C-F8C0F04AF3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277" b="6610"/>
          <a:stretch>
            <a:fillRect/>
          </a:stretch>
        </p:blipFill>
        <p:spPr>
          <a:xfrm>
            <a:off x="6172202" y="1690689"/>
            <a:ext cx="6019798" cy="51673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29566B-0DA7-0208-97A4-BAD8F5AE0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nl-NL" noProof="0"/>
              <a:t>2. Logboek Toegangsbeslissingen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042A419-C024-A397-82CC-D77ECEBC4C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noProof="0" dirty="0"/>
              <a:t>Eigen standaard</a:t>
            </a:r>
          </a:p>
          <a:p>
            <a:r>
              <a:rPr lang="nl-NL" dirty="0"/>
              <a:t>Beschrijft wat een logboek moet, mag en niet mag bevatten</a:t>
            </a:r>
            <a:endParaRPr lang="nl-NL" noProof="0" dirty="0"/>
          </a:p>
          <a:p>
            <a:r>
              <a:rPr lang="nl-NL" noProof="0" dirty="0"/>
              <a:t>Een zusterstandaard van Logboek Dataverwerkingen </a:t>
            </a:r>
          </a:p>
          <a:p>
            <a:r>
              <a:rPr lang="nl-NL" dirty="0"/>
              <a:t>Verantwoording </a:t>
            </a:r>
            <a:r>
              <a:rPr lang="nl-NL" noProof="0" dirty="0"/>
              <a:t>binnen en tussen organisaties, niet naar de burger toe</a:t>
            </a:r>
          </a:p>
        </p:txBody>
      </p:sp>
      <p:grpSp>
        <p:nvGrpSpPr>
          <p:cNvPr id="11" name="Groep 10">
            <a:extLst>
              <a:ext uri="{FF2B5EF4-FFF2-40B4-BE49-F238E27FC236}">
                <a16:creationId xmlns:a16="http://schemas.microsoft.com/office/drawing/2014/main" id="{82B041C0-1FDA-FEDB-30C2-24E33291E1C3}"/>
              </a:ext>
            </a:extLst>
          </p:cNvPr>
          <p:cNvGrpSpPr/>
          <p:nvPr/>
        </p:nvGrpSpPr>
        <p:grpSpPr>
          <a:xfrm>
            <a:off x="7627305" y="3016251"/>
            <a:ext cx="2220932" cy="2220932"/>
            <a:chOff x="6682155" y="1690688"/>
            <a:chExt cx="4204076" cy="4204076"/>
          </a:xfrm>
        </p:grpSpPr>
        <p:sp>
          <p:nvSpPr>
            <p:cNvPr id="7" name="Ovaal 6">
              <a:extLst>
                <a:ext uri="{FF2B5EF4-FFF2-40B4-BE49-F238E27FC236}">
                  <a16:creationId xmlns:a16="http://schemas.microsoft.com/office/drawing/2014/main" id="{6DDFB147-F9BF-AD87-B1B0-F0AECE73151F}"/>
                </a:ext>
              </a:extLst>
            </p:cNvPr>
            <p:cNvSpPr/>
            <p:nvPr/>
          </p:nvSpPr>
          <p:spPr>
            <a:xfrm>
              <a:off x="6682155" y="1690688"/>
              <a:ext cx="4204076" cy="420407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EC3B24CA-A1EB-D13E-9909-B9AAF691D6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768223" y="2494310"/>
              <a:ext cx="2255130" cy="2562648"/>
            </a:xfrm>
            <a:prstGeom prst="rect">
              <a:avLst/>
            </a:prstGeom>
          </p:spPr>
        </p:pic>
      </p:grpSp>
      <p:grpSp>
        <p:nvGrpSpPr>
          <p:cNvPr id="12" name="Groep 11">
            <a:extLst>
              <a:ext uri="{FF2B5EF4-FFF2-40B4-BE49-F238E27FC236}">
                <a16:creationId xmlns:a16="http://schemas.microsoft.com/office/drawing/2014/main" id="{53B474A5-A195-398E-84FE-8EC03B04E17E}"/>
              </a:ext>
            </a:extLst>
          </p:cNvPr>
          <p:cNvGrpSpPr/>
          <p:nvPr/>
        </p:nvGrpSpPr>
        <p:grpSpPr>
          <a:xfrm>
            <a:off x="9580550" y="3016251"/>
            <a:ext cx="2220932" cy="2220932"/>
            <a:chOff x="6682155" y="1690688"/>
            <a:chExt cx="4204076" cy="4204076"/>
          </a:xfrm>
          <a:solidFill>
            <a:srgbClr val="000000">
              <a:alpha val="23000"/>
            </a:srgbClr>
          </a:solidFill>
        </p:grpSpPr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E254837F-185F-7E6B-9955-0259A67D338F}"/>
                </a:ext>
              </a:extLst>
            </p:cNvPr>
            <p:cNvSpPr/>
            <p:nvPr/>
          </p:nvSpPr>
          <p:spPr>
            <a:xfrm>
              <a:off x="6682155" y="1690688"/>
              <a:ext cx="4204076" cy="420407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9BC75CB8-DFC3-8D35-E278-03A2E873AD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768223" y="2494310"/>
              <a:ext cx="2255130" cy="2562648"/>
            </a:xfrm>
            <a:prstGeom prst="rect">
              <a:avLst/>
            </a:prstGeom>
          </p:spPr>
        </p:pic>
      </p:grpSp>
      <p:pic>
        <p:nvPicPr>
          <p:cNvPr id="16" name="Graphic 15">
            <a:extLst>
              <a:ext uri="{FF2B5EF4-FFF2-40B4-BE49-F238E27FC236}">
                <a16:creationId xmlns:a16="http://schemas.microsoft.com/office/drawing/2014/main" id="{8F7CA2A5-D85C-6C6F-3012-C068C8A695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5132" y="4984174"/>
            <a:ext cx="469900" cy="4699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7A5B844-70C5-533C-BECF-1C47442875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92355" y="3882737"/>
            <a:ext cx="469900" cy="4699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67F1EFFF-02E5-A5B7-DD8D-D1B3290B0D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11282" y="4864984"/>
            <a:ext cx="961290" cy="96129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CB066BAF-F8FB-82B7-3870-905ED95EB1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70722" y="2441870"/>
            <a:ext cx="819655" cy="81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9220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568D7-9D48-E23F-2947-47EB33886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0EBE7-3A77-5C8E-6359-0BA67433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noProof="0" dirty="0">
                <a:latin typeface="Fira Sans SemiBold"/>
              </a:rPr>
              <a:t>3. Register Toegangsbeleid</a:t>
            </a:r>
            <a:endParaRPr lang="nl-NL" sz="4000" noProof="0" dirty="0">
              <a:latin typeface="Fira Sans SemiBold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51721AA-A89F-35C7-BA0A-339C32A4A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07560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2800" noProof="0" dirty="0">
                <a:latin typeface="Fira Sans"/>
              </a:rPr>
              <a:t>Geeft inzicht in toegangsbeleid</a:t>
            </a:r>
          </a:p>
          <a:p>
            <a:r>
              <a:rPr lang="nl-NL" sz="2800" noProof="0" dirty="0">
                <a:latin typeface="Fira Sans"/>
              </a:rPr>
              <a:t>Verwijzingen naar het Register van Verwerkingsactiviteiten</a:t>
            </a:r>
          </a:p>
        </p:txBody>
      </p:sp>
    </p:spTree>
    <p:extLst>
      <p:ext uri="{BB962C8B-B14F-4D97-AF65-F5344CB8AC3E}">
        <p14:creationId xmlns:p14="http://schemas.microsoft.com/office/powerpoint/2010/main" val="9971462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4AFA7-B704-D625-40CF-894458E8F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CF525-CB10-1D97-CF28-74516DA42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latin typeface="Fira Sans SemiBold"/>
              </a:rPr>
              <a:t>Wat niet standaardiseren?</a:t>
            </a:r>
            <a:endParaRPr lang="nl-NL" noProof="0" dirty="0">
              <a:latin typeface="Fira Sa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78CBB-4F5E-D9A7-F909-2625786BD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557"/>
            <a:ext cx="10515600" cy="230324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nl-NL" sz="3200" noProof="0" dirty="0">
                <a:latin typeface="Fira Sans"/>
              </a:rPr>
              <a:t>Policytaal</a:t>
            </a:r>
          </a:p>
          <a:p>
            <a:r>
              <a:rPr lang="nl-NL" sz="3200" dirty="0">
                <a:latin typeface="Fira Sans"/>
              </a:rPr>
              <a:t>Specifieke software / leveranciers</a:t>
            </a:r>
            <a:endParaRPr lang="nl-NL" sz="3200" noProof="0" dirty="0">
              <a:latin typeface="Fira Sans"/>
            </a:endParaRP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4D01D65E-BB4A-17F5-A9A0-EEAA85C66155}"/>
              </a:ext>
            </a:extLst>
          </p:cNvPr>
          <p:cNvSpPr txBox="1"/>
          <p:nvPr/>
        </p:nvSpPr>
        <p:spPr>
          <a:xfrm>
            <a:off x="9121698" y="45943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0347537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9A058-26F0-8120-1906-08747146B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2C1A3-93F3-34E4-C1BA-7E9C84284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>
                <a:latin typeface="Fira Sans SemiBold"/>
              </a:rPr>
              <a:t>OpenFTV</a:t>
            </a:r>
            <a:endParaRPr lang="nl-NL" noProof="0" dirty="0">
              <a:latin typeface="Fira Sa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0F041-9EF6-348C-0C46-D158B5241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683" y="1961186"/>
            <a:ext cx="4455017" cy="414978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nl-NL" sz="2800" noProof="0" dirty="0">
                <a:latin typeface="Fira Sans"/>
              </a:rPr>
              <a:t>Een eigen referentie-implementatie onder EUPL</a:t>
            </a:r>
          </a:p>
          <a:p>
            <a:r>
              <a:rPr lang="nl-NL" sz="2800" noProof="0" dirty="0">
                <a:latin typeface="Fira Sans"/>
              </a:rPr>
              <a:t>Functioneel compleet, bescheiden in ambitie</a:t>
            </a:r>
          </a:p>
          <a:p>
            <a:r>
              <a:rPr lang="nl-NL" sz="2800" noProof="0" dirty="0">
                <a:latin typeface="Fira Sans"/>
              </a:rPr>
              <a:t>Adoptie door Common </a:t>
            </a:r>
            <a:r>
              <a:rPr lang="nl-NL" sz="2800" noProof="0" dirty="0" err="1">
                <a:latin typeface="Fira Sans"/>
              </a:rPr>
              <a:t>Ground</a:t>
            </a:r>
            <a:r>
              <a:rPr lang="nl-NL" sz="2800" noProof="0" dirty="0">
                <a:latin typeface="Fira Sans"/>
              </a:rPr>
              <a:t> </a:t>
            </a:r>
            <a:r>
              <a:rPr lang="nl-NL" sz="2800" noProof="0" dirty="0" err="1">
                <a:latin typeface="Fira Sans"/>
              </a:rPr>
              <a:t>olv</a:t>
            </a:r>
            <a:r>
              <a:rPr lang="nl-NL" sz="2800" noProof="0" dirty="0">
                <a:latin typeface="Fira Sans"/>
              </a:rPr>
              <a:t> gemeente Utrecht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514AB96A-26A3-4D37-8EB4-2F84AC30AB7A}"/>
              </a:ext>
            </a:extLst>
          </p:cNvPr>
          <p:cNvSpPr txBox="1"/>
          <p:nvPr/>
        </p:nvSpPr>
        <p:spPr>
          <a:xfrm>
            <a:off x="9121698" y="45943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 noProof="0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64666D75-962F-D269-D570-E600E5984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700" y="1690688"/>
            <a:ext cx="6685209" cy="411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3621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80A1B-FC30-BFBA-D025-8674D5F42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87E5F4F-4D0A-75C4-0D4E-E1FE9C94E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760882" cy="2852737"/>
          </a:xfrm>
        </p:spPr>
        <p:txBody>
          <a:bodyPr/>
          <a:lstStyle/>
          <a:p>
            <a:r>
              <a:rPr lang="nl-NL" noProof="0" dirty="0">
                <a:latin typeface="Fira Sans SemiBold"/>
              </a:rPr>
              <a:t>Status</a:t>
            </a:r>
            <a:endParaRPr lang="nl-NL" noProof="0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5CA501C-D2B2-CEDF-6BF9-392996846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nl-NL" noProof="0" dirty="0">
              <a:latin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38531770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A0A81-C9E0-7966-85AE-35287D5E1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66507-D262-E958-6523-6D58F59F5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noProof="0" dirty="0">
                <a:latin typeface="Fira Sans SemiBold"/>
              </a:rPr>
              <a:t>Status project</a:t>
            </a:r>
            <a:endParaRPr lang="nl-NL" sz="4000" noProof="0" dirty="0">
              <a:latin typeface="Fira Sans SemiBold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54922AC-7B66-3F69-2BD7-48F166437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075607" cy="48835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nl-NL" noProof="0" dirty="0" err="1">
                <a:latin typeface="Fira Sans"/>
              </a:rPr>
              <a:t>AuthZEN</a:t>
            </a:r>
            <a:r>
              <a:rPr lang="nl-NL" noProof="0" dirty="0">
                <a:latin typeface="Fira Sans"/>
              </a:rPr>
              <a:t> NL </a:t>
            </a:r>
            <a:r>
              <a:rPr lang="nl-NL" noProof="0" dirty="0" err="1">
                <a:latin typeface="Fira Sans"/>
              </a:rPr>
              <a:t>Gov</a:t>
            </a:r>
            <a:endParaRPr lang="nl-NL" dirty="0">
              <a:latin typeface="Fira Sans"/>
            </a:endParaRPr>
          </a:p>
          <a:p>
            <a:pPr lvl="1"/>
            <a:r>
              <a:rPr lang="nl-NL" dirty="0">
                <a:latin typeface="Fira Sans"/>
              </a:rPr>
              <a:t>Vastgesteld als GDI-standaard</a:t>
            </a:r>
          </a:p>
          <a:p>
            <a:pPr marL="457200" indent="-457200">
              <a:buFont typeface="+mj-lt"/>
              <a:buAutoNum type="arabicPeriod"/>
            </a:pPr>
            <a:r>
              <a:rPr lang="nl-NL" noProof="0" dirty="0">
                <a:latin typeface="Fira Sans"/>
              </a:rPr>
              <a:t>Logboek </a:t>
            </a:r>
            <a:r>
              <a:rPr lang="nl-NL" noProof="0" dirty="0" err="1">
                <a:latin typeface="Fira Sans"/>
              </a:rPr>
              <a:t>toegan</a:t>
            </a:r>
            <a:r>
              <a:rPr lang="nl-NL" dirty="0" err="1">
                <a:latin typeface="Fira Sans"/>
              </a:rPr>
              <a:t>gsbeslissingen</a:t>
            </a:r>
            <a:r>
              <a:rPr lang="nl-NL" dirty="0">
                <a:latin typeface="Fira Sans"/>
              </a:rPr>
              <a:t> </a:t>
            </a:r>
          </a:p>
          <a:p>
            <a:pPr lvl="1"/>
            <a:r>
              <a:rPr lang="nl-NL" dirty="0">
                <a:latin typeface="Fira Sans"/>
              </a:rPr>
              <a:t>Vastgesteld als GDI-standaard</a:t>
            </a:r>
          </a:p>
          <a:p>
            <a:pPr marL="457200" indent="-457200">
              <a:buFont typeface="+mj-lt"/>
              <a:buAutoNum type="arabicPeriod"/>
            </a:pPr>
            <a:r>
              <a:rPr lang="nl-NL" dirty="0">
                <a:latin typeface="Fira Sans"/>
              </a:rPr>
              <a:t>Register toegangsbeleid</a:t>
            </a:r>
          </a:p>
          <a:p>
            <a:pPr lvl="1"/>
            <a:r>
              <a:rPr lang="nl-NL" dirty="0">
                <a:latin typeface="Fira Sans"/>
              </a:rPr>
              <a:t>Keus voor ODRL gemaakt, profiel in ontwikkeling</a:t>
            </a:r>
          </a:p>
          <a:p>
            <a:pPr marL="457200" indent="-457200">
              <a:buFont typeface="+mj-lt"/>
              <a:buAutoNum type="arabicPeriod"/>
            </a:pPr>
            <a:r>
              <a:rPr lang="nl-NL" dirty="0" err="1">
                <a:latin typeface="Fira Sans"/>
              </a:rPr>
              <a:t>OpenFTV</a:t>
            </a:r>
            <a:endParaRPr lang="nl-NL" dirty="0">
              <a:latin typeface="Fira Sans"/>
            </a:endParaRPr>
          </a:p>
          <a:p>
            <a:pPr lvl="1"/>
            <a:r>
              <a:rPr lang="nl-NL" dirty="0">
                <a:latin typeface="Fira Sans"/>
              </a:rPr>
              <a:t>Dit jaar productiewaardig voor Common </a:t>
            </a:r>
            <a:r>
              <a:rPr lang="nl-NL" dirty="0" err="1">
                <a:latin typeface="Fira Sans"/>
              </a:rPr>
              <a:t>Ground</a:t>
            </a:r>
            <a:endParaRPr lang="nl-NL" dirty="0">
              <a:latin typeface="Fira Sans"/>
            </a:endParaRPr>
          </a:p>
          <a:p>
            <a:endParaRPr lang="nl-NL" noProof="0" dirty="0">
              <a:latin typeface="Fira Sans"/>
            </a:endParaRPr>
          </a:p>
        </p:txBody>
      </p:sp>
      <p:grpSp>
        <p:nvGrpSpPr>
          <p:cNvPr id="35" name="Groep 34">
            <a:extLst>
              <a:ext uri="{FF2B5EF4-FFF2-40B4-BE49-F238E27FC236}">
                <a16:creationId xmlns:a16="http://schemas.microsoft.com/office/drawing/2014/main" id="{81EB9D34-BC56-416A-515E-3B7309AC7919}"/>
              </a:ext>
            </a:extLst>
          </p:cNvPr>
          <p:cNvGrpSpPr/>
          <p:nvPr/>
        </p:nvGrpSpPr>
        <p:grpSpPr>
          <a:xfrm>
            <a:off x="5019281" y="2045925"/>
            <a:ext cx="6410075" cy="4663281"/>
            <a:chOff x="5019281" y="481548"/>
            <a:chExt cx="6410075" cy="6227659"/>
          </a:xfrm>
        </p:grpSpPr>
        <p:cxnSp>
          <p:nvCxnSpPr>
            <p:cNvPr id="26" name="Rechte verbindingslijn 25">
              <a:extLst>
                <a:ext uri="{FF2B5EF4-FFF2-40B4-BE49-F238E27FC236}">
                  <a16:creationId xmlns:a16="http://schemas.microsoft.com/office/drawing/2014/main" id="{B490C34D-EE77-B370-032C-87B260D7D4A5}"/>
                </a:ext>
              </a:extLst>
            </p:cNvPr>
            <p:cNvCxnSpPr>
              <a:cxnSpLocks/>
            </p:cNvCxnSpPr>
            <p:nvPr/>
          </p:nvCxnSpPr>
          <p:spPr>
            <a:xfrm>
              <a:off x="5019281" y="481548"/>
              <a:ext cx="0" cy="6173553"/>
            </a:xfrm>
            <a:prstGeom prst="line">
              <a:avLst/>
            </a:prstGeom>
            <a:ln>
              <a:solidFill>
                <a:schemeClr val="bg1">
                  <a:lumMod val="50000"/>
                  <a:alpha val="12638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Rechte verbindingslijn 26">
              <a:extLst>
                <a:ext uri="{FF2B5EF4-FFF2-40B4-BE49-F238E27FC236}">
                  <a16:creationId xmlns:a16="http://schemas.microsoft.com/office/drawing/2014/main" id="{3FA0BE63-77EA-A163-0858-C6A0265CBE77}"/>
                </a:ext>
              </a:extLst>
            </p:cNvPr>
            <p:cNvCxnSpPr>
              <a:cxnSpLocks/>
            </p:cNvCxnSpPr>
            <p:nvPr/>
          </p:nvCxnSpPr>
          <p:spPr>
            <a:xfrm>
              <a:off x="6623325" y="535654"/>
              <a:ext cx="0" cy="6173553"/>
            </a:xfrm>
            <a:prstGeom prst="line">
              <a:avLst/>
            </a:prstGeom>
            <a:ln>
              <a:solidFill>
                <a:schemeClr val="bg1">
                  <a:lumMod val="50000"/>
                  <a:alpha val="12638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Rechte verbindingslijn 27">
              <a:extLst>
                <a:ext uri="{FF2B5EF4-FFF2-40B4-BE49-F238E27FC236}">
                  <a16:creationId xmlns:a16="http://schemas.microsoft.com/office/drawing/2014/main" id="{B8438393-5176-3E65-B8F7-F7D8D0E86049}"/>
                </a:ext>
              </a:extLst>
            </p:cNvPr>
            <p:cNvCxnSpPr>
              <a:cxnSpLocks/>
            </p:cNvCxnSpPr>
            <p:nvPr/>
          </p:nvCxnSpPr>
          <p:spPr>
            <a:xfrm>
              <a:off x="8227369" y="535654"/>
              <a:ext cx="0" cy="6173553"/>
            </a:xfrm>
            <a:prstGeom prst="line">
              <a:avLst/>
            </a:prstGeom>
            <a:ln>
              <a:solidFill>
                <a:schemeClr val="bg1">
                  <a:lumMod val="50000"/>
                  <a:alpha val="12638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Rechte verbindingslijn 28">
              <a:extLst>
                <a:ext uri="{FF2B5EF4-FFF2-40B4-BE49-F238E27FC236}">
                  <a16:creationId xmlns:a16="http://schemas.microsoft.com/office/drawing/2014/main" id="{93920683-846F-E29D-FB9C-0D61034E20B2}"/>
                </a:ext>
              </a:extLst>
            </p:cNvPr>
            <p:cNvCxnSpPr>
              <a:cxnSpLocks/>
            </p:cNvCxnSpPr>
            <p:nvPr/>
          </p:nvCxnSpPr>
          <p:spPr>
            <a:xfrm>
              <a:off x="9831412" y="535654"/>
              <a:ext cx="0" cy="6173553"/>
            </a:xfrm>
            <a:prstGeom prst="line">
              <a:avLst/>
            </a:prstGeom>
            <a:ln>
              <a:solidFill>
                <a:schemeClr val="bg1">
                  <a:lumMod val="50000"/>
                  <a:alpha val="12638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Rechte verbindingslijn 33">
              <a:extLst>
                <a:ext uri="{FF2B5EF4-FFF2-40B4-BE49-F238E27FC236}">
                  <a16:creationId xmlns:a16="http://schemas.microsoft.com/office/drawing/2014/main" id="{47EA5CB9-D95A-E1C6-4292-7BFE8B95B726}"/>
                </a:ext>
              </a:extLst>
            </p:cNvPr>
            <p:cNvCxnSpPr>
              <a:cxnSpLocks/>
            </p:cNvCxnSpPr>
            <p:nvPr/>
          </p:nvCxnSpPr>
          <p:spPr>
            <a:xfrm>
              <a:off x="11429356" y="535653"/>
              <a:ext cx="0" cy="6173553"/>
            </a:xfrm>
            <a:prstGeom prst="line">
              <a:avLst/>
            </a:prstGeom>
            <a:ln>
              <a:solidFill>
                <a:schemeClr val="bg1">
                  <a:lumMod val="50000"/>
                  <a:alpha val="12638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922228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B8C5B-DC6F-A9F0-8DD8-11DEEFBDA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CB11A-2DE2-C479-ECAD-F41D869C3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noProof="0" dirty="0">
                <a:latin typeface="Fira Sans SemiBold"/>
              </a:rPr>
              <a:t>Risico’s en maatregelen (1)</a:t>
            </a:r>
            <a:endParaRPr lang="nl-NL" sz="4000" noProof="0" dirty="0">
              <a:latin typeface="Fira Sans SemiBold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7C64A04-A689-77E6-E649-CD5868118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2400" noProof="0" dirty="0">
                <a:latin typeface="Fira Sans"/>
              </a:rPr>
              <a:t>Veranderweerstand; “het werkt nu toch ook”</a:t>
            </a:r>
          </a:p>
          <a:p>
            <a:pPr lvl="1"/>
            <a:r>
              <a:rPr lang="nl-NL" sz="2400" dirty="0">
                <a:latin typeface="Fira Sans"/>
              </a:rPr>
              <a:t>Niet dwingen, maar aanhaken als ‘het niet meer werkt’</a:t>
            </a:r>
            <a:endParaRPr lang="nl-NL" sz="2400" noProof="0" dirty="0">
              <a:latin typeface="Fira Sans"/>
            </a:endParaRPr>
          </a:p>
          <a:p>
            <a:r>
              <a:rPr lang="nl-NL" sz="2400" dirty="0">
                <a:latin typeface="Fira Sans"/>
              </a:rPr>
              <a:t>EAM en </a:t>
            </a:r>
            <a:r>
              <a:rPr lang="nl-NL" sz="2400" dirty="0" err="1">
                <a:latin typeface="Fira Sans"/>
              </a:rPr>
              <a:t>AuthZEN</a:t>
            </a:r>
            <a:r>
              <a:rPr lang="nl-NL" sz="2400" dirty="0">
                <a:latin typeface="Fira Sans"/>
              </a:rPr>
              <a:t> zijn nog jong</a:t>
            </a:r>
          </a:p>
          <a:p>
            <a:pPr lvl="1"/>
            <a:r>
              <a:rPr lang="nl-NL" sz="2400" dirty="0">
                <a:latin typeface="Fira Sans"/>
              </a:rPr>
              <a:t>Vanuit </a:t>
            </a:r>
            <a:r>
              <a:rPr lang="nl-NL" sz="2400" dirty="0" err="1">
                <a:latin typeface="Fira Sans"/>
              </a:rPr>
              <a:t>OpenID</a:t>
            </a:r>
            <a:r>
              <a:rPr lang="nl-NL" sz="2400" dirty="0">
                <a:latin typeface="Fira Sans"/>
              </a:rPr>
              <a:t> verhalen van adoptie en succes ophalen</a:t>
            </a:r>
          </a:p>
          <a:p>
            <a:r>
              <a:rPr lang="nl-NL" sz="2400" noProof="0" dirty="0">
                <a:latin typeface="Fira Sans"/>
              </a:rPr>
              <a:t>FDS is nog jong</a:t>
            </a:r>
          </a:p>
          <a:p>
            <a:pPr lvl="1"/>
            <a:r>
              <a:rPr lang="nl-NL" sz="2400" dirty="0">
                <a:latin typeface="Fira Sans"/>
              </a:rPr>
              <a:t>Geduld</a:t>
            </a:r>
          </a:p>
          <a:p>
            <a:pPr lvl="1"/>
            <a:r>
              <a:rPr lang="nl-NL" sz="2400" noProof="0" dirty="0">
                <a:latin typeface="Fira Sans"/>
              </a:rPr>
              <a:t>FTV past ook buiten FDS</a:t>
            </a:r>
          </a:p>
        </p:txBody>
      </p:sp>
    </p:spTree>
    <p:extLst>
      <p:ext uri="{BB962C8B-B14F-4D97-AF65-F5344CB8AC3E}">
        <p14:creationId xmlns:p14="http://schemas.microsoft.com/office/powerpoint/2010/main" val="22398245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0BB9A72-372B-ECB3-A76E-6134E88EA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4050506"/>
            <a:ext cx="10053183" cy="2183380"/>
          </a:xfrm>
        </p:spPr>
        <p:txBody>
          <a:bodyPr>
            <a:normAutofit fontScale="92500" lnSpcReduction="10000"/>
          </a:bodyPr>
          <a:lstStyle/>
          <a:p>
            <a:r>
              <a:rPr lang="nl-NL" sz="2400" noProof="0" dirty="0">
                <a:latin typeface="Fira Sans Medium" panose="020B0503050000020004" pitchFamily="34" charset="0"/>
              </a:rPr>
              <a:t>Marc de Boer</a:t>
            </a:r>
            <a:br>
              <a:rPr lang="nl-NL" sz="2400" noProof="0" dirty="0">
                <a:latin typeface="Fira Sans Medium" panose="020B0503050000020004" pitchFamily="34" charset="0"/>
              </a:rPr>
            </a:br>
            <a:r>
              <a:rPr lang="nl-NL" noProof="0" dirty="0">
                <a:latin typeface="Fira Sans Medium" panose="020B0503050000020004" pitchFamily="34" charset="0"/>
              </a:rPr>
              <a:t>Product </a:t>
            </a:r>
            <a:r>
              <a:rPr lang="nl-NL" noProof="0" dirty="0" err="1">
                <a:latin typeface="Fira Sans Medium" panose="020B0503050000020004" pitchFamily="34" charset="0"/>
              </a:rPr>
              <a:t>owner</a:t>
            </a:r>
            <a:br>
              <a:rPr lang="nl-NL" noProof="0" dirty="0"/>
            </a:br>
            <a:r>
              <a:rPr lang="nl-NL" noProof="0" dirty="0"/>
              <a:t>     </a:t>
            </a:r>
            <a:r>
              <a:rPr lang="nl-NL" noProof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marc.deboer@ictu.nl</a:t>
            </a:r>
            <a:r>
              <a:rPr lang="nl-NL" noProof="0" dirty="0"/>
              <a:t> </a:t>
            </a:r>
          </a:p>
          <a:p>
            <a:r>
              <a:rPr lang="nl-NL" noProof="0" dirty="0"/>
              <a:t>     </a:t>
            </a:r>
            <a:r>
              <a:rPr lang="nl-NL" noProof="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vng-realisatie.github.io/ftv/</a:t>
            </a:r>
            <a:endParaRPr lang="nl-NL" noProof="0" dirty="0"/>
          </a:p>
          <a:p>
            <a:r>
              <a:rPr lang="nl-NL" noProof="0" dirty="0"/>
              <a:t>     </a:t>
            </a:r>
            <a:r>
              <a:rPr lang="nl-NL" noProof="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https://gitlab.com/digilab.overheid.nl/ecosystem/ftv/open-ftv</a:t>
            </a:r>
            <a:br>
              <a:rPr lang="nl-NL" noProof="0" dirty="0"/>
            </a:br>
            <a:r>
              <a:rPr lang="nl-NL" noProof="0" dirty="0"/>
              <a:t>     </a:t>
            </a:r>
            <a:r>
              <a:rPr lang="nl-NL" noProof="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https://digilab.overheid.nl/chat/digilab/channels/federatieve-toegangsverlening</a:t>
            </a:r>
            <a:endParaRPr lang="nl-NL" noProof="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3FCCD66-1257-428E-2C9A-E92BB94B56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18575" y="2366343"/>
            <a:ext cx="2433638" cy="2433638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B7A81BE2-61D0-70D2-0524-C2B2D21F19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1700" y="4816671"/>
            <a:ext cx="190500" cy="2286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6B4BB8F-4763-EE8D-B86D-17F56D54D6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0750" y="5710127"/>
            <a:ext cx="190500" cy="1905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9E76CE60-70F0-036D-5E0C-1A51AF18D3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0750" y="6003474"/>
            <a:ext cx="190500" cy="190500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9D3DF0A0-0753-D236-4B07-B3033700F73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baseline="0">
                <a:solidFill>
                  <a:schemeClr val="bg1"/>
                </a:solidFill>
                <a:latin typeface="Fira Sans SemiBold" panose="020B0503050000020004" pitchFamily="34" charset="0"/>
                <a:ea typeface="+mj-ea"/>
                <a:cs typeface="+mj-cs"/>
              </a:defRPr>
            </a:lvl1pPr>
          </a:lstStyle>
          <a:p>
            <a:r>
              <a:rPr lang="nl-NL" sz="4000" noProof="0" dirty="0">
                <a:latin typeface="Fira Sans SemiBold"/>
              </a:rPr>
              <a:t>Dank voor jullie aandacht</a:t>
            </a:r>
            <a:endParaRPr lang="nl-NL" sz="4000" noProof="0" dirty="0"/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32F60832-2A0E-6F68-5103-009F7A9DCB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0750" y="5219079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941276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Aangepast FTV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C9005C"/>
      </a:accent1>
      <a:accent2>
        <a:srgbClr val="D42B1D"/>
      </a:accent2>
      <a:accent3>
        <a:srgbClr val="E17000"/>
      </a:accent3>
      <a:accent4>
        <a:srgbClr val="FEB613"/>
      </a:accent4>
      <a:accent5>
        <a:srgbClr val="F9E11E"/>
      </a:accent5>
      <a:accent6>
        <a:srgbClr val="673226"/>
      </a:accent6>
      <a:hlink>
        <a:srgbClr val="00689A"/>
      </a:hlink>
      <a:folHlink>
        <a:srgbClr val="007AC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3F13B662AB0D4C89228AAB09536723" ma:contentTypeVersion="14" ma:contentTypeDescription="Een nieuw document maken." ma:contentTypeScope="" ma:versionID="c2315736be5e1539811617337cdf8727">
  <xsd:schema xmlns:xsd="http://www.w3.org/2001/XMLSchema" xmlns:xs="http://www.w3.org/2001/XMLSchema" xmlns:p="http://schemas.microsoft.com/office/2006/metadata/properties" xmlns:ns2="51e72e7f-3f03-4b36-939e-4e1d8b546757" xmlns:ns3="c9fd5ebf-977d-42d6-9a97-5a76dcb1d273" targetNamespace="http://schemas.microsoft.com/office/2006/metadata/properties" ma:root="true" ma:fieldsID="91a6cfc75ba22f8c13f628123f8e0cf9" ns2:_="" ns3:_="">
    <xsd:import namespace="51e72e7f-3f03-4b36-939e-4e1d8b546757"/>
    <xsd:import namespace="c9fd5ebf-977d-42d6-9a97-5a76dcb1d2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e72e7f-3f03-4b36-939e-4e1d8b5467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Afbeeldingtags" ma:readOnly="false" ma:fieldId="{5cf76f15-5ced-4ddc-b409-7134ff3c332f}" ma:taxonomyMulti="true" ma:sspId="a99bed0e-432a-4091-b929-67b863917b6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fd5ebf-977d-42d6-9a97-5a76dcb1d27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ce2176f6-ab18-474f-a3b8-f58d8c9f2dfa}" ma:internalName="TaxCatchAll" ma:showField="CatchAllData" ma:web="c9fd5ebf-977d-42d6-9a97-5a76dcb1d2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1e72e7f-3f03-4b36-939e-4e1d8b546757">
      <Terms xmlns="http://schemas.microsoft.com/office/infopath/2007/PartnerControls"/>
    </lcf76f155ced4ddcb4097134ff3c332f>
    <TaxCatchAll xmlns="c9fd5ebf-977d-42d6-9a97-5a76dcb1d273" xsi:nil="true"/>
  </documentManagement>
</p:properties>
</file>

<file path=customXml/itemProps1.xml><?xml version="1.0" encoding="utf-8"?>
<ds:datastoreItem xmlns:ds="http://schemas.openxmlformats.org/officeDocument/2006/customXml" ds:itemID="{A04D3E69-DDAD-4531-9C19-0B52F82150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e72e7f-3f03-4b36-939e-4e1d8b546757"/>
    <ds:schemaRef ds:uri="c9fd5ebf-977d-42d6-9a97-5a76dcb1d2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E88D7C4-C7CA-4969-BB05-63BEEA2179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638718-5E01-438B-931A-6BE2CF72C9CD}">
  <ds:schemaRefs>
    <ds:schemaRef ds:uri="http://schemas.microsoft.com/office/2006/documentManagement/types"/>
    <ds:schemaRef ds:uri="http://purl.org/dc/dcmitype/"/>
    <ds:schemaRef ds:uri="http://schemas.microsoft.com/office/2006/metadata/properties"/>
    <ds:schemaRef ds:uri="51e72e7f-3f03-4b36-939e-4e1d8b546757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c9fd5ebf-977d-42d6-9a97-5a76dcb1d273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16205</TotalTime>
  <Words>1083</Words>
  <Application>Microsoft Macintosh PowerPoint</Application>
  <PresentationFormat>Breedbeeld</PresentationFormat>
  <Paragraphs>208</Paragraphs>
  <Slides>43</Slides>
  <Notes>43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43</vt:i4>
      </vt:variant>
    </vt:vector>
  </HeadingPairs>
  <TitlesOfParts>
    <vt:vector size="50" baseType="lpstr">
      <vt:lpstr>Aptos</vt:lpstr>
      <vt:lpstr>Arial</vt:lpstr>
      <vt:lpstr>Fira Mono</vt:lpstr>
      <vt:lpstr>Fira Sans</vt:lpstr>
      <vt:lpstr>Fira Sans Medium</vt:lpstr>
      <vt:lpstr>Fira Sans SemiBold</vt:lpstr>
      <vt:lpstr>Kantoorthema</vt:lpstr>
      <vt:lpstr>Federatieve toegangsverlening</vt:lpstr>
      <vt:lpstr>Probleemstelling</vt:lpstr>
      <vt:lpstr>Wat is toegangsverlening?</vt:lpstr>
      <vt:lpstr>Access Control Lists</vt:lpstr>
      <vt:lpstr>Role Based Access Control (RBAC)</vt:lpstr>
      <vt:lpstr>Role Based Access Control (RBAC)</vt:lpstr>
      <vt:lpstr>Het probleem</vt:lpstr>
      <vt:lpstr>Doelstellingen FTV</vt:lpstr>
      <vt:lpstr>PowerPoint-presentatie</vt:lpstr>
      <vt:lpstr>De methodiek</vt:lpstr>
      <vt:lpstr>Externalized Access Management (EAM)</vt:lpstr>
      <vt:lpstr>Externalized Access Management (EAM)</vt:lpstr>
      <vt:lpstr>Externalized Access Management (EAM)</vt:lpstr>
      <vt:lpstr>Externalized Access Management (EAM)</vt:lpstr>
      <vt:lpstr>Externalized Access Management (EAM)</vt:lpstr>
      <vt:lpstr>Centraal beheren, lokaal handhaven</vt:lpstr>
      <vt:lpstr>Functioneel overzicht</vt:lpstr>
      <vt:lpstr>Het PxP-architectuurpatroon</vt:lpstr>
      <vt:lpstr>De PxP-architectuur</vt:lpstr>
      <vt:lpstr>1. Aanvrager dient verwerkingsverzoek in</vt:lpstr>
      <vt:lpstr>2. PEP biedt verzoek ter beslissing aan</vt:lpstr>
      <vt:lpstr>3. PDP toetst aan toegangsbeleid uit PAP</vt:lpstr>
      <vt:lpstr>4. PIP verrijkt met herleidbare informatie</vt:lpstr>
      <vt:lpstr>5. Uniform vastgelegd in decision logs</vt:lpstr>
      <vt:lpstr>6.  PDP retourneert beslissing</vt:lpstr>
      <vt:lpstr>7.  PEP dwingt toegangsbeslissing af</vt:lpstr>
      <vt:lpstr>8.  Verwerker deelt resultaat met aanvrager</vt:lpstr>
      <vt:lpstr>Zero trust &amp; Defense in depth</vt:lpstr>
      <vt:lpstr>Manage Centrally, Enforce Locally</vt:lpstr>
      <vt:lpstr>Manage Centrally, Enforce Locally</vt:lpstr>
      <vt:lpstr>Manage Centrally, Enforce Locally</vt:lpstr>
      <vt:lpstr>Standaardisering</vt:lpstr>
      <vt:lpstr>Waarom geen XACML?</vt:lpstr>
      <vt:lpstr>Wat wel standaardiseren?</vt:lpstr>
      <vt:lpstr>1. Vraag/antwoord: AuthZEN NL Gov</vt:lpstr>
      <vt:lpstr>2. Logboek Toegangsbeslissingen</vt:lpstr>
      <vt:lpstr>3. Register Toegangsbeleid</vt:lpstr>
      <vt:lpstr>Wat niet standaardiseren?</vt:lpstr>
      <vt:lpstr>OpenFTV</vt:lpstr>
      <vt:lpstr>Status</vt:lpstr>
      <vt:lpstr>Status project</vt:lpstr>
      <vt:lpstr>Risico’s en maatregelen (1)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René Vendrig</dc:creator>
  <cp:lastModifiedBy>Marc de Boer</cp:lastModifiedBy>
  <cp:revision>43</cp:revision>
  <dcterms:created xsi:type="dcterms:W3CDTF">2025-04-02T07:23:10Z</dcterms:created>
  <dcterms:modified xsi:type="dcterms:W3CDTF">2026-09-06T10:30:48Z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0x010100FC3F13B662AB0D4C89228AAB09536723</vt:lpwstr>
  </property>
  <property fmtid="{D5CDD505-2E9C-101B-9397-08002B2CF9AE}" pid="3" name="MediaServiceImageTags">
    <vt:lpwstr/>
  </property>
</Properties>
</file>